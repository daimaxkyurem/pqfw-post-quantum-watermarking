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The core idea in one sentence: the fingerprint is a consequence of which decryption keys you hold, not of software choosing to add a watermark. Each mark slot is written two ways that look identical and encrypted under different keys; you get one key per slot. The other rendering is an AES-GCM tag failure for you. There is no unmarked copy anywhere — not even on our own disk. Bottom left is a real verdict from the running system.</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Three stages, all offline. Distribute: one ciphertext for everybody plus a 14 KB key bundle each. Decrypt: the recipient spends one credential, gets a uniquely marked copy, and signs an ML-DSA-65 receipt with their own key — that is the non-repudiation. Record: three validators independently verify that receipt and commit it 2-of-3. Trace: extract the marks, score them, check the ledger. No cloud KMS, no public chain, no network call at any point.</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We are honest about what breaks it. Retyping, OCR and stripping invisible characters defeat the text carrier, and inserting a word desynchronises the slots — all four are measured and published rather than hidden. The point is the failure mode: when an attack wins the system fails to identify anybody. Misidentification stayed at zero across the whole erasure sweep. The bottom row is the actual next four steps, not an aspiration.</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Ministry of Defence context: service HQ, procurement, DRDO and partners, inter-agency sharing. The real product is deterrence — when every holder knows their copy is individually accountable, most leaks never happen. And it protects the accused as much as it exposes the leaker: a stated error probability and a refusal to guess are what stop an innocent officer being named.</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 requirement in the problem statement, and every one is exercised by an automated test and by a step of the live demo — 163 tests. Two things we do not claim: this proves traceability, not unframeability, because the distributor knows the codewords; and post-quantum asymmetric fingerprinting has no drop-in construction yet, so we say so rather than pretending. Scan the code and try to break it.</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statement SIH26237, Ministry of Defence. One document goes to many cleared recipients; it leaks; today every one of them is an equally plausible suspect. We built PQFW, and it is running right now at the address on this slide — scan the code and follow along.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Rounded Rectangle 37"/>
          <p:cNvSpPr/>
          <p:nvPr/>
        </p:nvSpPr>
        <p:spPr>
          <a:xfrm>
            <a:off x="0" y="932688"/>
            <a:ext cx="6967728" cy="5925312"/>
          </a:xfrm>
          <a:prstGeom prst="roundRect">
            <a:avLst>
              <a:gd name="adj" fmla="val 0"/>
            </a:avLst>
          </a:prstGeom>
          <a:solidFill>
            <a:srgbClr val="0E1F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0" y="932688"/>
            <a:ext cx="6967728" cy="50292"/>
          </a:xfrm>
          <a:prstGeom prst="roundRect">
            <a:avLst>
              <a:gd name="adj" fmla="val 0"/>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ubtitle 3"/>
          <p:cNvSpPr>
            <a:spLocks noGrp="1"/>
          </p:cNvSpPr>
          <p:nvPr>
            <p:ph type="subTitle" idx="1"/>
          </p:nvPr>
        </p:nvSpPr>
        <p:spPr>
          <a:xfrm>
            <a:off x="566928" y="1188720"/>
            <a:ext cx="6035040" cy="1060704"/>
          </a:xfrm>
        </p:spPr>
        <p:txBody>
          <a:bodyPr lIns="0" rIns="0"/>
          <a:lstStyle/>
          <a:p>
            <a:pPr algn="l">
              <a:spcBef>
                <a:spcPts val="0"/>
              </a:spcBef>
              <a:spcAft>
                <a:spcPts val="0"/>
              </a:spcAft>
            </a:pPr>
            <a:r>
              <a:rPr sz="4600" b="1" i="0">
                <a:solidFill>
                  <a:srgbClr val="FFFFFF"/>
                </a:solidFill>
                <a:latin typeface="Calibri"/>
              </a:rPr>
              <a:t>PQFW</a:t>
            </a:r>
            <a:endParaRPr lang="en-US" b="1" dirty="0">
              <a:solidFill>
                <a:schemeClr val="tx1"/>
              </a:solidFill>
              <a:latin typeface="Times New Roman" panose="02020603050405020304" pitchFamily="18" charset="0"/>
              <a:cs typeface="Times New Roman" panose="02020603050405020304" pitchFamily="18" charset="0"/>
            </a:endParaRPr>
          </a:p>
          <a:p>
            <a:pPr algn="l">
              <a:spcBef>
                <a:spcPts val="0"/>
              </a:spcBef>
              <a:spcAft>
                <a:spcPts val="0"/>
              </a:spcAft>
            </a:pPr>
            <a:r>
              <a:rPr sz="1450" b="1" i="0">
                <a:solidFill>
                  <a:srgbClr val="F2790D"/>
                </a:solidFill>
                <a:latin typeface="Calibri"/>
              </a:rPr>
              <a:t>Post-Quantum Forensic Watermarking</a:t>
            </a:r>
          </a:p>
        </p:txBody>
      </p:sp>
      <p:sp>
        <p:nvSpPr>
          <p:cNvPr id="40" name="TextBox 39"/>
          <p:cNvSpPr txBox="1"/>
          <p:nvPr/>
        </p:nvSpPr>
        <p:spPr>
          <a:xfrm>
            <a:off x="566928" y="2377440"/>
            <a:ext cx="6035040" cy="2286000"/>
          </a:xfrm>
          <a:prstGeom prst="rect">
            <a:avLst/>
          </a:prstGeom>
          <a:noFill/>
        </p:spPr>
        <p:txBody>
          <a:bodyPr wrap="square" anchor="t" lIns="0" rIns="0" tIns="0" bIns="0">
            <a:spAutoFit/>
          </a:bodyPr>
          <a:lstStyle/>
          <a:p>
            <a:pPr algn="l">
              <a:spcBef>
                <a:spcPts val="0"/>
              </a:spcBef>
              <a:spcAft>
                <a:spcPts val="500"/>
              </a:spcAft>
            </a:pPr>
            <a:r>
              <a:rPr sz="980" b="0">
                <a:solidFill>
                  <a:srgbClr val="A9BEDF"/>
                </a:solidFill>
                <a:latin typeface="Calibri"/>
              </a:rPr>
              <a:t>Problem Statement ID   </a:t>
            </a:r>
            <a:r>
              <a:rPr sz="980" b="1">
                <a:solidFill>
                  <a:srgbClr val="FFFFFF"/>
                </a:solidFill>
                <a:latin typeface="Calibri"/>
              </a:rPr>
              <a:t>SIH26237</a:t>
            </a:r>
          </a:p>
          <a:p>
            <a:pPr algn="l">
              <a:spcBef>
                <a:spcPts val="0"/>
              </a:spcBef>
              <a:spcAft>
                <a:spcPts val="500"/>
              </a:spcAft>
            </a:pPr>
            <a:r>
              <a:rPr sz="980" b="0">
                <a:solidFill>
                  <a:srgbClr val="A9BEDF"/>
                </a:solidFill>
                <a:latin typeface="Calibri"/>
              </a:rPr>
              <a:t>Problem Statement Title   </a:t>
            </a:r>
            <a:r>
              <a:rPr sz="980" b="1">
                <a:solidFill>
                  <a:srgbClr val="FFFFFF"/>
                </a:solidFill>
                <a:latin typeface="Calibri"/>
              </a:rPr>
              <a:t>Cryptographic Attribution and Immutable Decryption Provenance for Multi-Recipient Encrypted Document Distribution</a:t>
            </a:r>
          </a:p>
          <a:p>
            <a:pPr algn="l">
              <a:spcBef>
                <a:spcPts val="0"/>
              </a:spcBef>
              <a:spcAft>
                <a:spcPts val="500"/>
              </a:spcAft>
            </a:pPr>
            <a:r>
              <a:rPr sz="980" b="0">
                <a:solidFill>
                  <a:srgbClr val="A9BEDF"/>
                </a:solidFill>
                <a:latin typeface="Calibri"/>
              </a:rPr>
              <a:t>Organisation   </a:t>
            </a:r>
            <a:r>
              <a:rPr sz="980" b="1">
                <a:solidFill>
                  <a:srgbClr val="FFFFFF"/>
                </a:solidFill>
                <a:latin typeface="Calibri"/>
              </a:rPr>
              <a:t>Ministry of Defence</a:t>
            </a:r>
          </a:p>
          <a:p>
            <a:pPr algn="l">
              <a:spcBef>
                <a:spcPts val="0"/>
              </a:spcBef>
              <a:spcAft>
                <a:spcPts val="500"/>
              </a:spcAft>
            </a:pPr>
            <a:r>
              <a:rPr sz="980" b="0">
                <a:solidFill>
                  <a:srgbClr val="A9BEDF"/>
                </a:solidFill>
                <a:latin typeface="Calibri"/>
              </a:rPr>
              <a:t>Theme   </a:t>
            </a:r>
            <a:r>
              <a:rPr sz="980" b="1">
                <a:solidFill>
                  <a:srgbClr val="FFFFFF"/>
                </a:solidFill>
                <a:latin typeface="Calibri"/>
              </a:rPr>
              <a:t>Blockchain &amp; Cybersecurity</a:t>
            </a:r>
          </a:p>
          <a:p>
            <a:pPr algn="l">
              <a:spcBef>
                <a:spcPts val="0"/>
              </a:spcBef>
              <a:spcAft>
                <a:spcPts val="500"/>
              </a:spcAft>
            </a:pPr>
            <a:r>
              <a:rPr sz="980" b="0">
                <a:solidFill>
                  <a:srgbClr val="A9BEDF"/>
                </a:solidFill>
                <a:latin typeface="Calibri"/>
              </a:rPr>
              <a:t>PS Category   </a:t>
            </a:r>
            <a:r>
              <a:rPr sz="980" b="1">
                <a:solidFill>
                  <a:srgbClr val="FFFFFF"/>
                </a:solidFill>
                <a:latin typeface="Calibri"/>
              </a:rPr>
              <a:t>Software</a:t>
            </a:r>
          </a:p>
          <a:p>
            <a:pPr algn="l">
              <a:spcBef>
                <a:spcPts val="0"/>
              </a:spcBef>
              <a:spcAft>
                <a:spcPts val="500"/>
              </a:spcAft>
            </a:pPr>
            <a:r>
              <a:rPr sz="980" b="0">
                <a:solidFill>
                  <a:srgbClr val="A9BEDF"/>
                </a:solidFill>
                <a:latin typeface="Calibri"/>
              </a:rPr>
              <a:t>Team ID   </a:t>
            </a:r>
            <a:r>
              <a:rPr sz="980" b="1">
                <a:solidFill>
                  <a:srgbClr val="FFFFFF"/>
                </a:solidFill>
                <a:latin typeface="Calibri"/>
              </a:rPr>
              <a:t>—  (to be assigned on the portal)</a:t>
            </a:r>
          </a:p>
          <a:p>
            <a:pPr algn="l">
              <a:spcBef>
                <a:spcPts val="0"/>
              </a:spcBef>
              <a:spcAft>
                <a:spcPts val="500"/>
              </a:spcAft>
            </a:pPr>
            <a:r>
              <a:rPr sz="980" b="0">
                <a:solidFill>
                  <a:srgbClr val="A9BEDF"/>
                </a:solidFill>
                <a:latin typeface="Calibri"/>
              </a:rPr>
              <a:t>Team Name   </a:t>
            </a:r>
            <a:r>
              <a:rPr sz="980" b="1">
                <a:solidFill>
                  <a:srgbClr val="FFFFFF"/>
                </a:solidFill>
                <a:latin typeface="Calibri"/>
              </a:rPr>
              <a:t>NOX  ·  International Institute of Information Technology, Bhubaneswar</a:t>
            </a:r>
          </a:p>
        </p:txBody>
      </p:sp>
      <p:sp>
        <p:nvSpPr>
          <p:cNvPr id="41" name="Rounded Rectangle 40"/>
          <p:cNvSpPr/>
          <p:nvPr/>
        </p:nvSpPr>
        <p:spPr>
          <a:xfrm>
            <a:off x="566928" y="4809744"/>
            <a:ext cx="6035040" cy="1133856"/>
          </a:xfrm>
          <a:prstGeom prst="roundRect">
            <a:avLst>
              <a:gd name="adj" fmla="val 6000"/>
            </a:avLst>
          </a:prstGeom>
          <a:solidFill>
            <a:srgbClr val="FFFFFF"/>
          </a:solidFill>
          <a:ln w="19050">
            <a:solidFill>
              <a:srgbClr val="F2790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qr_live.png"/>
          <p:cNvPicPr>
            <a:picLocks noChangeAspect="1"/>
          </p:cNvPicPr>
          <p:nvPr/>
        </p:nvPicPr>
        <p:blipFill>
          <a:blip r:embed="rId4"/>
          <a:stretch>
            <a:fillRect/>
          </a:stretch>
        </p:blipFill>
        <p:spPr>
          <a:xfrm>
            <a:off x="713232" y="4956048"/>
            <a:ext cx="841248" cy="841248"/>
          </a:xfrm>
          <a:prstGeom prst="rect">
            <a:avLst/>
          </a:prstGeom>
        </p:spPr>
      </p:pic>
      <p:sp>
        <p:nvSpPr>
          <p:cNvPr id="43" name="TextBox 42"/>
          <p:cNvSpPr txBox="1"/>
          <p:nvPr/>
        </p:nvSpPr>
        <p:spPr>
          <a:xfrm>
            <a:off x="1700784" y="4974336"/>
            <a:ext cx="4773168" cy="841248"/>
          </a:xfrm>
          <a:prstGeom prst="rect">
            <a:avLst/>
          </a:prstGeom>
          <a:noFill/>
        </p:spPr>
        <p:txBody>
          <a:bodyPr wrap="square" anchor="t" lIns="0" rIns="0" tIns="0" bIns="0">
            <a:spAutoFit/>
          </a:bodyPr>
          <a:lstStyle/>
          <a:p>
            <a:pPr algn="l">
              <a:spcBef>
                <a:spcPts val="0"/>
              </a:spcBef>
              <a:spcAft>
                <a:spcPts val="250"/>
              </a:spcAft>
            </a:pPr>
            <a:r>
              <a:rPr sz="800" b="1" i="0" spc="120">
                <a:solidFill>
                  <a:srgbClr val="158A5A"/>
                </a:solidFill>
                <a:latin typeface="Calibri"/>
              </a:rPr>
              <a:t>LIVE WORKING PROTOTYPE  ·  SCAN IT</a:t>
            </a:r>
          </a:p>
          <a:p>
            <a:pPr algn="l">
              <a:spcBef>
                <a:spcPts val="0"/>
              </a:spcBef>
              <a:spcAft>
                <a:spcPts val="250"/>
              </a:spcAft>
            </a:pPr>
            <a:r>
              <a:rPr sz="1400" b="1" i="0">
                <a:solidFill>
                  <a:srgbClr val="0E1F42"/>
                </a:solidFill>
                <a:latin typeface="Calibri"/>
              </a:rPr>
              <a:t>pqfw.onrender.com</a:t>
            </a:r>
          </a:p>
          <a:p>
            <a:pPr algn="l">
              <a:spcBef>
                <a:spcPts val="0"/>
              </a:spcBef>
              <a:spcAft>
                <a:spcPts val="0"/>
              </a:spcAft>
            </a:pPr>
            <a:r>
              <a:rPr sz="700" b="0" i="0">
                <a:solidFill>
                  <a:srgbClr val="54627A"/>
                </a:solidFill>
                <a:latin typeface="Calibri"/>
              </a:rPr>
              <a:t>Real ML-KEM-768 / ML-DSA-65 computed server-side.  Evaluation and attack results: evildeity-pqfw-post-quantum-watermarking.static.hf.space</a:t>
            </a:r>
          </a:p>
        </p:txBody>
      </p:sp>
      <p:sp>
        <p:nvSpPr>
          <p:cNvPr id="44" name="TextBox 43"/>
          <p:cNvSpPr txBox="1"/>
          <p:nvPr/>
        </p:nvSpPr>
        <p:spPr>
          <a:xfrm>
            <a:off x="566928" y="6071616"/>
            <a:ext cx="6035040" cy="457200"/>
          </a:xfrm>
          <a:prstGeom prst="rect">
            <a:avLst/>
          </a:prstGeom>
          <a:noFill/>
        </p:spPr>
        <p:txBody>
          <a:bodyPr wrap="square" anchor="t" lIns="0" rIns="0" tIns="0" bIns="0">
            <a:spAutoFit/>
          </a:bodyPr>
          <a:lstStyle/>
          <a:p>
            <a:pPr algn="l">
              <a:spcBef>
                <a:spcPts val="0"/>
              </a:spcBef>
              <a:spcAft>
                <a:spcPts val="250"/>
              </a:spcAft>
            </a:pPr>
            <a:r>
              <a:rPr sz="700" b="1" i="0" spc="140">
                <a:solidFill>
                  <a:srgbClr val="A9BEDF"/>
                </a:solidFill>
                <a:latin typeface="Calibri"/>
              </a:rPr>
              <a:t>TEAM MEMBERS</a:t>
            </a:r>
          </a:p>
          <a:p>
            <a:pPr algn="l">
              <a:spcBef>
                <a:spcPts val="0"/>
              </a:spcBef>
              <a:spcAft>
                <a:spcPts val="0"/>
              </a:spcAft>
            </a:pPr>
            <a:r>
              <a:rPr sz="819" b="0" i="0">
                <a:solidFill>
                  <a:srgbClr val="FFFFFF"/>
                </a:solidFill>
                <a:latin typeface="Calibri"/>
              </a:rPr>
              <a:t>Alok Ranjan Tripathy  ·  Subhashree Dash  ·  Krishna Mohanty  ·  Tanisth Das  ·  Bineet Lenka  ·  Shreyas Changder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2500" b="1" dirty="0">
                <a:latin typeface="Times New Roman" panose="02020603050405020304" pitchFamily="18" charset="0"/>
                <a:ea typeface="ＭＳ Ｐゴシック" pitchFamily="1" charset="-128"/>
                <a:cs typeface="Times New Roman" panose="02020603050405020304" pitchFamily="18" charset="0"/>
              </a:rPr>
              <a:t>PQFW — A LEAK THAT NAMES ITSELF</a:t>
            </a:r>
            <a:br>
              <a:rPr lang="en-US" sz="3600" b="1" dirty="0">
                <a:latin typeface="Times New Roman" panose="02020603050405020304" pitchFamily="18" charset="0"/>
                <a:ea typeface="ＭＳ Ｐゴシック" pitchFamily="1" charset="-128"/>
                <a:cs typeface="Times New Roman" panose="02020603050405020304" pitchFamily="18" charset="0"/>
              </a:rPr>
            </a:b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a:solidFill>
            <a:srgbClr val="0E1F42"/>
          </a:solidFill>
          <a:ln w="19050">
            <a:solidFill>
              <a:srgbClr val="F2790D"/>
            </a:solidFill>
          </a:ln>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FFFFFF"/>
                </a:solidFill>
                <a:latin typeface="Calibri"/>
              </a:rPr>
              <a:t>NOX</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Hexagon 15361"/>
          <p:cNvSpPr/>
          <p:nvPr/>
        </p:nvSpPr>
        <p:spPr>
          <a:xfrm rot="5400000">
            <a:off x="3657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1</a:t>
            </a:r>
          </a:p>
        </p:txBody>
      </p:sp>
      <p:sp>
        <p:nvSpPr>
          <p:cNvPr id="15363" name="TextBox 15362"/>
          <p:cNvSpPr txBox="1"/>
          <p:nvPr/>
        </p:nvSpPr>
        <p:spPr>
          <a:xfrm>
            <a:off x="749808" y="1143000"/>
            <a:ext cx="6839712"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Proposed Solution (Describe your Idea/Solution/Prototype)</a:t>
            </a:r>
          </a:p>
        </p:txBody>
      </p:sp>
      <p:sp>
        <p:nvSpPr>
          <p:cNvPr id="15364" name="Rounded Rectangle 15363"/>
          <p:cNvSpPr/>
          <p:nvPr/>
        </p:nvSpPr>
        <p:spPr>
          <a:xfrm>
            <a:off x="365760" y="1554480"/>
            <a:ext cx="7223760" cy="1682496"/>
          </a:xfrm>
          <a:prstGeom prst="roundRect">
            <a:avLst>
              <a:gd name="adj" fmla="val 3500"/>
            </a:avLst>
          </a:prstGeom>
          <a:solidFill>
            <a:srgbClr val="0E1F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5" name="TextBox 15364"/>
          <p:cNvSpPr txBox="1"/>
          <p:nvPr/>
        </p:nvSpPr>
        <p:spPr>
          <a:xfrm>
            <a:off x="566928" y="1664208"/>
            <a:ext cx="4937760" cy="182880"/>
          </a:xfrm>
          <a:prstGeom prst="rect">
            <a:avLst/>
          </a:prstGeom>
          <a:noFill/>
        </p:spPr>
        <p:txBody>
          <a:bodyPr wrap="square" anchor="t" lIns="0" rIns="0" tIns="0" bIns="0">
            <a:spAutoFit/>
          </a:bodyPr>
          <a:lstStyle/>
          <a:p>
            <a:pPr algn="l">
              <a:spcBef>
                <a:spcPts val="0"/>
              </a:spcBef>
              <a:spcAft>
                <a:spcPts val="0"/>
              </a:spcAft>
            </a:pPr>
            <a:r>
              <a:rPr sz="740" b="1" i="0" spc="120">
                <a:solidFill>
                  <a:srgbClr val="A9BEDF"/>
                </a:solidFill>
                <a:latin typeface="Calibri"/>
              </a:rPr>
              <a:t>DETAILED EXPLANATION OF THE PROPOSED SOLUTION</a:t>
            </a:r>
          </a:p>
        </p:txBody>
      </p:sp>
      <p:sp>
        <p:nvSpPr>
          <p:cNvPr id="15366" name="Rounded Rectangle 15365"/>
          <p:cNvSpPr/>
          <p:nvPr/>
        </p:nvSpPr>
        <p:spPr>
          <a:xfrm>
            <a:off x="566928" y="1920240"/>
            <a:ext cx="1554480" cy="1170432"/>
          </a:xfrm>
          <a:prstGeom prst="roundRect">
            <a:avLst>
              <a:gd name="adj" fmla="val 9000"/>
            </a:avLst>
          </a:prstGeom>
          <a:solidFill>
            <a:srgbClr val="0E1F42"/>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TextBox 15366"/>
          <p:cNvSpPr txBox="1"/>
          <p:nvPr/>
        </p:nvSpPr>
        <p:spPr>
          <a:xfrm>
            <a:off x="640080" y="1993392"/>
            <a:ext cx="1408176" cy="1024128"/>
          </a:xfrm>
          <a:prstGeom prst="rect">
            <a:avLst/>
          </a:prstGeom>
          <a:noFill/>
        </p:spPr>
        <p:txBody>
          <a:bodyPr wrap="square" anchor="ctr" lIns="0" rIns="0" tIns="0" bIns="0">
            <a:spAutoFit/>
          </a:bodyPr>
          <a:lstStyle/>
          <a:p>
            <a:pPr algn="ctr">
              <a:spcBef>
                <a:spcPts val="0"/>
              </a:spcBef>
              <a:spcAft>
                <a:spcPts val="200"/>
              </a:spcAft>
            </a:pPr>
            <a:r>
              <a:rPr sz="880" b="1" i="0">
                <a:solidFill>
                  <a:srgbClr val="A9BEDF"/>
                </a:solidFill>
                <a:latin typeface="Calibri"/>
              </a:rPr>
              <a:t>Split the document</a:t>
            </a:r>
          </a:p>
          <a:p>
            <a:pPr algn="ctr">
              <a:spcBef>
                <a:spcPts val="0"/>
              </a:spcBef>
              <a:spcAft>
                <a:spcPts val="50"/>
              </a:spcAft>
            </a:pPr>
            <a:r>
              <a:rPr sz="700" b="0" i="0">
                <a:solidFill>
                  <a:srgbClr val="7A92BB"/>
                </a:solidFill>
                <a:latin typeface="Calibri"/>
              </a:rPr>
              <a:t>base body</a:t>
            </a:r>
          </a:p>
          <a:p>
            <a:pPr algn="ctr">
              <a:spcBef>
                <a:spcPts val="0"/>
              </a:spcBef>
              <a:spcAft>
                <a:spcPts val="50"/>
              </a:spcAft>
            </a:pPr>
            <a:r>
              <a:rPr sz="700" b="0" i="0">
                <a:solidFill>
                  <a:srgbClr val="7A92BB"/>
                </a:solidFill>
                <a:latin typeface="Calibri"/>
              </a:rPr>
              <a:t>+ m invisible</a:t>
            </a:r>
          </a:p>
          <a:p>
            <a:pPr algn="ctr">
              <a:spcBef>
                <a:spcPts val="0"/>
              </a:spcBef>
              <a:spcAft>
                <a:spcPts val="50"/>
              </a:spcAft>
            </a:pPr>
            <a:r>
              <a:rPr sz="700" b="0" i="0">
                <a:solidFill>
                  <a:srgbClr val="7A92BB"/>
                </a:solidFill>
                <a:latin typeface="Calibri"/>
              </a:rPr>
              <a:t>mark slots</a:t>
            </a:r>
          </a:p>
        </p:txBody>
      </p:sp>
      <p:cxnSp>
        <p:nvCxnSpPr>
          <p:cNvPr id="15368" name="Connector 15367"/>
          <p:cNvCxnSpPr/>
          <p:nvPr/>
        </p:nvCxnSpPr>
        <p:spPr>
          <a:xfrm>
            <a:off x="2148839" y="2505456"/>
            <a:ext cx="237744" cy="0"/>
          </a:xfrm>
          <a:prstGeom prst="line">
            <a:avLst/>
          </a:prstGeom>
          <a:ln w="28575">
            <a:solidFill>
              <a:srgbClr val="F2790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69" name="Rounded Rectangle 15368"/>
          <p:cNvSpPr/>
          <p:nvPr/>
        </p:nvSpPr>
        <p:spPr>
          <a:xfrm>
            <a:off x="2414016" y="1920240"/>
            <a:ext cx="1554480" cy="1170432"/>
          </a:xfrm>
          <a:prstGeom prst="roundRect">
            <a:avLst>
              <a:gd name="adj" fmla="val 9000"/>
            </a:avLst>
          </a:prstGeom>
          <a:solidFill>
            <a:srgbClr val="C25B02"/>
          </a:solidFill>
          <a:ln w="15875">
            <a:solidFill>
              <a:srgbClr val="F2790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0" name="TextBox 15369"/>
          <p:cNvSpPr txBox="1"/>
          <p:nvPr/>
        </p:nvSpPr>
        <p:spPr>
          <a:xfrm>
            <a:off x="2487168" y="1993392"/>
            <a:ext cx="1408176" cy="1024128"/>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Two renderings, two keys</a:t>
            </a:r>
          </a:p>
          <a:p>
            <a:pPr algn="ctr">
              <a:spcBef>
                <a:spcPts val="0"/>
              </a:spcBef>
              <a:spcAft>
                <a:spcPts val="50"/>
              </a:spcAft>
            </a:pPr>
            <a:r>
              <a:rPr sz="700" b="0" i="0">
                <a:solidFill>
                  <a:srgbClr val="FFE1C2"/>
                </a:solidFill>
                <a:latin typeface="Calibri"/>
              </a:rPr>
              <a:t>identical to read,</a:t>
            </a:r>
          </a:p>
          <a:p>
            <a:pPr algn="ctr">
              <a:spcBef>
                <a:spcPts val="0"/>
              </a:spcBef>
              <a:spcAft>
                <a:spcPts val="50"/>
              </a:spcAft>
            </a:pPr>
            <a:r>
              <a:rPr sz="700" b="0" i="0">
                <a:solidFill>
                  <a:srgbClr val="FFE1C2"/>
                </a:solidFill>
                <a:latin typeface="Calibri"/>
              </a:rPr>
              <a:t>encrypted under</a:t>
            </a:r>
          </a:p>
          <a:p>
            <a:pPr algn="ctr">
              <a:spcBef>
                <a:spcPts val="0"/>
              </a:spcBef>
              <a:spcAft>
                <a:spcPts val="50"/>
              </a:spcAft>
            </a:pPr>
            <a:r>
              <a:rPr sz="700" b="0" i="0">
                <a:solidFill>
                  <a:srgbClr val="FFE1C2"/>
                </a:solidFill>
                <a:latin typeface="Calibri"/>
              </a:rPr>
              <a:t>different keys</a:t>
            </a:r>
          </a:p>
        </p:txBody>
      </p:sp>
      <p:cxnSp>
        <p:nvCxnSpPr>
          <p:cNvPr id="15371" name="Connector 15370"/>
          <p:cNvCxnSpPr/>
          <p:nvPr/>
        </p:nvCxnSpPr>
        <p:spPr>
          <a:xfrm>
            <a:off x="3995928" y="2505456"/>
            <a:ext cx="237744" cy="0"/>
          </a:xfrm>
          <a:prstGeom prst="line">
            <a:avLst/>
          </a:prstGeom>
          <a:ln w="28575">
            <a:solidFill>
              <a:srgbClr val="3D66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2" name="Rounded Rectangle 15371"/>
          <p:cNvSpPr/>
          <p:nvPr/>
        </p:nvSpPr>
        <p:spPr>
          <a:xfrm>
            <a:off x="4261104" y="1920240"/>
            <a:ext cx="1554480" cy="1170432"/>
          </a:xfrm>
          <a:prstGeom prst="roundRect">
            <a:avLst>
              <a:gd name="adj" fmla="val 9000"/>
            </a:avLst>
          </a:prstGeom>
          <a:solidFill>
            <a:srgbClr val="234276"/>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TextBox 15372"/>
          <p:cNvSpPr txBox="1"/>
          <p:nvPr/>
        </p:nvSpPr>
        <p:spPr>
          <a:xfrm>
            <a:off x="4334256" y="1993392"/>
            <a:ext cx="1408176" cy="1024128"/>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One ciphertext</a:t>
            </a:r>
          </a:p>
          <a:p>
            <a:pPr algn="ctr">
              <a:spcBef>
                <a:spcPts val="0"/>
              </a:spcBef>
              <a:spcAft>
                <a:spcPts val="50"/>
              </a:spcAft>
            </a:pPr>
            <a:r>
              <a:rPr sz="700" b="0" i="0">
                <a:solidFill>
                  <a:srgbClr val="A9BEDF"/>
                </a:solidFill>
                <a:latin typeface="Calibri"/>
              </a:rPr>
              <a:t>broadcast to all N,</a:t>
            </a:r>
          </a:p>
          <a:p>
            <a:pPr algn="ctr">
              <a:spcBef>
                <a:spcPts val="0"/>
              </a:spcBef>
              <a:spcAft>
                <a:spcPts val="50"/>
              </a:spcAft>
            </a:pPr>
            <a:r>
              <a:rPr sz="700" b="0" i="0">
                <a:solidFill>
                  <a:srgbClr val="A9BEDF"/>
                </a:solidFill>
                <a:latin typeface="Calibri"/>
              </a:rPr>
              <a:t>byte-identical</a:t>
            </a:r>
          </a:p>
          <a:p>
            <a:pPr algn="ctr">
              <a:spcBef>
                <a:spcPts val="0"/>
              </a:spcBef>
              <a:spcAft>
                <a:spcPts val="50"/>
              </a:spcAft>
            </a:pPr>
            <a:r>
              <a:rPr sz="700" b="0" i="0">
                <a:solidFill>
                  <a:srgbClr val="A9BEDF"/>
                </a:solidFill>
                <a:latin typeface="Calibri"/>
              </a:rPr>
              <a:t>for everybody</a:t>
            </a:r>
          </a:p>
        </p:txBody>
      </p:sp>
      <p:cxnSp>
        <p:nvCxnSpPr>
          <p:cNvPr id="15374" name="Connector 15373"/>
          <p:cNvCxnSpPr/>
          <p:nvPr/>
        </p:nvCxnSpPr>
        <p:spPr>
          <a:xfrm>
            <a:off x="5843016" y="2505456"/>
            <a:ext cx="237744" cy="0"/>
          </a:xfrm>
          <a:prstGeom prst="line">
            <a:avLst/>
          </a:prstGeom>
          <a:ln w="28575">
            <a:solidFill>
              <a:srgbClr val="22B1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5" name="Rounded Rectangle 15374"/>
          <p:cNvSpPr/>
          <p:nvPr/>
        </p:nvSpPr>
        <p:spPr>
          <a:xfrm>
            <a:off x="6108192" y="1920240"/>
            <a:ext cx="1554480" cy="1170432"/>
          </a:xfrm>
          <a:prstGeom prst="roundRect">
            <a:avLst>
              <a:gd name="adj" fmla="val 9000"/>
            </a:avLst>
          </a:prstGeom>
          <a:solidFill>
            <a:srgbClr val="158A5A"/>
          </a:solidFill>
          <a:ln w="15875">
            <a:solidFill>
              <a:srgbClr val="22B1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6" name="TextBox 15375"/>
          <p:cNvSpPr txBox="1"/>
          <p:nvPr/>
        </p:nvSpPr>
        <p:spPr>
          <a:xfrm>
            <a:off x="6181344" y="1993392"/>
            <a:ext cx="1408176" cy="1024128"/>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One key each</a:t>
            </a:r>
          </a:p>
          <a:p>
            <a:pPr algn="ctr">
              <a:spcBef>
                <a:spcPts val="0"/>
              </a:spcBef>
              <a:spcAft>
                <a:spcPts val="50"/>
              </a:spcAft>
            </a:pPr>
            <a:r>
              <a:rPr sz="700" b="0" i="0">
                <a:solidFill>
                  <a:srgbClr val="CCF0DF"/>
                </a:solidFill>
                <a:latin typeface="Calibri"/>
              </a:rPr>
              <a:t>recipient holds</a:t>
            </a:r>
          </a:p>
          <a:p>
            <a:pPr algn="ctr">
              <a:spcBef>
                <a:spcPts val="0"/>
              </a:spcBef>
              <a:spcAft>
                <a:spcPts val="50"/>
              </a:spcAft>
            </a:pPr>
            <a:r>
              <a:rPr sz="700" b="0" i="0">
                <a:solidFill>
                  <a:srgbClr val="CCF0DF"/>
                </a:solidFill>
                <a:latin typeface="Calibri"/>
              </a:rPr>
              <a:t>1 of the 2 keys</a:t>
            </a:r>
          </a:p>
          <a:p>
            <a:pPr algn="ctr">
              <a:spcBef>
                <a:spcPts val="0"/>
              </a:spcBef>
              <a:spcAft>
                <a:spcPts val="50"/>
              </a:spcAft>
            </a:pPr>
            <a:r>
              <a:rPr sz="700" b="0" i="0">
                <a:solidFill>
                  <a:srgbClr val="CCF0DF"/>
                </a:solidFill>
                <a:latin typeface="Calibri"/>
              </a:rPr>
              <a:t>per slot</a:t>
            </a:r>
          </a:p>
        </p:txBody>
      </p:sp>
      <p:sp>
        <p:nvSpPr>
          <p:cNvPr id="15377" name="TextBox 15376"/>
          <p:cNvSpPr txBox="1"/>
          <p:nvPr/>
        </p:nvSpPr>
        <p:spPr>
          <a:xfrm>
            <a:off x="365760" y="3328415"/>
            <a:ext cx="7223760" cy="420624"/>
          </a:xfrm>
          <a:prstGeom prst="rect">
            <a:avLst/>
          </a:prstGeom>
          <a:noFill/>
        </p:spPr>
        <p:txBody>
          <a:bodyPr wrap="square" anchor="t" lIns="0" rIns="0" tIns="0" bIns="0">
            <a:spAutoFit/>
          </a:bodyPr>
          <a:lstStyle/>
          <a:p>
            <a:pPr algn="l">
              <a:spcBef>
                <a:spcPts val="0"/>
              </a:spcBef>
              <a:spcAft>
                <a:spcPts val="0"/>
              </a:spcAft>
            </a:pPr>
            <a:r>
              <a:rPr sz="940" b="0">
                <a:solidFill>
                  <a:srgbClr val="161D2B"/>
                </a:solidFill>
                <a:latin typeface="Calibri"/>
              </a:rPr>
              <a:t>The fingerprint is not something their software chose to add — it is a consequence of </a:t>
            </a:r>
            <a:r>
              <a:rPr sz="940" b="1">
                <a:solidFill>
                  <a:srgbClr val="1B335E"/>
                </a:solidFill>
                <a:latin typeface="Calibri"/>
              </a:rPr>
              <a:t>which keys they hold</a:t>
            </a:r>
            <a:r>
              <a:rPr sz="940" b="0">
                <a:solidFill>
                  <a:srgbClr val="161D2B"/>
                </a:solidFill>
                <a:latin typeface="Calibri"/>
              </a:rPr>
              <a:t>. The other rendering is an AES-GCM tag failure for them, and </a:t>
            </a:r>
            <a:r>
              <a:rPr sz="940" b="1">
                <a:solidFill>
                  <a:srgbClr val="1B335E"/>
                </a:solidFill>
                <a:latin typeface="Calibri"/>
              </a:rPr>
              <a:t>no unmarked copy exists anywhere</a:t>
            </a:r>
            <a:r>
              <a:rPr sz="940" b="0">
                <a:solidFill>
                  <a:srgbClr val="161D2B"/>
                </a:solidFill>
                <a:latin typeface="Calibri"/>
              </a:rPr>
              <a:t> — not in the package, not in transit, not on the sender's disk.</a:t>
            </a:r>
          </a:p>
        </p:txBody>
      </p:sp>
      <p:sp>
        <p:nvSpPr>
          <p:cNvPr id="15378" name="Hexagon 15377"/>
          <p:cNvSpPr/>
          <p:nvPr/>
        </p:nvSpPr>
        <p:spPr>
          <a:xfrm rot="5400000">
            <a:off x="365760" y="381304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2</a:t>
            </a:r>
          </a:p>
        </p:txBody>
      </p:sp>
      <p:sp>
        <p:nvSpPr>
          <p:cNvPr id="15379" name="TextBox 15378"/>
          <p:cNvSpPr txBox="1"/>
          <p:nvPr/>
        </p:nvSpPr>
        <p:spPr>
          <a:xfrm>
            <a:off x="749808" y="3794759"/>
            <a:ext cx="6839712"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How it addresses the problem</a:t>
            </a:r>
          </a:p>
        </p:txBody>
      </p:sp>
      <p:sp>
        <p:nvSpPr>
          <p:cNvPr id="15380" name="TextBox 15379"/>
          <p:cNvSpPr txBox="1"/>
          <p:nvPr/>
        </p:nvSpPr>
        <p:spPr>
          <a:xfrm>
            <a:off x="384048" y="4187952"/>
            <a:ext cx="7205472" cy="914400"/>
          </a:xfrm>
          <a:prstGeom prst="rect">
            <a:avLst/>
          </a:prstGeom>
          <a:noFill/>
        </p:spPr>
        <p:txBody>
          <a:bodyPr wrap="square" anchor="t" lIns="0" rIns="0" tIns="0" bIns="0">
            <a:spAutoFit/>
          </a:bodyPr>
          <a:lstStyle/>
          <a:p>
            <a:pPr algn="l">
              <a:spcBef>
                <a:spcPts val="0"/>
              </a:spcBef>
              <a:spcAft>
                <a:spcPts val="450"/>
              </a:spcAft>
            </a:pPr>
            <a:r>
              <a:rPr sz="930" b="0" i="0">
                <a:solidFill>
                  <a:srgbClr val="161D2B"/>
                </a:solidFill>
                <a:latin typeface="Calibri"/>
              </a:rPr>
              <a:t>▪  Today every cleared recipient is an equally plausible suspect — the decrypted bytes are identical for all of them.</a:t>
            </a:r>
          </a:p>
          <a:p>
            <a:pPr algn="l">
              <a:spcBef>
                <a:spcPts val="0"/>
              </a:spcBef>
              <a:spcAft>
                <a:spcPts val="450"/>
              </a:spcAft>
            </a:pPr>
            <a:r>
              <a:rPr sz="930" b="0" i="0">
                <a:solidFill>
                  <a:srgbClr val="161D2B"/>
                </a:solidFill>
                <a:latin typeface="Calibri"/>
              </a:rPr>
              <a:t>▪  PQFW makes each copy forensically distinct while visually identical: a leak resolves to one recipient and one decryption session.</a:t>
            </a:r>
          </a:p>
          <a:p>
            <a:pPr algn="l">
              <a:spcBef>
                <a:spcPts val="0"/>
              </a:spcBef>
              <a:spcAft>
                <a:spcPts val="450"/>
              </a:spcAft>
            </a:pPr>
            <a:r>
              <a:rPr sz="930" b="0" i="0">
                <a:solidFill>
                  <a:srgbClr val="161D2B"/>
                </a:solidFill>
                <a:latin typeface="Calibri"/>
              </a:rPr>
              <a:t>▪  Access logs can be edited by an administrator; a static watermark is the same for everyone. Both are replaced, not patched.</a:t>
            </a:r>
          </a:p>
        </p:txBody>
      </p:sp>
      <p:sp>
        <p:nvSpPr>
          <p:cNvPr id="15381" name="Hexagon 15380"/>
          <p:cNvSpPr/>
          <p:nvPr/>
        </p:nvSpPr>
        <p:spPr>
          <a:xfrm rot="5400000">
            <a:off x="365760" y="491032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3</a:t>
            </a:r>
          </a:p>
        </p:txBody>
      </p:sp>
      <p:sp>
        <p:nvSpPr>
          <p:cNvPr id="15382" name="TextBox 15381"/>
          <p:cNvSpPr txBox="1"/>
          <p:nvPr/>
        </p:nvSpPr>
        <p:spPr>
          <a:xfrm>
            <a:off x="749808" y="4892040"/>
            <a:ext cx="6839712"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What the system actually returns</a:t>
            </a:r>
          </a:p>
        </p:txBody>
      </p:sp>
      <p:sp>
        <p:nvSpPr>
          <p:cNvPr id="15383" name="Rounded Rectangle 15382"/>
          <p:cNvSpPr/>
          <p:nvPr/>
        </p:nvSpPr>
        <p:spPr>
          <a:xfrm>
            <a:off x="365760" y="5285232"/>
            <a:ext cx="7223760" cy="914400"/>
          </a:xfrm>
          <a:prstGeom prst="roundRect">
            <a:avLst>
              <a:gd name="adj" fmla="val 6000"/>
            </a:avLst>
          </a:prstGeom>
          <a:solidFill>
            <a:srgbClr val="0E1F42"/>
          </a:solidFill>
          <a:ln w="22225">
            <a:solidFill>
              <a:srgbClr val="22B1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4" name="TextBox 15383"/>
          <p:cNvSpPr txBox="1"/>
          <p:nvPr/>
        </p:nvSpPr>
        <p:spPr>
          <a:xfrm>
            <a:off x="585216" y="5413248"/>
            <a:ext cx="4023360" cy="658368"/>
          </a:xfrm>
          <a:prstGeom prst="rect">
            <a:avLst/>
          </a:prstGeom>
          <a:noFill/>
        </p:spPr>
        <p:txBody>
          <a:bodyPr wrap="square" anchor="t" lIns="0" rIns="0" tIns="0" bIns="0">
            <a:spAutoFit/>
          </a:bodyPr>
          <a:lstStyle/>
          <a:p>
            <a:pPr algn="l">
              <a:spcBef>
                <a:spcPts val="0"/>
              </a:spcBef>
              <a:spcAft>
                <a:spcPts val="300"/>
              </a:spcAft>
            </a:pPr>
            <a:r>
              <a:rPr sz="1400" b="1">
                <a:solidFill>
                  <a:srgbClr val="22B173"/>
                </a:solidFill>
                <a:latin typeface="Calibri"/>
              </a:rPr>
              <a:t>IDENTIFIED</a:t>
            </a:r>
            <a:r>
              <a:rPr sz="1400" b="1">
                <a:solidFill>
                  <a:srgbClr val="FFFFFF"/>
                </a:solidFill>
                <a:latin typeface="Calibri"/>
              </a:rPr>
              <a:t>    r07, session #0</a:t>
            </a:r>
          </a:p>
          <a:p>
            <a:pPr algn="l">
              <a:spcBef>
                <a:spcPts val="0"/>
              </a:spcBef>
              <a:spcAft>
                <a:spcPts val="400"/>
              </a:spcAft>
            </a:pPr>
            <a:r>
              <a:rPr sz="850" b="0" i="0">
                <a:solidFill>
                  <a:srgbClr val="A9BEDF"/>
                </a:solidFill>
                <a:latin typeface="Calibri"/>
              </a:rPr>
              <a:t>false-accusation probability at most 2.8 × 10⁻⁵⁹</a:t>
            </a:r>
          </a:p>
          <a:p>
            <a:pPr algn="l">
              <a:spcBef>
                <a:spcPts val="0"/>
              </a:spcBef>
              <a:spcAft>
                <a:spcPts val="0"/>
              </a:spcAft>
            </a:pPr>
            <a:r>
              <a:rPr sz="710" b="0" i="0">
                <a:solidFill>
                  <a:srgbClr val="A9BEDF"/>
                </a:solidFill>
                <a:latin typeface="Calibri"/>
              </a:rPr>
              <a:t>2 KB memo · 20 recipients · 301 mark slots · next suspect 10σ behind</a:t>
            </a:r>
          </a:p>
        </p:txBody>
      </p:sp>
      <p:sp>
        <p:nvSpPr>
          <p:cNvPr id="15385" name="TextBox 15384"/>
          <p:cNvSpPr txBox="1"/>
          <p:nvPr/>
        </p:nvSpPr>
        <p:spPr>
          <a:xfrm>
            <a:off x="4864608" y="5394960"/>
            <a:ext cx="3017520" cy="804672"/>
          </a:xfrm>
          <a:prstGeom prst="rect">
            <a:avLst/>
          </a:prstGeom>
          <a:noFill/>
        </p:spPr>
        <p:txBody>
          <a:bodyPr wrap="square" anchor="t" lIns="0" rIns="0" tIns="0" bIns="0">
            <a:spAutoFit/>
          </a:bodyPr>
          <a:lstStyle/>
          <a:p>
            <a:pPr algn="l">
              <a:spcBef>
                <a:spcPts val="0"/>
              </a:spcBef>
              <a:spcAft>
                <a:spcPts val="140"/>
              </a:spcAft>
            </a:pPr>
            <a:r>
              <a:rPr sz="730" b="1">
                <a:solidFill>
                  <a:srgbClr val="22B173"/>
                </a:solidFill>
                <a:latin typeface="Calibri"/>
              </a:rPr>
              <a:t>✓  </a:t>
            </a:r>
            <a:r>
              <a:rPr sz="730" b="0">
                <a:solidFill>
                  <a:srgbClr val="A9BEDF"/>
                </a:solidFill>
                <a:latin typeface="Calibri"/>
              </a:rPr>
              <a:t>statistical significance (provable bound &lt; α)</a:t>
            </a:r>
          </a:p>
          <a:p>
            <a:pPr algn="l">
              <a:spcBef>
                <a:spcPts val="0"/>
              </a:spcBef>
              <a:spcAft>
                <a:spcPts val="140"/>
              </a:spcAft>
            </a:pPr>
            <a:r>
              <a:rPr sz="730" b="1">
                <a:solidFill>
                  <a:srgbClr val="22B173"/>
                </a:solidFill>
                <a:latin typeface="Calibri"/>
              </a:rPr>
              <a:t>✓  </a:t>
            </a:r>
            <a:r>
              <a:rPr sz="730" b="0">
                <a:solidFill>
                  <a:srgbClr val="A9BEDF"/>
                </a:solidFill>
                <a:latin typeface="Calibri"/>
              </a:rPr>
              <a:t>the accused's own ML-DSA-65 receipt verifies</a:t>
            </a:r>
          </a:p>
          <a:p>
            <a:pPr algn="l">
              <a:spcBef>
                <a:spcPts val="0"/>
              </a:spcBef>
              <a:spcAft>
                <a:spcPts val="140"/>
              </a:spcAft>
            </a:pPr>
            <a:r>
              <a:rPr sz="730" b="1">
                <a:solidFill>
                  <a:srgbClr val="22B173"/>
                </a:solidFill>
                <a:latin typeface="Calibri"/>
              </a:rPr>
              <a:t>✓  </a:t>
            </a:r>
            <a:r>
              <a:rPr sz="730" b="0">
                <a:solidFill>
                  <a:srgbClr val="A9BEDF"/>
                </a:solidFill>
                <a:latin typeface="Calibri"/>
              </a:rPr>
              <a:t>ledger hash chain intact</a:t>
            </a:r>
          </a:p>
          <a:p>
            <a:pPr algn="l">
              <a:spcBef>
                <a:spcPts val="0"/>
              </a:spcBef>
              <a:spcAft>
                <a:spcPts val="140"/>
              </a:spcAft>
            </a:pPr>
            <a:r>
              <a:rPr sz="730" b="1">
                <a:solidFill>
                  <a:srgbClr val="22B173"/>
                </a:solidFill>
                <a:latin typeface="Calibri"/>
              </a:rPr>
              <a:t>✓  </a:t>
            </a:r>
            <a:r>
              <a:rPr sz="730" b="0">
                <a:solidFill>
                  <a:srgbClr val="A9BEDF"/>
                </a:solidFill>
                <a:latin typeface="Calibri"/>
              </a:rPr>
              <a:t>block committed by 2 of 3 validators</a:t>
            </a:r>
          </a:p>
          <a:p>
            <a:pPr algn="l">
              <a:spcBef>
                <a:spcPts val="0"/>
              </a:spcBef>
              <a:spcAft>
                <a:spcPts val="140"/>
              </a:spcAft>
            </a:pPr>
            <a:r>
              <a:rPr sz="730" b="1">
                <a:solidFill>
                  <a:srgbClr val="22B173"/>
                </a:solidFill>
                <a:latin typeface="Calibri"/>
              </a:rPr>
              <a:t>✓  </a:t>
            </a:r>
            <a:r>
              <a:rPr sz="730" b="0">
                <a:solidFill>
                  <a:srgbClr val="A9BEDF"/>
                </a:solidFill>
                <a:latin typeface="Calibri"/>
              </a:rPr>
              <a:t>Merkle inclusion proof to the signed root</a:t>
            </a:r>
          </a:p>
        </p:txBody>
      </p:sp>
      <p:sp>
        <p:nvSpPr>
          <p:cNvPr id="15386" name="Hexagon 15385"/>
          <p:cNvSpPr/>
          <p:nvPr/>
        </p:nvSpPr>
        <p:spPr>
          <a:xfrm rot="5400000">
            <a:off x="781812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4</a:t>
            </a:r>
          </a:p>
        </p:txBody>
      </p:sp>
      <p:sp>
        <p:nvSpPr>
          <p:cNvPr id="15387" name="TextBox 15386"/>
          <p:cNvSpPr txBox="1"/>
          <p:nvPr/>
        </p:nvSpPr>
        <p:spPr>
          <a:xfrm>
            <a:off x="8202168" y="1143000"/>
            <a:ext cx="362102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Innovation and uniqueness of the solution</a:t>
            </a:r>
          </a:p>
        </p:txBody>
      </p:sp>
      <p:sp>
        <p:nvSpPr>
          <p:cNvPr id="15388" name="Rounded Rectangle 15387"/>
          <p:cNvSpPr/>
          <p:nvPr/>
        </p:nvSpPr>
        <p:spPr>
          <a:xfrm>
            <a:off x="7818120" y="1554480"/>
            <a:ext cx="4005072" cy="841248"/>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9" name="Hexagon 15388"/>
          <p:cNvSpPr/>
          <p:nvPr/>
        </p:nvSpPr>
        <p:spPr>
          <a:xfrm rot="5400000">
            <a:off x="7973568" y="1828800"/>
            <a:ext cx="237744" cy="209214"/>
          </a:xfrm>
          <a:prstGeom prst="hexagon">
            <a:avLst/>
          </a:prstGeom>
          <a:solidFill>
            <a:srgbClr val="1B33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850" b="1">
                <a:solidFill>
                  <a:srgbClr val="FFFFFF"/>
                </a:solidFill>
                <a:latin typeface="Calibri"/>
              </a:rPr>
              <a:t>1</a:t>
            </a:r>
          </a:p>
        </p:txBody>
      </p:sp>
      <p:sp>
        <p:nvSpPr>
          <p:cNvPr id="15390" name="TextBox 15389"/>
          <p:cNvSpPr txBox="1"/>
          <p:nvPr/>
        </p:nvSpPr>
        <p:spPr>
          <a:xfrm>
            <a:off x="8366760" y="1682495"/>
            <a:ext cx="3291839" cy="621792"/>
          </a:xfrm>
          <a:prstGeom prst="rect">
            <a:avLst/>
          </a:prstGeom>
          <a:noFill/>
        </p:spPr>
        <p:txBody>
          <a:bodyPr wrap="square" anchor="t" lIns="0" rIns="0" tIns="0" bIns="0">
            <a:spAutoFit/>
          </a:bodyPr>
          <a:lstStyle/>
          <a:p>
            <a:pPr algn="l">
              <a:spcBef>
                <a:spcPts val="0"/>
              </a:spcBef>
              <a:spcAft>
                <a:spcPts val="200"/>
              </a:spcAft>
            </a:pPr>
            <a:r>
              <a:rPr sz="950" b="1" i="0">
                <a:solidFill>
                  <a:srgbClr val="1B335E"/>
                </a:solidFill>
                <a:latin typeface="Calibri"/>
              </a:rPr>
              <a:t>Enforced by keys, not software</a:t>
            </a:r>
          </a:p>
          <a:p>
            <a:pPr algn="l">
              <a:spcBef>
                <a:spcPts val="0"/>
              </a:spcBef>
              <a:spcAft>
                <a:spcPts val="0"/>
              </a:spcAft>
            </a:pPr>
            <a:r>
              <a:rPr sz="800" b="0" i="0">
                <a:solidFill>
                  <a:srgbClr val="54627A"/>
                </a:solidFill>
                <a:latin typeface="Calibri"/>
              </a:rPr>
              <a:t>Patching the client does not help. There is no code path around a tag check.</a:t>
            </a:r>
          </a:p>
        </p:txBody>
      </p:sp>
      <p:sp>
        <p:nvSpPr>
          <p:cNvPr id="15391" name="Rounded Rectangle 15390"/>
          <p:cNvSpPr/>
          <p:nvPr/>
        </p:nvSpPr>
        <p:spPr>
          <a:xfrm>
            <a:off x="7818120" y="2487168"/>
            <a:ext cx="4005072" cy="841248"/>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2" name="Hexagon 15391"/>
          <p:cNvSpPr/>
          <p:nvPr/>
        </p:nvSpPr>
        <p:spPr>
          <a:xfrm rot="5400000">
            <a:off x="7973568" y="2761487"/>
            <a:ext cx="237744" cy="209214"/>
          </a:xfrm>
          <a:prstGeom prst="hexagon">
            <a:avLst/>
          </a:prstGeom>
          <a:solidFill>
            <a:srgbClr val="1B33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850" b="1">
                <a:solidFill>
                  <a:srgbClr val="FFFFFF"/>
                </a:solidFill>
                <a:latin typeface="Calibri"/>
              </a:rPr>
              <a:t>2</a:t>
            </a:r>
          </a:p>
        </p:txBody>
      </p:sp>
      <p:sp>
        <p:nvSpPr>
          <p:cNvPr id="15393" name="TextBox 15392"/>
          <p:cNvSpPr txBox="1"/>
          <p:nvPr/>
        </p:nvSpPr>
        <p:spPr>
          <a:xfrm>
            <a:off x="8366760" y="2615184"/>
            <a:ext cx="3291839" cy="621792"/>
          </a:xfrm>
          <a:prstGeom prst="rect">
            <a:avLst/>
          </a:prstGeom>
          <a:noFill/>
        </p:spPr>
        <p:txBody>
          <a:bodyPr wrap="square" anchor="t" lIns="0" rIns="0" tIns="0" bIns="0">
            <a:spAutoFit/>
          </a:bodyPr>
          <a:lstStyle/>
          <a:p>
            <a:pPr algn="l">
              <a:spcBef>
                <a:spcPts val="0"/>
              </a:spcBef>
              <a:spcAft>
                <a:spcPts val="200"/>
              </a:spcAft>
            </a:pPr>
            <a:r>
              <a:rPr sz="950" b="1" i="0">
                <a:solidFill>
                  <a:srgbClr val="1B335E"/>
                </a:solidFill>
                <a:latin typeface="Calibri"/>
              </a:rPr>
              <a:t>A provable error bound</a:t>
            </a:r>
          </a:p>
          <a:p>
            <a:pPr algn="l">
              <a:spcBef>
                <a:spcPts val="0"/>
              </a:spcBef>
              <a:spcAft>
                <a:spcPts val="0"/>
              </a:spcAft>
            </a:pPr>
            <a:r>
              <a:rPr sz="800" b="0" i="0">
                <a:solidFill>
                  <a:srgbClr val="54627A"/>
                </a:solidFill>
                <a:latin typeface="Calibri"/>
              </a:rPr>
              <a:t>Chernoff bound from the code's own biases — not the Gaussian p-value, which we measured as anti-conservative.</a:t>
            </a:r>
          </a:p>
        </p:txBody>
      </p:sp>
      <p:sp>
        <p:nvSpPr>
          <p:cNvPr id="15394" name="Rounded Rectangle 15393"/>
          <p:cNvSpPr/>
          <p:nvPr/>
        </p:nvSpPr>
        <p:spPr>
          <a:xfrm>
            <a:off x="7818120" y="3419856"/>
            <a:ext cx="4005072" cy="841248"/>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5" name="Hexagon 15394"/>
          <p:cNvSpPr/>
          <p:nvPr/>
        </p:nvSpPr>
        <p:spPr>
          <a:xfrm rot="5400000">
            <a:off x="7973568" y="3694176"/>
            <a:ext cx="237744" cy="209214"/>
          </a:xfrm>
          <a:prstGeom prst="hexagon">
            <a:avLst/>
          </a:prstGeom>
          <a:solidFill>
            <a:srgbClr val="1B33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850" b="1">
                <a:solidFill>
                  <a:srgbClr val="FFFFFF"/>
                </a:solidFill>
                <a:latin typeface="Calibri"/>
              </a:rPr>
              <a:t>3</a:t>
            </a:r>
          </a:p>
        </p:txBody>
      </p:sp>
      <p:sp>
        <p:nvSpPr>
          <p:cNvPr id="15396" name="TextBox 15395"/>
          <p:cNvSpPr txBox="1"/>
          <p:nvPr/>
        </p:nvSpPr>
        <p:spPr>
          <a:xfrm>
            <a:off x="8366760" y="3547872"/>
            <a:ext cx="3291839" cy="621792"/>
          </a:xfrm>
          <a:prstGeom prst="rect">
            <a:avLst/>
          </a:prstGeom>
          <a:noFill/>
        </p:spPr>
        <p:txBody>
          <a:bodyPr wrap="square" anchor="t" lIns="0" rIns="0" tIns="0" bIns="0">
            <a:spAutoFit/>
          </a:bodyPr>
          <a:lstStyle/>
          <a:p>
            <a:pPr algn="l">
              <a:spcBef>
                <a:spcPts val="0"/>
              </a:spcBef>
              <a:spcAft>
                <a:spcPts val="200"/>
              </a:spcAft>
            </a:pPr>
            <a:r>
              <a:rPr sz="950" b="1" i="0">
                <a:solidFill>
                  <a:srgbClr val="1B335E"/>
                </a:solidFill>
                <a:latin typeface="Calibri"/>
              </a:rPr>
              <a:t>It refuses to guess</a:t>
            </a:r>
          </a:p>
          <a:p>
            <a:pPr algn="l">
              <a:spcBef>
                <a:spcPts val="0"/>
              </a:spcBef>
              <a:spcAft>
                <a:spcPts val="0"/>
              </a:spcAft>
            </a:pPr>
            <a:r>
              <a:rPr sz="800" b="0" i="0">
                <a:solidFill>
                  <a:srgbClr val="54627A"/>
                </a:solidFill>
                <a:latin typeface="Calibri"/>
              </a:rPr>
              <a:t>When evidence is thin the verdict is NO IDENTIFICATION — never the wrong person.</a:t>
            </a:r>
          </a:p>
        </p:txBody>
      </p:sp>
      <p:sp>
        <p:nvSpPr>
          <p:cNvPr id="15397" name="Rounded Rectangle 15396"/>
          <p:cNvSpPr/>
          <p:nvPr/>
        </p:nvSpPr>
        <p:spPr>
          <a:xfrm>
            <a:off x="7818120" y="4352544"/>
            <a:ext cx="4005072" cy="841248"/>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8" name="Hexagon 15397"/>
          <p:cNvSpPr/>
          <p:nvPr/>
        </p:nvSpPr>
        <p:spPr>
          <a:xfrm rot="5400000">
            <a:off x="7973568" y="4626864"/>
            <a:ext cx="237744" cy="209214"/>
          </a:xfrm>
          <a:prstGeom prst="hexagon">
            <a:avLst/>
          </a:prstGeom>
          <a:solidFill>
            <a:srgbClr val="1B33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850" b="1">
                <a:solidFill>
                  <a:srgbClr val="FFFFFF"/>
                </a:solidFill>
                <a:latin typeface="Calibri"/>
              </a:rPr>
              <a:t>4</a:t>
            </a:r>
          </a:p>
        </p:txBody>
      </p:sp>
      <p:sp>
        <p:nvSpPr>
          <p:cNvPr id="15399" name="TextBox 15398"/>
          <p:cNvSpPr txBox="1"/>
          <p:nvPr/>
        </p:nvSpPr>
        <p:spPr>
          <a:xfrm>
            <a:off x="8366760" y="4480559"/>
            <a:ext cx="3291839" cy="621792"/>
          </a:xfrm>
          <a:prstGeom prst="rect">
            <a:avLst/>
          </a:prstGeom>
          <a:noFill/>
        </p:spPr>
        <p:txBody>
          <a:bodyPr wrap="square" anchor="t" lIns="0" rIns="0" tIns="0" bIns="0">
            <a:spAutoFit/>
          </a:bodyPr>
          <a:lstStyle/>
          <a:p>
            <a:pPr algn="l">
              <a:spcBef>
                <a:spcPts val="0"/>
              </a:spcBef>
              <a:spcAft>
                <a:spcPts val="200"/>
              </a:spcAft>
            </a:pPr>
            <a:r>
              <a:rPr sz="950" b="1" i="0">
                <a:solidFill>
                  <a:srgbClr val="1B335E"/>
                </a:solidFill>
                <a:latin typeface="Calibri"/>
              </a:rPr>
              <a:t>Session-level attribution</a:t>
            </a:r>
          </a:p>
          <a:p>
            <a:pPr algn="l">
              <a:spcBef>
                <a:spcPts val="0"/>
              </a:spcBef>
              <a:spcAft>
                <a:spcPts val="0"/>
              </a:spcAft>
            </a:pPr>
            <a:r>
              <a:rPr sz="800" b="0" i="0">
                <a:solidFill>
                  <a:srgbClr val="54627A"/>
                </a:solidFill>
                <a:latin typeface="Calibri"/>
              </a:rPr>
              <a:t>Two opens by one person give two fingerprints and two ledger records.</a:t>
            </a:r>
          </a:p>
        </p:txBody>
      </p:sp>
      <p:sp>
        <p:nvSpPr>
          <p:cNvPr id="15400" name="Rounded Rectangle 15399"/>
          <p:cNvSpPr/>
          <p:nvPr/>
        </p:nvSpPr>
        <p:spPr>
          <a:xfrm>
            <a:off x="7818120" y="5376671"/>
            <a:ext cx="4005072" cy="786384"/>
          </a:xfrm>
          <a:prstGeom prst="roundRect">
            <a:avLst>
              <a:gd name="adj" fmla="val 7000"/>
            </a:avLst>
          </a:prstGeom>
          <a:solidFill>
            <a:srgbClr val="0E1F42"/>
          </a:solidFill>
          <a:ln w="19050">
            <a:solidFill>
              <a:srgbClr val="F2790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1" name="TextBox 15400"/>
          <p:cNvSpPr txBox="1"/>
          <p:nvPr/>
        </p:nvSpPr>
        <p:spPr>
          <a:xfrm>
            <a:off x="8001000" y="5486399"/>
            <a:ext cx="3639312" cy="603504"/>
          </a:xfrm>
          <a:prstGeom prst="rect">
            <a:avLst/>
          </a:prstGeom>
          <a:noFill/>
        </p:spPr>
        <p:txBody>
          <a:bodyPr wrap="square" anchor="t" lIns="0" rIns="0" tIns="0" bIns="0">
            <a:spAutoFit/>
          </a:bodyPr>
          <a:lstStyle/>
          <a:p>
            <a:pPr algn="l">
              <a:spcBef>
                <a:spcPts val="0"/>
              </a:spcBef>
              <a:spcAft>
                <a:spcPts val="300"/>
              </a:spcAft>
            </a:pPr>
            <a:r>
              <a:rPr sz="740" b="1" i="0" spc="120">
                <a:solidFill>
                  <a:srgbClr val="F2790D"/>
                </a:solidFill>
                <a:latin typeface="Calibri"/>
              </a:rPr>
              <a:t>NOT A CONCEPT — IT IS RUNNING</a:t>
            </a:r>
          </a:p>
          <a:p>
            <a:pPr algn="l">
              <a:spcBef>
                <a:spcPts val="0"/>
              </a:spcBef>
              <a:spcAft>
                <a:spcPts val="0"/>
              </a:spcAft>
            </a:pPr>
            <a:r>
              <a:rPr sz="1050" b="1">
                <a:solidFill>
                  <a:srgbClr val="FFFFFF"/>
                </a:solidFill>
                <a:latin typeface="Calibri"/>
              </a:rPr>
              <a:t>pqfw.onrender.com</a:t>
            </a:r>
            <a:r>
              <a:rPr sz="1050" b="0">
                <a:solidFill>
                  <a:srgbClr val="A9BEDF"/>
                </a:solidFill>
                <a:latin typeface="Calibri"/>
              </a:rPr>
              <a:t>     163 automated tests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a:solidFill>
            <a:srgbClr val="0E1F42"/>
          </a:solidFill>
          <a:ln w="19050">
            <a:solidFill>
              <a:srgbClr val="F2790D"/>
            </a:solidFill>
          </a:ln>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FFFFFF"/>
                </a:solidFill>
                <a:latin typeface="Calibri"/>
              </a:rPr>
              <a:t>NOX</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65760" y="1170432"/>
            <a:ext cx="7918704" cy="4992624"/>
          </a:xfrm>
          <a:prstGeom prst="roundRect">
            <a:avLst>
              <a:gd name="adj" fmla="val 3500"/>
            </a:avLst>
          </a:prstGeom>
          <a:solidFill>
            <a:srgbClr val="0E1F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Rounded Rectangle 17410"/>
          <p:cNvSpPr/>
          <p:nvPr/>
        </p:nvSpPr>
        <p:spPr>
          <a:xfrm>
            <a:off x="365760" y="1170432"/>
            <a:ext cx="7918704" cy="50292"/>
          </a:xfrm>
          <a:prstGeom prst="roundRect">
            <a:avLst>
              <a:gd name="adj" fmla="val 0"/>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566928" y="1335024"/>
            <a:ext cx="5486400" cy="384048"/>
          </a:xfrm>
          <a:prstGeom prst="rect">
            <a:avLst/>
          </a:prstGeom>
          <a:noFill/>
        </p:spPr>
        <p:txBody>
          <a:bodyPr wrap="square" anchor="t" lIns="0" rIns="0" tIns="0" bIns="0">
            <a:spAutoFit/>
          </a:bodyPr>
          <a:lstStyle/>
          <a:p>
            <a:pPr algn="l">
              <a:spcBef>
                <a:spcPts val="0"/>
              </a:spcBef>
              <a:spcAft>
                <a:spcPts val="100"/>
              </a:spcAft>
            </a:pPr>
            <a:r>
              <a:rPr sz="1200" b="1" i="0">
                <a:solidFill>
                  <a:srgbClr val="FFFFFF"/>
                </a:solidFill>
                <a:latin typeface="Calibri"/>
              </a:rPr>
              <a:t>End-to-end flow</a:t>
            </a:r>
          </a:p>
          <a:p>
            <a:pPr algn="l">
              <a:spcBef>
                <a:spcPts val="0"/>
              </a:spcBef>
              <a:spcAft>
                <a:spcPts val="0"/>
              </a:spcAft>
            </a:pPr>
            <a:r>
              <a:rPr sz="800" b="0" i="1">
                <a:solidFill>
                  <a:srgbClr val="A9BEDF"/>
                </a:solidFill>
                <a:latin typeface="Calibri"/>
              </a:rPr>
              <a:t>distribute · decrypt &amp; record · trace — every stage runs offline</a:t>
            </a:r>
          </a:p>
        </p:txBody>
      </p:sp>
      <p:sp>
        <p:nvSpPr>
          <p:cNvPr id="17413" name="Hexagon 17412"/>
          <p:cNvSpPr/>
          <p:nvPr/>
        </p:nvSpPr>
        <p:spPr>
          <a:xfrm rot="5400000">
            <a:off x="566928" y="1801368"/>
            <a:ext cx="237744" cy="209214"/>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850" b="1">
                <a:solidFill>
                  <a:srgbClr val="FFFFFF"/>
                </a:solidFill>
                <a:latin typeface="Calibri"/>
              </a:rPr>
              <a:t>1</a:t>
            </a:r>
          </a:p>
        </p:txBody>
      </p:sp>
      <p:sp>
        <p:nvSpPr>
          <p:cNvPr id="17414" name="TextBox 17413"/>
          <p:cNvSpPr txBox="1"/>
          <p:nvPr/>
        </p:nvSpPr>
        <p:spPr>
          <a:xfrm>
            <a:off x="914400" y="1810512"/>
            <a:ext cx="4572000" cy="182880"/>
          </a:xfrm>
          <a:prstGeom prst="rect">
            <a:avLst/>
          </a:prstGeom>
          <a:noFill/>
        </p:spPr>
        <p:txBody>
          <a:bodyPr wrap="square" anchor="t" lIns="0" rIns="0" tIns="0" bIns="0">
            <a:spAutoFit/>
          </a:bodyPr>
          <a:lstStyle/>
          <a:p>
            <a:pPr algn="l">
              <a:spcBef>
                <a:spcPts val="0"/>
              </a:spcBef>
              <a:spcAft>
                <a:spcPts val="0"/>
              </a:spcAft>
            </a:pPr>
            <a:r>
              <a:rPr sz="760" b="1" i="0" spc="140">
                <a:solidFill>
                  <a:srgbClr val="F2790D"/>
                </a:solidFill>
                <a:latin typeface="Calibri"/>
              </a:rPr>
              <a:t>DISTRIBUTE</a:t>
            </a:r>
          </a:p>
        </p:txBody>
      </p:sp>
      <p:sp>
        <p:nvSpPr>
          <p:cNvPr id="17415" name="Rounded Rectangle 17414"/>
          <p:cNvSpPr/>
          <p:nvPr/>
        </p:nvSpPr>
        <p:spPr>
          <a:xfrm>
            <a:off x="694944" y="2084832"/>
            <a:ext cx="1719072" cy="841248"/>
          </a:xfrm>
          <a:prstGeom prst="roundRect">
            <a:avLst>
              <a:gd name="adj" fmla="val 9000"/>
            </a:avLst>
          </a:prstGeom>
          <a:solidFill>
            <a:srgbClr val="0E1F42"/>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768096" y="2157984"/>
            <a:ext cx="1572768" cy="694944"/>
          </a:xfrm>
          <a:prstGeom prst="rect">
            <a:avLst/>
          </a:prstGeom>
          <a:noFill/>
        </p:spPr>
        <p:txBody>
          <a:bodyPr wrap="square" anchor="ctr" lIns="0" rIns="0" tIns="0" bIns="0">
            <a:spAutoFit/>
          </a:bodyPr>
          <a:lstStyle/>
          <a:p>
            <a:pPr algn="ctr">
              <a:spcBef>
                <a:spcPts val="0"/>
              </a:spcBef>
              <a:spcAft>
                <a:spcPts val="200"/>
              </a:spcAft>
            </a:pPr>
            <a:r>
              <a:rPr sz="880" b="1" i="0">
                <a:solidFill>
                  <a:srgbClr val="A9BEDF"/>
                </a:solidFill>
                <a:latin typeface="Calibri"/>
              </a:rPr>
              <a:t>Sender's document</a:t>
            </a:r>
          </a:p>
          <a:p>
            <a:pPr algn="ctr">
              <a:spcBef>
                <a:spcPts val="0"/>
              </a:spcBef>
              <a:spcAft>
                <a:spcPts val="50"/>
              </a:spcAft>
            </a:pPr>
            <a:r>
              <a:rPr sz="700" b="0" i="0">
                <a:solidFill>
                  <a:srgbClr val="7A92BB"/>
                </a:solidFill>
                <a:latin typeface="Calibri"/>
              </a:rPr>
              <a:t>split into base +</a:t>
            </a:r>
          </a:p>
          <a:p>
            <a:pPr algn="ctr">
              <a:spcBef>
                <a:spcPts val="0"/>
              </a:spcBef>
              <a:spcAft>
                <a:spcPts val="50"/>
              </a:spcAft>
            </a:pPr>
            <a:r>
              <a:rPr sz="700" b="0" i="0">
                <a:solidFill>
                  <a:srgbClr val="7A92BB"/>
                </a:solidFill>
                <a:latin typeface="Calibri"/>
              </a:rPr>
              <a:t>m mark slots</a:t>
            </a:r>
          </a:p>
        </p:txBody>
      </p:sp>
      <p:cxnSp>
        <p:nvCxnSpPr>
          <p:cNvPr id="17417" name="Connector 17416"/>
          <p:cNvCxnSpPr/>
          <p:nvPr/>
        </p:nvCxnSpPr>
        <p:spPr>
          <a:xfrm>
            <a:off x="2432303" y="2505456"/>
            <a:ext cx="219457" cy="0"/>
          </a:xfrm>
          <a:prstGeom prst="line">
            <a:avLst/>
          </a:prstGeom>
          <a:ln w="28575">
            <a:solidFill>
              <a:srgbClr val="3D66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18" name="Rounded Rectangle 17417"/>
          <p:cNvSpPr/>
          <p:nvPr/>
        </p:nvSpPr>
        <p:spPr>
          <a:xfrm>
            <a:off x="2670048" y="2084832"/>
            <a:ext cx="1719072" cy="841248"/>
          </a:xfrm>
          <a:prstGeom prst="roundRect">
            <a:avLst>
              <a:gd name="adj" fmla="val 9000"/>
            </a:avLst>
          </a:prstGeom>
          <a:solidFill>
            <a:srgbClr val="C25B02"/>
          </a:solidFill>
          <a:ln w="15875">
            <a:solidFill>
              <a:srgbClr val="F2790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2743200" y="2157984"/>
            <a:ext cx="1572768" cy="694944"/>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Variant encryption</a:t>
            </a:r>
          </a:p>
          <a:p>
            <a:pPr algn="ctr">
              <a:spcBef>
                <a:spcPts val="0"/>
              </a:spcBef>
              <a:spcAft>
                <a:spcPts val="50"/>
              </a:spcAft>
            </a:pPr>
            <a:r>
              <a:rPr sz="700" b="0" i="0">
                <a:solidFill>
                  <a:srgbClr val="FFE1C2"/>
                </a:solidFill>
                <a:latin typeface="Calibri"/>
              </a:rPr>
              <a:t>AES-256-GCM, a different</a:t>
            </a:r>
          </a:p>
          <a:p>
            <a:pPr algn="ctr">
              <a:spcBef>
                <a:spcPts val="0"/>
              </a:spcBef>
              <a:spcAft>
                <a:spcPts val="50"/>
              </a:spcAft>
            </a:pPr>
            <a:r>
              <a:rPr sz="700" b="0" i="0">
                <a:solidFill>
                  <a:srgbClr val="FFE1C2"/>
                </a:solidFill>
                <a:latin typeface="Calibri"/>
              </a:rPr>
              <a:t>key per rendering</a:t>
            </a:r>
          </a:p>
        </p:txBody>
      </p:sp>
      <p:cxnSp>
        <p:nvCxnSpPr>
          <p:cNvPr id="17420" name="Connector 17419"/>
          <p:cNvCxnSpPr/>
          <p:nvPr/>
        </p:nvCxnSpPr>
        <p:spPr>
          <a:xfrm>
            <a:off x="4407407" y="2505456"/>
            <a:ext cx="219457" cy="0"/>
          </a:xfrm>
          <a:prstGeom prst="line">
            <a:avLst/>
          </a:prstGeom>
          <a:ln w="28575">
            <a:solidFill>
              <a:srgbClr val="3D66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21" name="Rounded Rectangle 17420"/>
          <p:cNvSpPr/>
          <p:nvPr/>
        </p:nvSpPr>
        <p:spPr>
          <a:xfrm>
            <a:off x="4645152" y="2084832"/>
            <a:ext cx="1719072" cy="841248"/>
          </a:xfrm>
          <a:prstGeom prst="roundRect">
            <a:avLst>
              <a:gd name="adj" fmla="val 9000"/>
            </a:avLst>
          </a:prstGeom>
          <a:solidFill>
            <a:srgbClr val="234276"/>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4718304" y="2157984"/>
            <a:ext cx="1572768" cy="694944"/>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Key bundles</a:t>
            </a:r>
          </a:p>
          <a:p>
            <a:pPr algn="ctr">
              <a:spcBef>
                <a:spcPts val="0"/>
              </a:spcBef>
              <a:spcAft>
                <a:spcPts val="50"/>
              </a:spcAft>
            </a:pPr>
            <a:r>
              <a:rPr sz="700" b="0" i="0">
                <a:solidFill>
                  <a:srgbClr val="A9BEDF"/>
                </a:solidFill>
                <a:latin typeface="Calibri"/>
              </a:rPr>
              <a:t>wrapped with ML-KEM-768,</a:t>
            </a:r>
          </a:p>
          <a:p>
            <a:pPr algn="ctr">
              <a:spcBef>
                <a:spcPts val="0"/>
              </a:spcBef>
              <a:spcAft>
                <a:spcPts val="50"/>
              </a:spcAft>
            </a:pPr>
            <a:r>
              <a:rPr sz="700" b="0" i="0">
                <a:solidFill>
                  <a:srgbClr val="A9BEDF"/>
                </a:solidFill>
                <a:latin typeface="Calibri"/>
              </a:rPr>
              <a:t>one key per slot each</a:t>
            </a:r>
          </a:p>
        </p:txBody>
      </p:sp>
      <p:cxnSp>
        <p:nvCxnSpPr>
          <p:cNvPr id="17423" name="Connector 17422"/>
          <p:cNvCxnSpPr/>
          <p:nvPr/>
        </p:nvCxnSpPr>
        <p:spPr>
          <a:xfrm>
            <a:off x="6382512" y="2505456"/>
            <a:ext cx="219456" cy="0"/>
          </a:xfrm>
          <a:prstGeom prst="line">
            <a:avLst/>
          </a:prstGeom>
          <a:ln w="28575">
            <a:solidFill>
              <a:srgbClr val="3D66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24" name="Rounded Rectangle 17423"/>
          <p:cNvSpPr/>
          <p:nvPr/>
        </p:nvSpPr>
        <p:spPr>
          <a:xfrm>
            <a:off x="6620256" y="2084832"/>
            <a:ext cx="1719072" cy="841248"/>
          </a:xfrm>
          <a:prstGeom prst="roundRect">
            <a:avLst>
              <a:gd name="adj" fmla="val 9000"/>
            </a:avLst>
          </a:prstGeom>
          <a:solidFill>
            <a:srgbClr val="234276"/>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6693408" y="2157984"/>
            <a:ext cx="1572768" cy="694944"/>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One package</a:t>
            </a:r>
          </a:p>
          <a:p>
            <a:pPr algn="ctr">
              <a:spcBef>
                <a:spcPts val="0"/>
              </a:spcBef>
              <a:spcAft>
                <a:spcPts val="50"/>
              </a:spcAft>
            </a:pPr>
            <a:r>
              <a:rPr sz="700" b="0" i="0">
                <a:solidFill>
                  <a:srgbClr val="A9BEDF"/>
                </a:solidFill>
                <a:latin typeface="Calibri"/>
              </a:rPr>
              <a:t>identical ciphertext</a:t>
            </a:r>
          </a:p>
          <a:p>
            <a:pPr algn="ctr">
              <a:spcBef>
                <a:spcPts val="0"/>
              </a:spcBef>
              <a:spcAft>
                <a:spcPts val="50"/>
              </a:spcAft>
            </a:pPr>
            <a:r>
              <a:rPr sz="700" b="0" i="0">
                <a:solidFill>
                  <a:srgbClr val="A9BEDF"/>
                </a:solidFill>
                <a:latin typeface="Calibri"/>
              </a:rPr>
              <a:t>for all N recipients</a:t>
            </a:r>
          </a:p>
        </p:txBody>
      </p:sp>
      <p:cxnSp>
        <p:nvCxnSpPr>
          <p:cNvPr id="17426" name="Connector 17425"/>
          <p:cNvCxnSpPr/>
          <p:nvPr/>
        </p:nvCxnSpPr>
        <p:spPr>
          <a:xfrm>
            <a:off x="4325112" y="2962656"/>
            <a:ext cx="0" cy="274320"/>
          </a:xfrm>
          <a:prstGeom prst="line">
            <a:avLst/>
          </a:prstGeom>
          <a:ln w="28575">
            <a:solidFill>
              <a:srgbClr val="3D66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27" name="Hexagon 17426"/>
          <p:cNvSpPr/>
          <p:nvPr/>
        </p:nvSpPr>
        <p:spPr>
          <a:xfrm rot="5400000">
            <a:off x="566928" y="3191256"/>
            <a:ext cx="237744" cy="209214"/>
          </a:xfrm>
          <a:prstGeom prst="hexagon">
            <a:avLst/>
          </a:prstGeom>
          <a:solidFill>
            <a:srgbClr val="22B1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850" b="1">
                <a:solidFill>
                  <a:srgbClr val="FFFFFF"/>
                </a:solidFill>
                <a:latin typeface="Calibri"/>
              </a:rPr>
              <a:t>2</a:t>
            </a:r>
          </a:p>
        </p:txBody>
      </p:sp>
      <p:sp>
        <p:nvSpPr>
          <p:cNvPr id="17428" name="TextBox 17427"/>
          <p:cNvSpPr txBox="1"/>
          <p:nvPr/>
        </p:nvSpPr>
        <p:spPr>
          <a:xfrm>
            <a:off x="914400" y="3200400"/>
            <a:ext cx="4572000" cy="182880"/>
          </a:xfrm>
          <a:prstGeom prst="rect">
            <a:avLst/>
          </a:prstGeom>
          <a:noFill/>
        </p:spPr>
        <p:txBody>
          <a:bodyPr wrap="square" anchor="t" lIns="0" rIns="0" tIns="0" bIns="0">
            <a:spAutoFit/>
          </a:bodyPr>
          <a:lstStyle/>
          <a:p>
            <a:pPr algn="l">
              <a:spcBef>
                <a:spcPts val="0"/>
              </a:spcBef>
              <a:spcAft>
                <a:spcPts val="0"/>
              </a:spcAft>
            </a:pPr>
            <a:r>
              <a:rPr sz="760" b="1" i="0" spc="140">
                <a:solidFill>
                  <a:srgbClr val="22B173"/>
                </a:solidFill>
                <a:latin typeface="Calibri"/>
              </a:rPr>
              <a:t>DECRYPT &amp; RECORD</a:t>
            </a:r>
          </a:p>
        </p:txBody>
      </p:sp>
      <p:sp>
        <p:nvSpPr>
          <p:cNvPr id="17429" name="Rounded Rectangle 17428"/>
          <p:cNvSpPr/>
          <p:nvPr/>
        </p:nvSpPr>
        <p:spPr>
          <a:xfrm>
            <a:off x="694944" y="3474720"/>
            <a:ext cx="1719072" cy="841248"/>
          </a:xfrm>
          <a:prstGeom prst="roundRect">
            <a:avLst>
              <a:gd name="adj" fmla="val 9000"/>
            </a:avLst>
          </a:prstGeom>
          <a:solidFill>
            <a:srgbClr val="234276"/>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768096" y="3547872"/>
            <a:ext cx="1572768" cy="694944"/>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Recipient decrypts</a:t>
            </a:r>
          </a:p>
          <a:p>
            <a:pPr algn="ctr">
              <a:spcBef>
                <a:spcPts val="0"/>
              </a:spcBef>
              <a:spcAft>
                <a:spcPts val="50"/>
              </a:spcAft>
            </a:pPr>
            <a:r>
              <a:rPr sz="700" b="0" i="0">
                <a:solidFill>
                  <a:srgbClr val="A9BEDF"/>
                </a:solidFill>
                <a:latin typeface="Calibri"/>
              </a:rPr>
              <a:t>unwraps bundle,</a:t>
            </a:r>
          </a:p>
          <a:p>
            <a:pPr algn="ctr">
              <a:spcBef>
                <a:spcPts val="0"/>
              </a:spcBef>
              <a:spcAft>
                <a:spcPts val="50"/>
              </a:spcAft>
            </a:pPr>
            <a:r>
              <a:rPr sz="700" b="0" i="0">
                <a:solidFill>
                  <a:srgbClr val="A9BEDF"/>
                </a:solidFill>
                <a:latin typeface="Calibri"/>
              </a:rPr>
              <a:t>spends one session</a:t>
            </a:r>
          </a:p>
        </p:txBody>
      </p:sp>
      <p:cxnSp>
        <p:nvCxnSpPr>
          <p:cNvPr id="17431" name="Connector 17430"/>
          <p:cNvCxnSpPr/>
          <p:nvPr/>
        </p:nvCxnSpPr>
        <p:spPr>
          <a:xfrm>
            <a:off x="2432303" y="3895344"/>
            <a:ext cx="219457" cy="0"/>
          </a:xfrm>
          <a:prstGeom prst="line">
            <a:avLst/>
          </a:prstGeom>
          <a:ln w="28575">
            <a:solidFill>
              <a:srgbClr val="22B1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32" name="Rounded Rectangle 17431"/>
          <p:cNvSpPr/>
          <p:nvPr/>
        </p:nvSpPr>
        <p:spPr>
          <a:xfrm>
            <a:off x="2670048" y="3474720"/>
            <a:ext cx="1719072" cy="841248"/>
          </a:xfrm>
          <a:prstGeom prst="roundRect">
            <a:avLst>
              <a:gd name="adj" fmla="val 9000"/>
            </a:avLst>
          </a:prstGeom>
          <a:solidFill>
            <a:srgbClr val="158A5A"/>
          </a:solidFill>
          <a:ln w="15875">
            <a:solidFill>
              <a:srgbClr val="22B1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2743200" y="3547872"/>
            <a:ext cx="1572768" cy="694944"/>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Uniquely marked copy</a:t>
            </a:r>
          </a:p>
          <a:p>
            <a:pPr algn="ctr">
              <a:spcBef>
                <a:spcPts val="0"/>
              </a:spcBef>
              <a:spcAft>
                <a:spcPts val="50"/>
              </a:spcAft>
            </a:pPr>
            <a:r>
              <a:rPr sz="700" b="0" i="0">
                <a:solidFill>
                  <a:srgbClr val="CCF0DF"/>
                </a:solidFill>
                <a:latin typeface="Calibri"/>
              </a:rPr>
              <a:t>one rendering per slot;</a:t>
            </a:r>
          </a:p>
          <a:p>
            <a:pPr algn="ctr">
              <a:spcBef>
                <a:spcPts val="0"/>
              </a:spcBef>
              <a:spcAft>
                <a:spcPts val="50"/>
              </a:spcAft>
            </a:pPr>
            <a:r>
              <a:rPr sz="700" b="0" i="0">
                <a:solidFill>
                  <a:srgbClr val="CCF0DF"/>
                </a:solidFill>
                <a:latin typeface="Calibri"/>
              </a:rPr>
              <a:t>the other is a tag failure</a:t>
            </a:r>
          </a:p>
        </p:txBody>
      </p:sp>
      <p:cxnSp>
        <p:nvCxnSpPr>
          <p:cNvPr id="17434" name="Connector 17433"/>
          <p:cNvCxnSpPr/>
          <p:nvPr/>
        </p:nvCxnSpPr>
        <p:spPr>
          <a:xfrm>
            <a:off x="4407407" y="3895344"/>
            <a:ext cx="219457" cy="0"/>
          </a:xfrm>
          <a:prstGeom prst="line">
            <a:avLst/>
          </a:prstGeom>
          <a:ln w="28575">
            <a:solidFill>
              <a:srgbClr val="22B1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35" name="Rounded Rectangle 17434"/>
          <p:cNvSpPr/>
          <p:nvPr/>
        </p:nvSpPr>
        <p:spPr>
          <a:xfrm>
            <a:off x="4645152" y="3474720"/>
            <a:ext cx="1719072" cy="841248"/>
          </a:xfrm>
          <a:prstGeom prst="roundRect">
            <a:avLst>
              <a:gd name="adj" fmla="val 9000"/>
            </a:avLst>
          </a:prstGeom>
          <a:solidFill>
            <a:srgbClr val="158A5A"/>
          </a:solidFill>
          <a:ln w="15875">
            <a:solidFill>
              <a:srgbClr val="22B1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4718304" y="3547872"/>
            <a:ext cx="1572768" cy="694944"/>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Signed receipt</a:t>
            </a:r>
          </a:p>
          <a:p>
            <a:pPr algn="ctr">
              <a:spcBef>
                <a:spcPts val="0"/>
              </a:spcBef>
              <a:spcAft>
                <a:spcPts val="50"/>
              </a:spcAft>
            </a:pPr>
            <a:r>
              <a:rPr sz="700" b="0" i="0">
                <a:solidFill>
                  <a:srgbClr val="CCF0DF"/>
                </a:solidFill>
                <a:latin typeface="Calibri"/>
              </a:rPr>
              <a:t>ML-DSA-65, the recipient's</a:t>
            </a:r>
          </a:p>
          <a:p>
            <a:pPr algn="ctr">
              <a:spcBef>
                <a:spcPts val="0"/>
              </a:spcBef>
              <a:spcAft>
                <a:spcPts val="50"/>
              </a:spcAft>
            </a:pPr>
            <a:r>
              <a:rPr sz="700" b="0" i="0">
                <a:solidFill>
                  <a:srgbClr val="CCF0DF"/>
                </a:solidFill>
                <a:latin typeface="Calibri"/>
              </a:rPr>
              <a:t>own private key</a:t>
            </a:r>
          </a:p>
        </p:txBody>
      </p:sp>
      <p:cxnSp>
        <p:nvCxnSpPr>
          <p:cNvPr id="17437" name="Connector 17436"/>
          <p:cNvCxnSpPr/>
          <p:nvPr/>
        </p:nvCxnSpPr>
        <p:spPr>
          <a:xfrm>
            <a:off x="6382512" y="3895344"/>
            <a:ext cx="219456" cy="0"/>
          </a:xfrm>
          <a:prstGeom prst="line">
            <a:avLst/>
          </a:prstGeom>
          <a:ln w="28575">
            <a:solidFill>
              <a:srgbClr val="22B1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38" name="Rounded Rectangle 17437"/>
          <p:cNvSpPr/>
          <p:nvPr/>
        </p:nvSpPr>
        <p:spPr>
          <a:xfrm>
            <a:off x="6620256" y="3474720"/>
            <a:ext cx="1719072" cy="841248"/>
          </a:xfrm>
          <a:prstGeom prst="roundRect">
            <a:avLst>
              <a:gd name="adj" fmla="val 9000"/>
            </a:avLst>
          </a:prstGeom>
          <a:solidFill>
            <a:srgbClr val="158A5A"/>
          </a:solidFill>
          <a:ln w="15875">
            <a:solidFill>
              <a:srgbClr val="22B1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693408" y="3547872"/>
            <a:ext cx="1572768" cy="694944"/>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Distributed ledger</a:t>
            </a:r>
          </a:p>
          <a:p>
            <a:pPr algn="ctr">
              <a:spcBef>
                <a:spcPts val="0"/>
              </a:spcBef>
              <a:spcAft>
                <a:spcPts val="50"/>
              </a:spcAft>
            </a:pPr>
            <a:r>
              <a:rPr sz="700" b="0" i="0">
                <a:solidFill>
                  <a:srgbClr val="CCF0DF"/>
                </a:solidFill>
                <a:latin typeface="Calibri"/>
              </a:rPr>
              <a:t>3 validator replicas,</a:t>
            </a:r>
          </a:p>
          <a:p>
            <a:pPr algn="ctr">
              <a:spcBef>
                <a:spcPts val="0"/>
              </a:spcBef>
              <a:spcAft>
                <a:spcPts val="50"/>
              </a:spcAft>
            </a:pPr>
            <a:r>
              <a:rPr sz="700" b="0" i="0">
                <a:solidFill>
                  <a:srgbClr val="CCF0DF"/>
                </a:solidFill>
                <a:latin typeface="Calibri"/>
              </a:rPr>
              <a:t>2-of-3 block commit</a:t>
            </a:r>
          </a:p>
        </p:txBody>
      </p:sp>
      <p:cxnSp>
        <p:nvCxnSpPr>
          <p:cNvPr id="17440" name="Connector 17439"/>
          <p:cNvCxnSpPr/>
          <p:nvPr/>
        </p:nvCxnSpPr>
        <p:spPr>
          <a:xfrm>
            <a:off x="4325112" y="4352544"/>
            <a:ext cx="0" cy="274320"/>
          </a:xfrm>
          <a:prstGeom prst="line">
            <a:avLst/>
          </a:prstGeom>
          <a:ln w="28575">
            <a:solidFill>
              <a:srgbClr val="3D66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1" name="Hexagon 17440"/>
          <p:cNvSpPr/>
          <p:nvPr/>
        </p:nvSpPr>
        <p:spPr>
          <a:xfrm rot="5400000">
            <a:off x="566928" y="4581144"/>
            <a:ext cx="237744" cy="209214"/>
          </a:xfrm>
          <a:prstGeom prst="hexagon">
            <a:avLst/>
          </a:prstGeom>
          <a:solidFill>
            <a:srgbClr val="1C9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850" b="1">
                <a:solidFill>
                  <a:srgbClr val="FFFFFF"/>
                </a:solidFill>
                <a:latin typeface="Calibri"/>
              </a:rPr>
              <a:t>3</a:t>
            </a:r>
          </a:p>
        </p:txBody>
      </p:sp>
      <p:sp>
        <p:nvSpPr>
          <p:cNvPr id="17442" name="TextBox 17441"/>
          <p:cNvSpPr txBox="1"/>
          <p:nvPr/>
        </p:nvSpPr>
        <p:spPr>
          <a:xfrm>
            <a:off x="914400" y="4590288"/>
            <a:ext cx="4572000" cy="182880"/>
          </a:xfrm>
          <a:prstGeom prst="rect">
            <a:avLst/>
          </a:prstGeom>
          <a:noFill/>
        </p:spPr>
        <p:txBody>
          <a:bodyPr wrap="square" anchor="t" lIns="0" rIns="0" tIns="0" bIns="0">
            <a:spAutoFit/>
          </a:bodyPr>
          <a:lstStyle/>
          <a:p>
            <a:pPr algn="l">
              <a:spcBef>
                <a:spcPts val="0"/>
              </a:spcBef>
              <a:spcAft>
                <a:spcPts val="0"/>
              </a:spcAft>
            </a:pPr>
            <a:r>
              <a:rPr sz="760" b="1" i="0" spc="140">
                <a:solidFill>
                  <a:srgbClr val="1C9EB8"/>
                </a:solidFill>
                <a:latin typeface="Calibri"/>
              </a:rPr>
              <a:t>TRACE A LEAK</a:t>
            </a:r>
          </a:p>
        </p:txBody>
      </p:sp>
      <p:sp>
        <p:nvSpPr>
          <p:cNvPr id="17443" name="Rounded Rectangle 17442"/>
          <p:cNvSpPr/>
          <p:nvPr/>
        </p:nvSpPr>
        <p:spPr>
          <a:xfrm>
            <a:off x="694944" y="4864608"/>
            <a:ext cx="1719072" cy="841248"/>
          </a:xfrm>
          <a:prstGeom prst="roundRect">
            <a:avLst>
              <a:gd name="adj" fmla="val 9000"/>
            </a:avLst>
          </a:prstGeom>
          <a:solidFill>
            <a:srgbClr val="0E1F42"/>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768096" y="4937760"/>
            <a:ext cx="1572768" cy="694944"/>
          </a:xfrm>
          <a:prstGeom prst="rect">
            <a:avLst/>
          </a:prstGeom>
          <a:noFill/>
        </p:spPr>
        <p:txBody>
          <a:bodyPr wrap="square" anchor="ctr" lIns="0" rIns="0" tIns="0" bIns="0">
            <a:spAutoFit/>
          </a:bodyPr>
          <a:lstStyle/>
          <a:p>
            <a:pPr algn="ctr">
              <a:spcBef>
                <a:spcPts val="0"/>
              </a:spcBef>
              <a:spcAft>
                <a:spcPts val="200"/>
              </a:spcAft>
            </a:pPr>
            <a:r>
              <a:rPr sz="880" b="1" i="0">
                <a:solidFill>
                  <a:srgbClr val="A9BEDF"/>
                </a:solidFill>
                <a:latin typeface="Calibri"/>
              </a:rPr>
              <a:t>Leaked copy</a:t>
            </a:r>
          </a:p>
          <a:p>
            <a:pPr algn="ctr">
              <a:spcBef>
                <a:spcPts val="0"/>
              </a:spcBef>
              <a:spcAft>
                <a:spcPts val="50"/>
              </a:spcAft>
            </a:pPr>
            <a:r>
              <a:rPr sz="700" b="0" i="0">
                <a:solidFill>
                  <a:srgbClr val="7A92BB"/>
                </a:solidFill>
                <a:latin typeface="Calibri"/>
              </a:rPr>
              <a:t>extract the slot bits</a:t>
            </a:r>
          </a:p>
        </p:txBody>
      </p:sp>
      <p:cxnSp>
        <p:nvCxnSpPr>
          <p:cNvPr id="17445" name="Connector 17444"/>
          <p:cNvCxnSpPr/>
          <p:nvPr/>
        </p:nvCxnSpPr>
        <p:spPr>
          <a:xfrm>
            <a:off x="2432303" y="5285232"/>
            <a:ext cx="219457" cy="0"/>
          </a:xfrm>
          <a:prstGeom prst="line">
            <a:avLst/>
          </a:prstGeom>
          <a:ln w="28575">
            <a:solidFill>
              <a:srgbClr val="1C9E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6" name="Rounded Rectangle 17445"/>
          <p:cNvSpPr/>
          <p:nvPr/>
        </p:nvSpPr>
        <p:spPr>
          <a:xfrm>
            <a:off x="2670048" y="4864608"/>
            <a:ext cx="1719072" cy="841248"/>
          </a:xfrm>
          <a:prstGeom prst="roundRect">
            <a:avLst>
              <a:gd name="adj" fmla="val 9000"/>
            </a:avLst>
          </a:prstGeom>
          <a:solidFill>
            <a:srgbClr val="234276"/>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7" name="TextBox 17446"/>
          <p:cNvSpPr txBox="1"/>
          <p:nvPr/>
        </p:nvSpPr>
        <p:spPr>
          <a:xfrm>
            <a:off x="2743200" y="4937760"/>
            <a:ext cx="1572768" cy="694944"/>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Tardos scoring</a:t>
            </a:r>
          </a:p>
          <a:p>
            <a:pPr algn="ctr">
              <a:spcBef>
                <a:spcPts val="0"/>
              </a:spcBef>
              <a:spcAft>
                <a:spcPts val="50"/>
              </a:spcAft>
            </a:pPr>
            <a:r>
              <a:rPr sz="700" b="0" i="0">
                <a:solidFill>
                  <a:srgbClr val="A9BEDF"/>
                </a:solidFill>
                <a:latin typeface="Calibri"/>
              </a:rPr>
              <a:t>score against every</a:t>
            </a:r>
          </a:p>
          <a:p>
            <a:pPr algn="ctr">
              <a:spcBef>
                <a:spcPts val="0"/>
              </a:spcBef>
              <a:spcAft>
                <a:spcPts val="50"/>
              </a:spcAft>
            </a:pPr>
            <a:r>
              <a:rPr sz="700" b="0" i="0">
                <a:solidFill>
                  <a:srgbClr val="A9BEDF"/>
                </a:solidFill>
                <a:latin typeface="Calibri"/>
              </a:rPr>
              <a:t>issued codeword</a:t>
            </a:r>
          </a:p>
        </p:txBody>
      </p:sp>
      <p:cxnSp>
        <p:nvCxnSpPr>
          <p:cNvPr id="17448" name="Connector 17447"/>
          <p:cNvCxnSpPr/>
          <p:nvPr/>
        </p:nvCxnSpPr>
        <p:spPr>
          <a:xfrm>
            <a:off x="4407407" y="5285232"/>
            <a:ext cx="219457" cy="0"/>
          </a:xfrm>
          <a:prstGeom prst="line">
            <a:avLst/>
          </a:prstGeom>
          <a:ln w="28575">
            <a:solidFill>
              <a:srgbClr val="1C9E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4645152" y="4864608"/>
            <a:ext cx="1719072" cy="841248"/>
          </a:xfrm>
          <a:prstGeom prst="roundRect">
            <a:avLst>
              <a:gd name="adj" fmla="val 9000"/>
            </a:avLst>
          </a:prstGeom>
          <a:solidFill>
            <a:srgbClr val="234276"/>
          </a:solidFill>
          <a:ln w="15875">
            <a:solidFill>
              <a:srgbClr val="3D66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0" name="TextBox 17449"/>
          <p:cNvSpPr txBox="1"/>
          <p:nvPr/>
        </p:nvSpPr>
        <p:spPr>
          <a:xfrm>
            <a:off x="4718304" y="4937760"/>
            <a:ext cx="1572768" cy="694944"/>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Ledger lookup</a:t>
            </a:r>
          </a:p>
          <a:p>
            <a:pPr algn="ctr">
              <a:spcBef>
                <a:spcPts val="0"/>
              </a:spcBef>
              <a:spcAft>
                <a:spcPts val="50"/>
              </a:spcAft>
            </a:pPr>
            <a:r>
              <a:rPr sz="700" b="0" i="0">
                <a:solidFill>
                  <a:srgbClr val="A9BEDF"/>
                </a:solidFill>
                <a:latin typeface="Calibri"/>
              </a:rPr>
              <a:t>commitment → receipt,</a:t>
            </a:r>
          </a:p>
          <a:p>
            <a:pPr algn="ctr">
              <a:spcBef>
                <a:spcPts val="0"/>
              </a:spcBef>
              <a:spcAft>
                <a:spcPts val="50"/>
              </a:spcAft>
            </a:pPr>
            <a:r>
              <a:rPr sz="700" b="0" i="0">
                <a:solidFill>
                  <a:srgbClr val="A9BEDF"/>
                </a:solidFill>
                <a:latin typeface="Calibri"/>
              </a:rPr>
              <a:t>signature + quorum checked</a:t>
            </a:r>
          </a:p>
        </p:txBody>
      </p:sp>
      <p:cxnSp>
        <p:nvCxnSpPr>
          <p:cNvPr id="17451" name="Connector 17450"/>
          <p:cNvCxnSpPr/>
          <p:nvPr/>
        </p:nvCxnSpPr>
        <p:spPr>
          <a:xfrm>
            <a:off x="6382512" y="5285232"/>
            <a:ext cx="219456" cy="0"/>
          </a:xfrm>
          <a:prstGeom prst="line">
            <a:avLst/>
          </a:prstGeom>
          <a:ln w="28575">
            <a:solidFill>
              <a:srgbClr val="F2790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2" name="Rounded Rectangle 17451"/>
          <p:cNvSpPr/>
          <p:nvPr/>
        </p:nvSpPr>
        <p:spPr>
          <a:xfrm>
            <a:off x="6620256" y="4864608"/>
            <a:ext cx="1719072" cy="841248"/>
          </a:xfrm>
          <a:prstGeom prst="roundRect">
            <a:avLst>
              <a:gd name="adj" fmla="val 9000"/>
            </a:avLst>
          </a:prstGeom>
          <a:solidFill>
            <a:srgbClr val="C25B02"/>
          </a:solidFill>
          <a:ln w="15875">
            <a:solidFill>
              <a:srgbClr val="F2790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3" name="TextBox 17452"/>
          <p:cNvSpPr txBox="1"/>
          <p:nvPr/>
        </p:nvSpPr>
        <p:spPr>
          <a:xfrm>
            <a:off x="6693408" y="4937760"/>
            <a:ext cx="1572768" cy="694944"/>
          </a:xfrm>
          <a:prstGeom prst="rect">
            <a:avLst/>
          </a:prstGeom>
          <a:noFill/>
        </p:spPr>
        <p:txBody>
          <a:bodyPr wrap="square" anchor="ctr" lIns="0" rIns="0" tIns="0" bIns="0">
            <a:spAutoFit/>
          </a:bodyPr>
          <a:lstStyle/>
          <a:p>
            <a:pPr algn="ctr">
              <a:spcBef>
                <a:spcPts val="0"/>
              </a:spcBef>
              <a:spcAft>
                <a:spcPts val="200"/>
              </a:spcAft>
            </a:pPr>
            <a:r>
              <a:rPr sz="880" b="1" i="0">
                <a:solidFill>
                  <a:srgbClr val="FFFFFF"/>
                </a:solidFill>
                <a:latin typeface="Calibri"/>
              </a:rPr>
              <a:t>Verifiable verdict</a:t>
            </a:r>
          </a:p>
          <a:p>
            <a:pPr algn="ctr">
              <a:spcBef>
                <a:spcPts val="0"/>
              </a:spcBef>
              <a:spcAft>
                <a:spcPts val="50"/>
              </a:spcAft>
            </a:pPr>
            <a:r>
              <a:rPr sz="700" b="0" i="0">
                <a:solidFill>
                  <a:srgbClr val="FFE1C2"/>
                </a:solidFill>
                <a:latin typeface="Calibri"/>
              </a:rPr>
              <a:t>recipient + session</a:t>
            </a:r>
          </a:p>
          <a:p>
            <a:pPr algn="ctr">
              <a:spcBef>
                <a:spcPts val="0"/>
              </a:spcBef>
              <a:spcAft>
                <a:spcPts val="50"/>
              </a:spcAft>
            </a:pPr>
            <a:r>
              <a:rPr sz="700" b="0" i="0">
                <a:solidFill>
                  <a:srgbClr val="FFE1C2"/>
                </a:solidFill>
                <a:latin typeface="Calibri"/>
              </a:rPr>
              <a:t>+ provable error bound</a:t>
            </a:r>
          </a:p>
        </p:txBody>
      </p:sp>
      <p:sp>
        <p:nvSpPr>
          <p:cNvPr id="17454" name="TextBox 17453"/>
          <p:cNvSpPr txBox="1"/>
          <p:nvPr/>
        </p:nvSpPr>
        <p:spPr>
          <a:xfrm>
            <a:off x="566928" y="5852160"/>
            <a:ext cx="7516368" cy="201168"/>
          </a:xfrm>
          <a:prstGeom prst="rect">
            <a:avLst/>
          </a:prstGeom>
          <a:noFill/>
        </p:spPr>
        <p:txBody>
          <a:bodyPr wrap="square" anchor="t" lIns="0" rIns="0" tIns="0" bIns="0">
            <a:spAutoFit/>
          </a:bodyPr>
          <a:lstStyle/>
          <a:p>
            <a:pPr algn="l">
              <a:spcBef>
                <a:spcPts val="0"/>
              </a:spcBef>
              <a:spcAft>
                <a:spcPts val="0"/>
              </a:spcAft>
            </a:pPr>
            <a:r>
              <a:rPr sz="800" b="1">
                <a:solidFill>
                  <a:srgbClr val="F2790D"/>
                </a:solidFill>
                <a:latin typeface="Calibri"/>
              </a:rPr>
              <a:t>Offline and air-gapped throughout — </a:t>
            </a:r>
            <a:r>
              <a:rPr sz="800" b="0">
                <a:solidFill>
                  <a:srgbClr val="A9BEDF"/>
                </a:solidFill>
                <a:latin typeface="Calibri"/>
              </a:rPr>
              <a:t>no cloud KMS, no public blockchain, no network call at any stage, asserted by a test that refuses every socket operation.</a:t>
            </a:r>
          </a:p>
        </p:txBody>
      </p:sp>
      <p:sp>
        <p:nvSpPr>
          <p:cNvPr id="17455" name="Hexagon 17454"/>
          <p:cNvSpPr/>
          <p:nvPr/>
        </p:nvSpPr>
        <p:spPr>
          <a:xfrm rot="5400000">
            <a:off x="8522208"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T</a:t>
            </a:r>
          </a:p>
        </p:txBody>
      </p:sp>
      <p:sp>
        <p:nvSpPr>
          <p:cNvPr id="17456" name="TextBox 17455"/>
          <p:cNvSpPr txBox="1"/>
          <p:nvPr/>
        </p:nvSpPr>
        <p:spPr>
          <a:xfrm>
            <a:off x="8906256" y="1143000"/>
            <a:ext cx="2916936"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Technologies to be used</a:t>
            </a:r>
          </a:p>
        </p:txBody>
      </p:sp>
      <p:pic>
        <p:nvPicPr>
          <p:cNvPr id="17457" name="Picture 17456" descr="python.png"/>
          <p:cNvPicPr>
            <a:picLocks noChangeAspect="1"/>
          </p:cNvPicPr>
          <p:nvPr/>
        </p:nvPicPr>
        <p:blipFill>
          <a:blip r:embed="rId4"/>
          <a:stretch>
            <a:fillRect/>
          </a:stretch>
        </p:blipFill>
        <p:spPr>
          <a:xfrm>
            <a:off x="8613648" y="1609344"/>
            <a:ext cx="365760" cy="365760"/>
          </a:xfrm>
          <a:prstGeom prst="rect">
            <a:avLst/>
          </a:prstGeom>
        </p:spPr>
      </p:pic>
      <p:sp>
        <p:nvSpPr>
          <p:cNvPr id="17458" name="TextBox 17457"/>
          <p:cNvSpPr txBox="1"/>
          <p:nvPr/>
        </p:nvSpPr>
        <p:spPr>
          <a:xfrm>
            <a:off x="8476488" y="2020824"/>
            <a:ext cx="640080"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Python</a:t>
            </a:r>
          </a:p>
        </p:txBody>
      </p:sp>
      <p:pic>
        <p:nvPicPr>
          <p:cNvPr id="17459" name="Picture 17458" descr="fastapi.png"/>
          <p:cNvPicPr>
            <a:picLocks noChangeAspect="1"/>
          </p:cNvPicPr>
          <p:nvPr/>
        </p:nvPicPr>
        <p:blipFill>
          <a:blip r:embed="rId5"/>
          <a:stretch>
            <a:fillRect/>
          </a:stretch>
        </p:blipFill>
        <p:spPr>
          <a:xfrm>
            <a:off x="9244584" y="1609344"/>
            <a:ext cx="365760" cy="365760"/>
          </a:xfrm>
          <a:prstGeom prst="rect">
            <a:avLst/>
          </a:prstGeom>
        </p:spPr>
      </p:pic>
      <p:sp>
        <p:nvSpPr>
          <p:cNvPr id="17460" name="TextBox 17459"/>
          <p:cNvSpPr txBox="1"/>
          <p:nvPr/>
        </p:nvSpPr>
        <p:spPr>
          <a:xfrm>
            <a:off x="9107424" y="2020824"/>
            <a:ext cx="640080"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FastAPI</a:t>
            </a:r>
          </a:p>
        </p:txBody>
      </p:sp>
      <p:pic>
        <p:nvPicPr>
          <p:cNvPr id="17461" name="Picture 17460" descr="numpy.png"/>
          <p:cNvPicPr>
            <a:picLocks noChangeAspect="1"/>
          </p:cNvPicPr>
          <p:nvPr/>
        </p:nvPicPr>
        <p:blipFill>
          <a:blip r:embed="rId6"/>
          <a:stretch>
            <a:fillRect/>
          </a:stretch>
        </p:blipFill>
        <p:spPr>
          <a:xfrm>
            <a:off x="9875519" y="1609344"/>
            <a:ext cx="365760" cy="365760"/>
          </a:xfrm>
          <a:prstGeom prst="rect">
            <a:avLst/>
          </a:prstGeom>
        </p:spPr>
      </p:pic>
      <p:sp>
        <p:nvSpPr>
          <p:cNvPr id="17462" name="TextBox 17461"/>
          <p:cNvSpPr txBox="1"/>
          <p:nvPr/>
        </p:nvSpPr>
        <p:spPr>
          <a:xfrm>
            <a:off x="9738359" y="2020824"/>
            <a:ext cx="640080"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NumPy</a:t>
            </a:r>
          </a:p>
        </p:txBody>
      </p:sp>
      <p:pic>
        <p:nvPicPr>
          <p:cNvPr id="17463" name="Picture 17462" descr="docker.png"/>
          <p:cNvPicPr>
            <a:picLocks noChangeAspect="1"/>
          </p:cNvPicPr>
          <p:nvPr/>
        </p:nvPicPr>
        <p:blipFill>
          <a:blip r:embed="rId7"/>
          <a:stretch>
            <a:fillRect/>
          </a:stretch>
        </p:blipFill>
        <p:spPr>
          <a:xfrm>
            <a:off x="10506455" y="1609344"/>
            <a:ext cx="365760" cy="365760"/>
          </a:xfrm>
          <a:prstGeom prst="rect">
            <a:avLst/>
          </a:prstGeom>
        </p:spPr>
      </p:pic>
      <p:sp>
        <p:nvSpPr>
          <p:cNvPr id="17464" name="TextBox 17463"/>
          <p:cNvSpPr txBox="1"/>
          <p:nvPr/>
        </p:nvSpPr>
        <p:spPr>
          <a:xfrm>
            <a:off x="10369295" y="2020824"/>
            <a:ext cx="640080"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Docker</a:t>
            </a:r>
          </a:p>
        </p:txBody>
      </p:sp>
      <p:pic>
        <p:nvPicPr>
          <p:cNvPr id="17465" name="Picture 17464" descr="linux.png"/>
          <p:cNvPicPr>
            <a:picLocks noChangeAspect="1"/>
          </p:cNvPicPr>
          <p:nvPr/>
        </p:nvPicPr>
        <p:blipFill>
          <a:blip r:embed="rId8"/>
          <a:stretch>
            <a:fillRect/>
          </a:stretch>
        </p:blipFill>
        <p:spPr>
          <a:xfrm>
            <a:off x="11137391" y="1609344"/>
            <a:ext cx="365760" cy="365760"/>
          </a:xfrm>
          <a:prstGeom prst="rect">
            <a:avLst/>
          </a:prstGeom>
        </p:spPr>
      </p:pic>
      <p:sp>
        <p:nvSpPr>
          <p:cNvPr id="17466" name="TextBox 17465"/>
          <p:cNvSpPr txBox="1"/>
          <p:nvPr/>
        </p:nvSpPr>
        <p:spPr>
          <a:xfrm>
            <a:off x="11000231" y="2020824"/>
            <a:ext cx="640080"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Linux</a:t>
            </a:r>
          </a:p>
        </p:txBody>
      </p:sp>
      <p:pic>
        <p:nvPicPr>
          <p:cNvPr id="17467" name="Picture 17466" descr="pytest.png"/>
          <p:cNvPicPr>
            <a:picLocks noChangeAspect="1"/>
          </p:cNvPicPr>
          <p:nvPr/>
        </p:nvPicPr>
        <p:blipFill>
          <a:blip r:embed="rId9"/>
          <a:stretch>
            <a:fillRect/>
          </a:stretch>
        </p:blipFill>
        <p:spPr>
          <a:xfrm>
            <a:off x="8613648" y="2212848"/>
            <a:ext cx="365760" cy="365760"/>
          </a:xfrm>
          <a:prstGeom prst="rect">
            <a:avLst/>
          </a:prstGeom>
        </p:spPr>
      </p:pic>
      <p:sp>
        <p:nvSpPr>
          <p:cNvPr id="17468" name="TextBox 17467"/>
          <p:cNvSpPr txBox="1"/>
          <p:nvPr/>
        </p:nvSpPr>
        <p:spPr>
          <a:xfrm>
            <a:off x="8476488" y="2624327"/>
            <a:ext cx="640080"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pytest</a:t>
            </a:r>
          </a:p>
        </p:txBody>
      </p:sp>
      <p:pic>
        <p:nvPicPr>
          <p:cNvPr id="17469" name="Picture 17468" descr="github.png"/>
          <p:cNvPicPr>
            <a:picLocks noChangeAspect="1"/>
          </p:cNvPicPr>
          <p:nvPr/>
        </p:nvPicPr>
        <p:blipFill>
          <a:blip r:embed="rId10"/>
          <a:stretch>
            <a:fillRect/>
          </a:stretch>
        </p:blipFill>
        <p:spPr>
          <a:xfrm>
            <a:off x="9244584" y="2212848"/>
            <a:ext cx="365760" cy="365760"/>
          </a:xfrm>
          <a:prstGeom prst="rect">
            <a:avLst/>
          </a:prstGeom>
        </p:spPr>
      </p:pic>
      <p:sp>
        <p:nvSpPr>
          <p:cNvPr id="17470" name="TextBox 17469"/>
          <p:cNvSpPr txBox="1"/>
          <p:nvPr/>
        </p:nvSpPr>
        <p:spPr>
          <a:xfrm>
            <a:off x="9107424" y="2624327"/>
            <a:ext cx="640080"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GitHub</a:t>
            </a:r>
          </a:p>
        </p:txBody>
      </p:sp>
      <p:pic>
        <p:nvPicPr>
          <p:cNvPr id="17471" name="Picture 17470" descr="render.png"/>
          <p:cNvPicPr>
            <a:picLocks noChangeAspect="1"/>
          </p:cNvPicPr>
          <p:nvPr/>
        </p:nvPicPr>
        <p:blipFill>
          <a:blip r:embed="rId11"/>
          <a:stretch>
            <a:fillRect/>
          </a:stretch>
        </p:blipFill>
        <p:spPr>
          <a:xfrm>
            <a:off x="9875519" y="2212848"/>
            <a:ext cx="365760" cy="365760"/>
          </a:xfrm>
          <a:prstGeom prst="rect">
            <a:avLst/>
          </a:prstGeom>
        </p:spPr>
      </p:pic>
      <p:sp>
        <p:nvSpPr>
          <p:cNvPr id="17472" name="TextBox 17471"/>
          <p:cNvSpPr txBox="1"/>
          <p:nvPr/>
        </p:nvSpPr>
        <p:spPr>
          <a:xfrm>
            <a:off x="9738359" y="2624327"/>
            <a:ext cx="640080"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Render</a:t>
            </a:r>
          </a:p>
        </p:txBody>
      </p:sp>
      <p:pic>
        <p:nvPicPr>
          <p:cNvPr id="17473" name="Picture 17472" descr="huggingface.png"/>
          <p:cNvPicPr>
            <a:picLocks noChangeAspect="1"/>
          </p:cNvPicPr>
          <p:nvPr/>
        </p:nvPicPr>
        <p:blipFill>
          <a:blip r:embed="rId12"/>
          <a:stretch>
            <a:fillRect/>
          </a:stretch>
        </p:blipFill>
        <p:spPr>
          <a:xfrm>
            <a:off x="10506455" y="2212848"/>
            <a:ext cx="365760" cy="365760"/>
          </a:xfrm>
          <a:prstGeom prst="rect">
            <a:avLst/>
          </a:prstGeom>
        </p:spPr>
      </p:pic>
      <p:sp>
        <p:nvSpPr>
          <p:cNvPr id="17474" name="TextBox 17473"/>
          <p:cNvSpPr txBox="1"/>
          <p:nvPr/>
        </p:nvSpPr>
        <p:spPr>
          <a:xfrm>
            <a:off x="10369295" y="2624327"/>
            <a:ext cx="640080"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HF</a:t>
            </a:r>
          </a:p>
        </p:txBody>
      </p:sp>
      <p:pic>
        <p:nvPicPr>
          <p:cNvPr id="17475" name="Picture 17474" descr="bash.png"/>
          <p:cNvPicPr>
            <a:picLocks noChangeAspect="1"/>
          </p:cNvPicPr>
          <p:nvPr/>
        </p:nvPicPr>
        <p:blipFill>
          <a:blip r:embed="rId13"/>
          <a:stretch>
            <a:fillRect/>
          </a:stretch>
        </p:blipFill>
        <p:spPr>
          <a:xfrm>
            <a:off x="11137391" y="2212848"/>
            <a:ext cx="365760" cy="365760"/>
          </a:xfrm>
          <a:prstGeom prst="rect">
            <a:avLst/>
          </a:prstGeom>
        </p:spPr>
      </p:pic>
      <p:sp>
        <p:nvSpPr>
          <p:cNvPr id="17476" name="TextBox 17475"/>
          <p:cNvSpPr txBox="1"/>
          <p:nvPr/>
        </p:nvSpPr>
        <p:spPr>
          <a:xfrm>
            <a:off x="11000231" y="2624327"/>
            <a:ext cx="640080" cy="164592"/>
          </a:xfrm>
          <a:prstGeom prst="rect">
            <a:avLst/>
          </a:prstGeom>
          <a:noFill/>
        </p:spPr>
        <p:txBody>
          <a:bodyPr wrap="square" anchor="t" lIns="0" rIns="0" tIns="0" bIns="0">
            <a:spAutoFit/>
          </a:bodyPr>
          <a:lstStyle/>
          <a:p>
            <a:pPr algn="ctr">
              <a:spcBef>
                <a:spcPts val="0"/>
              </a:spcBef>
              <a:spcAft>
                <a:spcPts val="0"/>
              </a:spcAft>
            </a:pPr>
            <a:r>
              <a:rPr sz="620" b="0" i="0">
                <a:solidFill>
                  <a:srgbClr val="7C8AA3"/>
                </a:solidFill>
                <a:latin typeface="Calibri"/>
              </a:rPr>
              <a:t>Bash</a:t>
            </a:r>
          </a:p>
        </p:txBody>
      </p:sp>
      <p:sp>
        <p:nvSpPr>
          <p:cNvPr id="17477" name="TextBox 17476"/>
          <p:cNvSpPr txBox="1"/>
          <p:nvPr/>
        </p:nvSpPr>
        <p:spPr>
          <a:xfrm>
            <a:off x="8522208" y="2871216"/>
            <a:ext cx="3300984" cy="1371600"/>
          </a:xfrm>
          <a:prstGeom prst="rect">
            <a:avLst/>
          </a:prstGeom>
          <a:noFill/>
        </p:spPr>
        <p:txBody>
          <a:bodyPr wrap="square" anchor="t" lIns="0" rIns="0" tIns="0" bIns="0">
            <a:spAutoFit/>
          </a:bodyPr>
          <a:lstStyle/>
          <a:p>
            <a:pPr algn="l">
              <a:spcBef>
                <a:spcPts val="0"/>
              </a:spcBef>
              <a:spcAft>
                <a:spcPts val="250"/>
              </a:spcAft>
            </a:pPr>
            <a:r>
              <a:rPr sz="819" b="1">
                <a:solidFill>
                  <a:srgbClr val="1B335E"/>
                </a:solidFill>
                <a:latin typeface="Calibri"/>
              </a:rPr>
              <a:t>Key exchange   </a:t>
            </a:r>
            <a:r>
              <a:rPr sz="819" b="0">
                <a:solidFill>
                  <a:srgbClr val="161D2B"/>
                </a:solidFill>
                <a:latin typeface="Calibri"/>
              </a:rPr>
              <a:t>ML-KEM-768  ·  FIPS 203</a:t>
            </a:r>
          </a:p>
          <a:p>
            <a:pPr algn="l">
              <a:spcBef>
                <a:spcPts val="0"/>
              </a:spcBef>
              <a:spcAft>
                <a:spcPts val="250"/>
              </a:spcAft>
            </a:pPr>
            <a:r>
              <a:rPr sz="819" b="1">
                <a:solidFill>
                  <a:srgbClr val="1B335E"/>
                </a:solidFill>
                <a:latin typeface="Calibri"/>
              </a:rPr>
              <a:t>Signatures   </a:t>
            </a:r>
            <a:r>
              <a:rPr sz="819" b="0">
                <a:solidFill>
                  <a:srgbClr val="161D2B"/>
                </a:solidFill>
                <a:latin typeface="Calibri"/>
              </a:rPr>
              <a:t>ML-DSA-65  ·  FIPS 204</a:t>
            </a:r>
          </a:p>
          <a:p>
            <a:pPr algn="l">
              <a:spcBef>
                <a:spcPts val="0"/>
              </a:spcBef>
              <a:spcAft>
                <a:spcPts val="250"/>
              </a:spcAft>
            </a:pPr>
            <a:r>
              <a:rPr sz="819" b="1">
                <a:solidFill>
                  <a:srgbClr val="1B335E"/>
                </a:solidFill>
                <a:latin typeface="Calibri"/>
              </a:rPr>
              <a:t>PQC library   </a:t>
            </a:r>
            <a:r>
              <a:rPr sz="819" b="0">
                <a:solidFill>
                  <a:srgbClr val="161D2B"/>
                </a:solidFill>
                <a:latin typeface="Calibri"/>
              </a:rPr>
              <a:t>liboqs 0.16.0 (Open Quantum Safe)</a:t>
            </a:r>
          </a:p>
          <a:p>
            <a:pPr algn="l">
              <a:spcBef>
                <a:spcPts val="0"/>
              </a:spcBef>
              <a:spcAft>
                <a:spcPts val="250"/>
              </a:spcAft>
            </a:pPr>
            <a:r>
              <a:rPr sz="819" b="1">
                <a:solidFill>
                  <a:srgbClr val="1B335E"/>
                </a:solidFill>
                <a:latin typeface="Calibri"/>
              </a:rPr>
              <a:t>Content   </a:t>
            </a:r>
            <a:r>
              <a:rPr sz="819" b="0">
                <a:solidFill>
                  <a:srgbClr val="161D2B"/>
                </a:solidFill>
                <a:latin typeface="Calibri"/>
              </a:rPr>
              <a:t>AES-256-GCM  ·  HKDF-SHA3-256</a:t>
            </a:r>
          </a:p>
          <a:p>
            <a:pPr algn="l">
              <a:spcBef>
                <a:spcPts val="0"/>
              </a:spcBef>
              <a:spcAft>
                <a:spcPts val="250"/>
              </a:spcAft>
            </a:pPr>
            <a:r>
              <a:rPr sz="819" b="1">
                <a:solidFill>
                  <a:srgbClr val="1B335E"/>
                </a:solidFill>
                <a:latin typeface="Calibri"/>
              </a:rPr>
              <a:t>Fingerprint   </a:t>
            </a:r>
            <a:r>
              <a:rPr sz="819" b="0">
                <a:solidFill>
                  <a:srgbClr val="161D2B"/>
                </a:solidFill>
                <a:latin typeface="Calibri"/>
              </a:rPr>
              <a:t>symmetric Tardos code (Škorić)</a:t>
            </a:r>
          </a:p>
          <a:p>
            <a:pPr algn="l">
              <a:spcBef>
                <a:spcPts val="0"/>
              </a:spcBef>
              <a:spcAft>
                <a:spcPts val="250"/>
              </a:spcAft>
            </a:pPr>
            <a:r>
              <a:rPr sz="819" b="1">
                <a:solidFill>
                  <a:srgbClr val="1B335E"/>
                </a:solidFill>
                <a:latin typeface="Calibri"/>
              </a:rPr>
              <a:t>Ledger   </a:t>
            </a:r>
            <a:r>
              <a:rPr sz="819" b="0">
                <a:solidFill>
                  <a:srgbClr val="161D2B"/>
                </a:solidFill>
                <a:latin typeface="Calibri"/>
              </a:rPr>
              <a:t>hash chain + Merkle blocks, 2-of-3</a:t>
            </a:r>
          </a:p>
          <a:p>
            <a:pPr algn="l">
              <a:spcBef>
                <a:spcPts val="0"/>
              </a:spcBef>
              <a:spcAft>
                <a:spcPts val="250"/>
              </a:spcAft>
            </a:pPr>
            <a:r>
              <a:rPr sz="819" b="1">
                <a:solidFill>
                  <a:srgbClr val="1B335E"/>
                </a:solidFill>
                <a:latin typeface="Calibri"/>
              </a:rPr>
              <a:t>Carriers   </a:t>
            </a:r>
            <a:r>
              <a:rPr sz="819" b="0">
                <a:solidFill>
                  <a:srgbClr val="161D2B"/>
                </a:solidFill>
                <a:latin typeface="Calibri"/>
              </a:rPr>
              <a:t>zero-width space  ·  PDF kerning</a:t>
            </a:r>
          </a:p>
        </p:txBody>
      </p:sp>
      <p:sp>
        <p:nvSpPr>
          <p:cNvPr id="17478" name="Hexagon 17477"/>
          <p:cNvSpPr/>
          <p:nvPr/>
        </p:nvSpPr>
        <p:spPr>
          <a:xfrm rot="5400000">
            <a:off x="8522208" y="4343400"/>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M</a:t>
            </a:r>
          </a:p>
        </p:txBody>
      </p:sp>
      <p:sp>
        <p:nvSpPr>
          <p:cNvPr id="17479" name="TextBox 17478"/>
          <p:cNvSpPr txBox="1"/>
          <p:nvPr/>
        </p:nvSpPr>
        <p:spPr>
          <a:xfrm>
            <a:off x="8906256" y="4325112"/>
            <a:ext cx="2916936"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Methodology and process for implementation</a:t>
            </a:r>
          </a:p>
        </p:txBody>
      </p:sp>
      <p:sp>
        <p:nvSpPr>
          <p:cNvPr id="17480" name="TextBox 17479"/>
          <p:cNvSpPr txBox="1"/>
          <p:nvPr/>
        </p:nvSpPr>
        <p:spPr>
          <a:xfrm>
            <a:off x="8522208" y="4736592"/>
            <a:ext cx="3300984" cy="1188720"/>
          </a:xfrm>
          <a:prstGeom prst="rect">
            <a:avLst/>
          </a:prstGeom>
          <a:noFill/>
        </p:spPr>
        <p:txBody>
          <a:bodyPr wrap="square" anchor="t" lIns="0" rIns="0" tIns="0" bIns="0">
            <a:spAutoFit/>
          </a:bodyPr>
          <a:lstStyle/>
          <a:p>
            <a:pPr algn="l">
              <a:spcBef>
                <a:spcPts val="0"/>
              </a:spcBef>
              <a:spcAft>
                <a:spcPts val="340"/>
              </a:spcAft>
            </a:pPr>
            <a:r>
              <a:rPr sz="819" b="0" i="0">
                <a:solidFill>
                  <a:srgbClr val="161D2B"/>
                </a:solidFill>
                <a:latin typeface="Calibri"/>
              </a:rPr>
              <a:t>▪  Safety and audit layers built and tested before any tracing existed.</a:t>
            </a:r>
          </a:p>
          <a:p>
            <a:pPr algn="l">
              <a:spcBef>
                <a:spcPts val="0"/>
              </a:spcBef>
              <a:spcAft>
                <a:spcPts val="340"/>
              </a:spcAft>
            </a:pPr>
            <a:r>
              <a:rPr sz="819" b="0" i="0">
                <a:solidFill>
                  <a:srgbClr val="161D2B"/>
                </a:solidFill>
                <a:latin typeface="Calibri"/>
              </a:rPr>
              <a:t>▪  Test-first: 163 tests, including the central claim that a recipient cannot decrypt the other variant.</a:t>
            </a:r>
          </a:p>
          <a:p>
            <a:pPr algn="l">
              <a:spcBef>
                <a:spcPts val="0"/>
              </a:spcBef>
              <a:spcAft>
                <a:spcPts val="340"/>
              </a:spcAft>
            </a:pPr>
            <a:r>
              <a:rPr sz="819" b="0" i="0">
                <a:solidFill>
                  <a:srgbClr val="161D2B"/>
                </a:solidFill>
                <a:latin typeface="Calibri"/>
              </a:rPr>
              <a:t>▪  Every attack on the carrier measured and published — including the four that defeat it.</a:t>
            </a:r>
          </a:p>
        </p:txBody>
      </p:sp>
      <p:sp>
        <p:nvSpPr>
          <p:cNvPr id="17481" name="Rounded Rectangle 17480"/>
          <p:cNvSpPr/>
          <p:nvPr/>
        </p:nvSpPr>
        <p:spPr>
          <a:xfrm>
            <a:off x="8522208" y="5742432"/>
            <a:ext cx="3300984" cy="329184"/>
          </a:xfrm>
          <a:prstGeom prst="roundRect">
            <a:avLst>
              <a:gd name="adj" fmla="val 7000"/>
            </a:avLst>
          </a:prstGeom>
          <a:solidFill>
            <a:srgbClr val="E7F6EE"/>
          </a:solidFill>
          <a:ln w="15875">
            <a:solidFill>
              <a:srgbClr val="94CE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2" name="TextBox 17481"/>
          <p:cNvSpPr txBox="1"/>
          <p:nvPr/>
        </p:nvSpPr>
        <p:spPr>
          <a:xfrm>
            <a:off x="8650224" y="5815584"/>
            <a:ext cx="3044952" cy="219456"/>
          </a:xfrm>
          <a:prstGeom prst="rect">
            <a:avLst/>
          </a:prstGeom>
          <a:noFill/>
        </p:spPr>
        <p:txBody>
          <a:bodyPr wrap="square" anchor="t" lIns="0" rIns="0" tIns="0" bIns="0">
            <a:spAutoFit/>
          </a:bodyPr>
          <a:lstStyle/>
          <a:p>
            <a:pPr algn="l">
              <a:spcBef>
                <a:spcPts val="0"/>
              </a:spcBef>
              <a:spcAft>
                <a:spcPts val="0"/>
              </a:spcAft>
            </a:pPr>
            <a:r>
              <a:rPr sz="800" b="1" i="0">
                <a:solidFill>
                  <a:srgbClr val="158A5A"/>
                </a:solidFill>
                <a:latin typeface="Calibri"/>
              </a:rPr>
              <a:t>Shared ciphertext + a 14 KB bundle each, flat in 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a:solidFill>
            <a:srgbClr val="0E1F42"/>
          </a:solidFill>
          <a:ln w="19050">
            <a:solidFill>
              <a:srgbClr val="F2790D"/>
            </a:solidFill>
          </a:ln>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FFFFFF"/>
                </a:solidFill>
                <a:latin typeface="Calibri"/>
              </a:rPr>
              <a:t>NOX</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Hexagon 17409"/>
          <p:cNvSpPr/>
          <p:nvPr/>
        </p:nvSpPr>
        <p:spPr>
          <a:xfrm rot="5400000">
            <a:off x="3657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1</a:t>
            </a:r>
          </a:p>
        </p:txBody>
      </p:sp>
      <p:sp>
        <p:nvSpPr>
          <p:cNvPr id="17411" name="TextBox 17410"/>
          <p:cNvSpPr txBox="1"/>
          <p:nvPr/>
        </p:nvSpPr>
        <p:spPr>
          <a:xfrm>
            <a:off x="749808" y="1143000"/>
            <a:ext cx="33009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Analysis of the feasibility of the idea</a:t>
            </a:r>
          </a:p>
        </p:txBody>
      </p:sp>
      <p:sp>
        <p:nvSpPr>
          <p:cNvPr id="17412" name="Rounded Rectangle 17411"/>
          <p:cNvSpPr/>
          <p:nvPr/>
        </p:nvSpPr>
        <p:spPr>
          <a:xfrm>
            <a:off x="365760" y="1572768"/>
            <a:ext cx="3685032" cy="1975104"/>
          </a:xfrm>
          <a:prstGeom prst="roundRect">
            <a:avLst>
              <a:gd name="adj" fmla="val 6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512064" y="1682496"/>
            <a:ext cx="3392424" cy="1783080"/>
          </a:xfrm>
          <a:prstGeom prst="rect">
            <a:avLst/>
          </a:prstGeom>
          <a:noFill/>
        </p:spPr>
        <p:txBody>
          <a:bodyPr wrap="square" anchor="t" lIns="0" rIns="0" tIns="0" bIns="0">
            <a:spAutoFit/>
          </a:bodyPr>
          <a:lstStyle/>
          <a:p>
            <a:pPr algn="l">
              <a:spcBef>
                <a:spcPts val="0"/>
              </a:spcBef>
              <a:spcAft>
                <a:spcPts val="550"/>
              </a:spcAft>
            </a:pPr>
            <a:r>
              <a:rPr sz="860" b="1">
                <a:solidFill>
                  <a:srgbClr val="1B335E"/>
                </a:solidFill>
                <a:latin typeface="Calibri"/>
              </a:rPr>
              <a:t>Already built and running. </a:t>
            </a:r>
            <a:r>
              <a:rPr sz="860" b="0">
                <a:solidFill>
                  <a:srgbClr val="54627A"/>
                </a:solidFill>
                <a:latin typeface="Calibri"/>
              </a:rPr>
              <a:t>Not a concept — a working deployment anyone can open right now.</a:t>
            </a:r>
          </a:p>
          <a:p>
            <a:pPr algn="l">
              <a:spcBef>
                <a:spcPts val="0"/>
              </a:spcBef>
              <a:spcAft>
                <a:spcPts val="550"/>
              </a:spcAft>
            </a:pPr>
            <a:r>
              <a:rPr sz="860" b="1">
                <a:solidFill>
                  <a:srgbClr val="1B335E"/>
                </a:solidFill>
                <a:latin typeface="Calibri"/>
              </a:rPr>
              <a:t>Runs on commodity CPU. </a:t>
            </a:r>
            <a:r>
              <a:rPr sz="860" b="0">
                <a:solidFill>
                  <a:srgbClr val="54627A"/>
                </a:solidFill>
                <a:latin typeface="Calibri"/>
              </a:rPr>
              <a:t>No GPU, no HSM. The whole demo fits a free 0.1-vCPU tier.</a:t>
            </a:r>
          </a:p>
          <a:p>
            <a:pPr algn="l">
              <a:spcBef>
                <a:spcPts val="0"/>
              </a:spcBef>
              <a:spcAft>
                <a:spcPts val="550"/>
              </a:spcAft>
            </a:pPr>
            <a:r>
              <a:rPr sz="860" b="1">
                <a:solidFill>
                  <a:srgbClr val="1B335E"/>
                </a:solidFill>
                <a:latin typeface="Calibri"/>
              </a:rPr>
              <a:t>Zero licensing cost. </a:t>
            </a:r>
            <a:r>
              <a:rPr sz="860" b="0">
                <a:solidFill>
                  <a:srgbClr val="54627A"/>
                </a:solidFill>
                <a:latin typeface="Calibri"/>
              </a:rPr>
              <a:t>Open-source primitives end to end; NIST-standardised, not bespoke.</a:t>
            </a:r>
          </a:p>
          <a:p>
            <a:pPr algn="l">
              <a:spcBef>
                <a:spcPts val="0"/>
              </a:spcBef>
              <a:spcAft>
                <a:spcPts val="550"/>
              </a:spcAft>
            </a:pPr>
            <a:r>
              <a:rPr sz="860" b="1">
                <a:solidFill>
                  <a:srgbClr val="1B335E"/>
                </a:solidFill>
                <a:latin typeface="Calibri"/>
              </a:rPr>
              <a:t>Deploys air-gapped. </a:t>
            </a:r>
            <a:r>
              <a:rPr sz="860" b="0">
                <a:solidFill>
                  <a:srgbClr val="54627A"/>
                </a:solidFill>
                <a:latin typeface="Calibri"/>
              </a:rPr>
              <a:t>No cloud KMS, no public chain, no outbound call.</a:t>
            </a:r>
          </a:p>
          <a:p>
            <a:pPr algn="l">
              <a:spcBef>
                <a:spcPts val="0"/>
              </a:spcBef>
              <a:spcAft>
                <a:spcPts val="550"/>
              </a:spcAft>
            </a:pPr>
            <a:r>
              <a:rPr sz="860" b="1">
                <a:solidFill>
                  <a:srgbClr val="1B335E"/>
                </a:solidFill>
                <a:latin typeface="Calibri"/>
              </a:rPr>
              <a:t>Drops in beside existing flows. </a:t>
            </a:r>
            <a:r>
              <a:rPr sz="860" b="0">
                <a:solidFill>
                  <a:srgbClr val="54627A"/>
                </a:solidFill>
                <a:latin typeface="Calibri"/>
              </a:rPr>
              <a:t>The sender already encrypts once for many; this replaces that step.</a:t>
            </a:r>
          </a:p>
        </p:txBody>
      </p:sp>
      <p:sp>
        <p:nvSpPr>
          <p:cNvPr id="17414" name="Hexagon 17413"/>
          <p:cNvSpPr/>
          <p:nvPr/>
        </p:nvSpPr>
        <p:spPr>
          <a:xfrm rot="5400000">
            <a:off x="42519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2</a:t>
            </a:r>
          </a:p>
        </p:txBody>
      </p:sp>
      <p:sp>
        <p:nvSpPr>
          <p:cNvPr id="17415" name="TextBox 17414"/>
          <p:cNvSpPr txBox="1"/>
          <p:nvPr/>
        </p:nvSpPr>
        <p:spPr>
          <a:xfrm>
            <a:off x="4636008" y="1143000"/>
            <a:ext cx="33009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Potential challenges and risks</a:t>
            </a:r>
          </a:p>
        </p:txBody>
      </p:sp>
      <p:sp>
        <p:nvSpPr>
          <p:cNvPr id="17416" name="Rounded Rectangle 17415"/>
          <p:cNvSpPr/>
          <p:nvPr/>
        </p:nvSpPr>
        <p:spPr>
          <a:xfrm>
            <a:off x="4251960" y="1572768"/>
            <a:ext cx="3685032" cy="1975104"/>
          </a:xfrm>
          <a:prstGeom prst="roundRect">
            <a:avLst>
              <a:gd name="adj" fmla="val 6000"/>
            </a:avLst>
          </a:prstGeom>
          <a:solidFill>
            <a:srgbClr val="FEF4E4"/>
          </a:solidFill>
          <a:ln w="15875">
            <a:solidFill>
              <a:srgbClr val="E9C0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4398264" y="1682496"/>
            <a:ext cx="3392424" cy="1783080"/>
          </a:xfrm>
          <a:prstGeom prst="rect">
            <a:avLst/>
          </a:prstGeom>
          <a:noFill/>
        </p:spPr>
        <p:txBody>
          <a:bodyPr wrap="square" anchor="t" lIns="0" rIns="0" tIns="0" bIns="0">
            <a:spAutoFit/>
          </a:bodyPr>
          <a:lstStyle/>
          <a:p>
            <a:pPr algn="l">
              <a:spcBef>
                <a:spcPts val="0"/>
              </a:spcBef>
              <a:spcAft>
                <a:spcPts val="550"/>
              </a:spcAft>
            </a:pPr>
            <a:r>
              <a:rPr sz="860" b="1">
                <a:solidFill>
                  <a:srgbClr val="A86A08"/>
                </a:solidFill>
                <a:latin typeface="Calibri"/>
              </a:rPr>
              <a:t>Carrier fragility. </a:t>
            </a:r>
            <a:r>
              <a:rPr sz="860" b="0">
                <a:solidFill>
                  <a:srgbClr val="54627A"/>
                </a:solidFill>
                <a:latin typeface="Calibri"/>
              </a:rPr>
              <a:t>Retyping, OCR or stripping invisible characters destroys a text watermark.</a:t>
            </a:r>
          </a:p>
          <a:p>
            <a:pPr algn="l">
              <a:spcBef>
                <a:spcPts val="0"/>
              </a:spcBef>
              <a:spcAft>
                <a:spcPts val="550"/>
              </a:spcAft>
            </a:pPr>
            <a:r>
              <a:rPr sz="860" b="1">
                <a:solidFill>
                  <a:srgbClr val="A86A08"/>
                </a:solidFill>
                <a:latin typeface="Calibri"/>
              </a:rPr>
              <a:t>Word insertion desynchronises. </a:t>
            </a:r>
            <a:r>
              <a:rPr sz="860" b="0">
                <a:solidFill>
                  <a:srgbClr val="54627A"/>
                </a:solidFill>
                <a:latin typeface="Calibri"/>
              </a:rPr>
              <a:t>Slot addresses are ordinal, so adding a word shifts every later slot.</a:t>
            </a:r>
          </a:p>
          <a:p>
            <a:pPr algn="l">
              <a:spcBef>
                <a:spcPts val="0"/>
              </a:spcBef>
              <a:spcAft>
                <a:spcPts val="550"/>
              </a:spcAft>
            </a:pPr>
            <a:r>
              <a:rPr sz="860" b="1">
                <a:solidFill>
                  <a:srgbClr val="A86A08"/>
                </a:solidFill>
                <a:latin typeface="Calibri"/>
              </a:rPr>
              <a:t>Short documents, weaker codes. </a:t>
            </a:r>
            <a:r>
              <a:rPr sz="860" b="0">
                <a:solidFill>
                  <a:srgbClr val="54627A"/>
                </a:solidFill>
                <a:latin typeface="Calibri"/>
              </a:rPr>
              <a:t>A memo holds ~300 slots; the Tardos bound asks for far more.</a:t>
            </a:r>
          </a:p>
          <a:p>
            <a:pPr algn="l">
              <a:spcBef>
                <a:spcPts val="0"/>
              </a:spcBef>
              <a:spcAft>
                <a:spcPts val="550"/>
              </a:spcAft>
            </a:pPr>
            <a:r>
              <a:rPr sz="860" b="1">
                <a:solidFill>
                  <a:srgbClr val="A86A08"/>
                </a:solidFill>
                <a:latin typeface="Calibri"/>
              </a:rPr>
              <a:t>Unframeability. </a:t>
            </a:r>
            <a:r>
              <a:rPr sz="860" b="0">
                <a:solidFill>
                  <a:srgbClr val="54627A"/>
                </a:solidFill>
                <a:latin typeface="Calibri"/>
              </a:rPr>
              <a:t>The sender knows every codeword, so this proves traceability, not non-framing.</a:t>
            </a:r>
          </a:p>
          <a:p>
            <a:pPr algn="l">
              <a:spcBef>
                <a:spcPts val="0"/>
              </a:spcBef>
              <a:spcAft>
                <a:spcPts val="550"/>
              </a:spcAft>
            </a:pPr>
            <a:r>
              <a:rPr sz="860" b="1">
                <a:solidFill>
                  <a:srgbClr val="A86A08"/>
                </a:solidFill>
                <a:latin typeface="Calibri"/>
              </a:rPr>
              <a:t>Collusion. </a:t>
            </a:r>
            <a:r>
              <a:rPr sz="860" b="0">
                <a:solidFill>
                  <a:srgbClr val="54627A"/>
                </a:solidFill>
                <a:latin typeface="Calibri"/>
              </a:rPr>
              <a:t>Recipients can compare copies and splice them together.</a:t>
            </a:r>
          </a:p>
        </p:txBody>
      </p:sp>
      <p:sp>
        <p:nvSpPr>
          <p:cNvPr id="17418" name="Hexagon 17417"/>
          <p:cNvSpPr/>
          <p:nvPr/>
        </p:nvSpPr>
        <p:spPr>
          <a:xfrm rot="5400000">
            <a:off x="81381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3</a:t>
            </a:r>
          </a:p>
        </p:txBody>
      </p:sp>
      <p:sp>
        <p:nvSpPr>
          <p:cNvPr id="17419" name="TextBox 17418"/>
          <p:cNvSpPr txBox="1"/>
          <p:nvPr/>
        </p:nvSpPr>
        <p:spPr>
          <a:xfrm>
            <a:off x="8522208" y="1143000"/>
            <a:ext cx="33009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Strategies for overcoming these challenges</a:t>
            </a:r>
          </a:p>
        </p:txBody>
      </p:sp>
      <p:sp>
        <p:nvSpPr>
          <p:cNvPr id="17420" name="Rounded Rectangle 17419"/>
          <p:cNvSpPr/>
          <p:nvPr/>
        </p:nvSpPr>
        <p:spPr>
          <a:xfrm>
            <a:off x="8138160" y="1572768"/>
            <a:ext cx="3685032" cy="1975104"/>
          </a:xfrm>
          <a:prstGeom prst="roundRect">
            <a:avLst>
              <a:gd name="adj" fmla="val 6000"/>
            </a:avLst>
          </a:prstGeom>
          <a:solidFill>
            <a:srgbClr val="E7F6EE"/>
          </a:solidFill>
          <a:ln w="15875">
            <a:solidFill>
              <a:srgbClr val="94CE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8284464" y="1682496"/>
            <a:ext cx="3392424" cy="1783080"/>
          </a:xfrm>
          <a:prstGeom prst="rect">
            <a:avLst/>
          </a:prstGeom>
          <a:noFill/>
        </p:spPr>
        <p:txBody>
          <a:bodyPr wrap="square" anchor="t" lIns="0" rIns="0" tIns="0" bIns="0">
            <a:spAutoFit/>
          </a:bodyPr>
          <a:lstStyle/>
          <a:p>
            <a:pPr algn="l">
              <a:spcBef>
                <a:spcPts val="0"/>
              </a:spcBef>
              <a:spcAft>
                <a:spcPts val="550"/>
              </a:spcAft>
            </a:pPr>
            <a:r>
              <a:rPr sz="860" b="1">
                <a:solidFill>
                  <a:srgbClr val="158A5A"/>
                </a:solidFill>
                <a:latin typeface="Calibri"/>
              </a:rPr>
              <a:t>Publish the attacks that win. </a:t>
            </a:r>
            <a:r>
              <a:rPr sz="860" b="0">
                <a:solidFill>
                  <a:srgbClr val="54627A"/>
                </a:solidFill>
                <a:latin typeface="Calibri"/>
              </a:rPr>
              <a:t>Each measured with its bit error rate, beside the ones survived.</a:t>
            </a:r>
          </a:p>
          <a:p>
            <a:pPr algn="l">
              <a:spcBef>
                <a:spcPts val="0"/>
              </a:spcBef>
              <a:spcAft>
                <a:spcPts val="550"/>
              </a:spcAft>
            </a:pPr>
            <a:r>
              <a:rPr sz="860" b="1">
                <a:solidFill>
                  <a:srgbClr val="158A5A"/>
                </a:solidFill>
                <a:latin typeface="Calibri"/>
              </a:rPr>
              <a:t>Fail safe, not loud. </a:t>
            </a:r>
            <a:r>
              <a:rPr sz="860" b="0">
                <a:solidFill>
                  <a:srgbClr val="54627A"/>
                </a:solidFill>
                <a:latin typeface="Calibri"/>
              </a:rPr>
              <a:t>When an attack wins the result is a failure to identify — misidentification stayed at 0.0%.</a:t>
            </a:r>
          </a:p>
          <a:p>
            <a:pPr algn="l">
              <a:spcBef>
                <a:spcPts val="0"/>
              </a:spcBef>
              <a:spcAft>
                <a:spcPts val="550"/>
              </a:spcAft>
            </a:pPr>
            <a:r>
              <a:rPr sz="860" b="1">
                <a:solidFill>
                  <a:srgbClr val="158A5A"/>
                </a:solidFill>
                <a:latin typeface="Calibri"/>
              </a:rPr>
              <a:t>Report the reachable bound. </a:t>
            </a:r>
            <a:r>
              <a:rPr sz="860" b="0">
                <a:solidFill>
                  <a:srgbClr val="54627A"/>
                </a:solidFill>
                <a:latin typeface="Calibri"/>
              </a:rPr>
              <a:t>protect states the best error probability the document supports, before sending.</a:t>
            </a:r>
          </a:p>
          <a:p>
            <a:pPr algn="l">
              <a:spcBef>
                <a:spcPts val="0"/>
              </a:spcBef>
              <a:spcAft>
                <a:spcPts val="550"/>
              </a:spcAft>
            </a:pPr>
            <a:r>
              <a:rPr sz="860" b="1">
                <a:solidFill>
                  <a:srgbClr val="158A5A"/>
                </a:solidFill>
                <a:latin typeface="Calibri"/>
              </a:rPr>
              <a:t>Tardos codes for collusion. </a:t>
            </a:r>
            <a:r>
              <a:rPr sz="860" b="0">
                <a:solidFill>
                  <a:srgbClr val="54627A"/>
                </a:solidFill>
                <a:latin typeface="Calibri"/>
              </a:rPr>
              <a:t>Where colluders agree they are stuck — no one holds the other key.</a:t>
            </a:r>
          </a:p>
          <a:p>
            <a:pPr algn="l">
              <a:spcBef>
                <a:spcPts val="0"/>
              </a:spcBef>
              <a:spcAft>
                <a:spcPts val="550"/>
              </a:spcAft>
            </a:pPr>
            <a:r>
              <a:rPr sz="860" b="1">
                <a:solidFill>
                  <a:srgbClr val="158A5A"/>
                </a:solidFill>
                <a:latin typeface="Calibri"/>
              </a:rPr>
              <a:t>Content-anchored slots. </a:t>
            </a:r>
            <a:r>
              <a:rPr sz="860" b="0">
                <a:solidFill>
                  <a:srgbClr val="54627A"/>
                </a:solidFill>
                <a:latin typeface="Calibri"/>
              </a:rPr>
              <a:t>The named next step, replacing ordinal addressing.</a:t>
            </a:r>
          </a:p>
        </p:txBody>
      </p:sp>
      <p:sp>
        <p:nvSpPr>
          <p:cNvPr id="17422" name="Rounded Rectangle 17421"/>
          <p:cNvSpPr/>
          <p:nvPr/>
        </p:nvSpPr>
        <p:spPr>
          <a:xfrm>
            <a:off x="365760" y="3730752"/>
            <a:ext cx="11457432" cy="1170432"/>
          </a:xfrm>
          <a:prstGeom prst="roundRect">
            <a:avLst>
              <a:gd name="adj" fmla="val 3500"/>
            </a:avLst>
          </a:prstGeom>
          <a:solidFill>
            <a:srgbClr val="0E1F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566928" y="3840480"/>
            <a:ext cx="3657600" cy="182880"/>
          </a:xfrm>
          <a:prstGeom prst="rect">
            <a:avLst/>
          </a:prstGeom>
          <a:noFill/>
        </p:spPr>
        <p:txBody>
          <a:bodyPr wrap="square" anchor="t" lIns="0" rIns="0" tIns="0" bIns="0">
            <a:spAutoFit/>
          </a:bodyPr>
          <a:lstStyle/>
          <a:p>
            <a:pPr algn="l">
              <a:spcBef>
                <a:spcPts val="0"/>
              </a:spcBef>
              <a:spcAft>
                <a:spcPts val="0"/>
              </a:spcAft>
            </a:pPr>
            <a:r>
              <a:rPr sz="780" b="1" i="0" spc="120">
                <a:solidFill>
                  <a:srgbClr val="F2790D"/>
                </a:solidFill>
                <a:latin typeface="Calibri"/>
              </a:rPr>
              <a:t>MEASURED, NOT ASSERTED</a:t>
            </a:r>
          </a:p>
        </p:txBody>
      </p:sp>
      <p:sp>
        <p:nvSpPr>
          <p:cNvPr id="17424" name="TextBox 17423"/>
          <p:cNvSpPr txBox="1"/>
          <p:nvPr/>
        </p:nvSpPr>
        <p:spPr>
          <a:xfrm>
            <a:off x="566928" y="4114800"/>
            <a:ext cx="1842516" cy="713232"/>
          </a:xfrm>
          <a:prstGeom prst="rect">
            <a:avLst/>
          </a:prstGeom>
          <a:noFill/>
        </p:spPr>
        <p:txBody>
          <a:bodyPr wrap="square" anchor="t" lIns="0" rIns="0" tIns="0" bIns="0">
            <a:spAutoFit/>
          </a:bodyPr>
          <a:lstStyle/>
          <a:p>
            <a:pPr algn="ctr">
              <a:spcBef>
                <a:spcPts val="0"/>
              </a:spcBef>
              <a:spcAft>
                <a:spcPts val="100"/>
              </a:spcAft>
            </a:pPr>
            <a:r>
              <a:rPr sz="1800" b="1" i="0">
                <a:solidFill>
                  <a:srgbClr val="22B173"/>
                </a:solidFill>
                <a:latin typeface="Calibri"/>
              </a:rPr>
              <a:t>100%</a:t>
            </a:r>
          </a:p>
          <a:p>
            <a:pPr algn="ctr">
              <a:spcBef>
                <a:spcPts val="0"/>
              </a:spcBef>
              <a:spcAft>
                <a:spcPts val="0"/>
              </a:spcAft>
            </a:pPr>
            <a:r>
              <a:rPr sz="700" b="0" i="0">
                <a:solidFill>
                  <a:srgbClr val="A9BEDF"/>
                </a:solidFill>
                <a:latin typeface="Calibri"/>
              </a:rPr>
              <a:t>coalition of 8 traced at the
prescribed code length</a:t>
            </a:r>
          </a:p>
        </p:txBody>
      </p:sp>
      <p:sp>
        <p:nvSpPr>
          <p:cNvPr id="17425" name="TextBox 17424"/>
          <p:cNvSpPr txBox="1"/>
          <p:nvPr/>
        </p:nvSpPr>
        <p:spPr>
          <a:xfrm>
            <a:off x="2409444" y="4114800"/>
            <a:ext cx="1842516" cy="713232"/>
          </a:xfrm>
          <a:prstGeom prst="rect">
            <a:avLst/>
          </a:prstGeom>
          <a:noFill/>
        </p:spPr>
        <p:txBody>
          <a:bodyPr wrap="square" anchor="t" lIns="0" rIns="0" tIns="0" bIns="0">
            <a:spAutoFit/>
          </a:bodyPr>
          <a:lstStyle/>
          <a:p>
            <a:pPr algn="ctr">
              <a:spcBef>
                <a:spcPts val="0"/>
              </a:spcBef>
              <a:spcAft>
                <a:spcPts val="100"/>
              </a:spcAft>
            </a:pPr>
            <a:r>
              <a:rPr sz="1800" b="1" i="0">
                <a:solidFill>
                  <a:srgbClr val="22B173"/>
                </a:solidFill>
                <a:latin typeface="Calibri"/>
              </a:rPr>
              <a:t>0.0%</a:t>
            </a:r>
          </a:p>
          <a:p>
            <a:pPr algn="ctr">
              <a:spcBef>
                <a:spcPts val="0"/>
              </a:spcBef>
              <a:spcAft>
                <a:spcPts val="0"/>
              </a:spcAft>
            </a:pPr>
            <a:r>
              <a:rPr sz="700" b="0" i="0">
                <a:solidFill>
                  <a:srgbClr val="A9BEDF"/>
                </a:solidFill>
                <a:latin typeface="Calibri"/>
              </a:rPr>
              <a:t>misidentification across a
0–95% erasure sweep</a:t>
            </a:r>
          </a:p>
        </p:txBody>
      </p:sp>
      <p:sp>
        <p:nvSpPr>
          <p:cNvPr id="17426" name="TextBox 17425"/>
          <p:cNvSpPr txBox="1"/>
          <p:nvPr/>
        </p:nvSpPr>
        <p:spPr>
          <a:xfrm>
            <a:off x="4251960" y="4114800"/>
            <a:ext cx="1842516" cy="713232"/>
          </a:xfrm>
          <a:prstGeom prst="rect">
            <a:avLst/>
          </a:prstGeom>
          <a:noFill/>
        </p:spPr>
        <p:txBody>
          <a:bodyPr wrap="square" anchor="t" lIns="0" rIns="0" tIns="0" bIns="0">
            <a:spAutoFit/>
          </a:bodyPr>
          <a:lstStyle/>
          <a:p>
            <a:pPr algn="ctr">
              <a:spcBef>
                <a:spcPts val="0"/>
              </a:spcBef>
              <a:spcAft>
                <a:spcPts val="100"/>
              </a:spcAft>
            </a:pPr>
            <a:r>
              <a:rPr sz="1800" b="1" i="0">
                <a:solidFill>
                  <a:srgbClr val="FFFFFF"/>
                </a:solidFill>
                <a:latin typeface="Calibri"/>
              </a:rPr>
              <a:t>2.8e-59</a:t>
            </a:r>
          </a:p>
          <a:p>
            <a:pPr algn="ctr">
              <a:spcBef>
                <a:spcPts val="0"/>
              </a:spcBef>
              <a:spcAft>
                <a:spcPts val="0"/>
              </a:spcAft>
            </a:pPr>
            <a:r>
              <a:rPr sz="700" b="0" i="0">
                <a:solidFill>
                  <a:srgbClr val="A9BEDF"/>
                </a:solidFill>
                <a:latin typeface="Calibri"/>
              </a:rPr>
              <a:t>provable false-accusation
bound on the live demo</a:t>
            </a:r>
          </a:p>
        </p:txBody>
      </p:sp>
      <p:sp>
        <p:nvSpPr>
          <p:cNvPr id="17427" name="TextBox 17426"/>
          <p:cNvSpPr txBox="1"/>
          <p:nvPr/>
        </p:nvSpPr>
        <p:spPr>
          <a:xfrm>
            <a:off x="6094476" y="4114800"/>
            <a:ext cx="1842516" cy="713232"/>
          </a:xfrm>
          <a:prstGeom prst="rect">
            <a:avLst/>
          </a:prstGeom>
          <a:noFill/>
        </p:spPr>
        <p:txBody>
          <a:bodyPr wrap="square" anchor="t" lIns="0" rIns="0" tIns="0" bIns="0">
            <a:spAutoFit/>
          </a:bodyPr>
          <a:lstStyle/>
          <a:p>
            <a:pPr algn="ctr">
              <a:spcBef>
                <a:spcPts val="0"/>
              </a:spcBef>
              <a:spcAft>
                <a:spcPts val="100"/>
              </a:spcAft>
            </a:pPr>
            <a:r>
              <a:rPr sz="1800" b="1" i="0">
                <a:solidFill>
                  <a:srgbClr val="22B173"/>
                </a:solidFill>
                <a:latin typeface="Calibri"/>
              </a:rPr>
              <a:t>0 / 10,000</a:t>
            </a:r>
          </a:p>
          <a:p>
            <a:pPr algn="ctr">
              <a:spcBef>
                <a:spcPts val="0"/>
              </a:spcBef>
              <a:spcAft>
                <a:spcPts val="0"/>
              </a:spcAft>
            </a:pPr>
            <a:r>
              <a:rPr sz="700" b="0" i="0">
                <a:solidFill>
                  <a:srgbClr val="A9BEDF"/>
                </a:solidFill>
                <a:latin typeface="Calibri"/>
              </a:rPr>
              <a:t>innocent trials accused
at α ≤ 1e-5</a:t>
            </a:r>
          </a:p>
        </p:txBody>
      </p:sp>
      <p:sp>
        <p:nvSpPr>
          <p:cNvPr id="17428" name="TextBox 17427"/>
          <p:cNvSpPr txBox="1"/>
          <p:nvPr/>
        </p:nvSpPr>
        <p:spPr>
          <a:xfrm>
            <a:off x="7936992" y="4114800"/>
            <a:ext cx="1842516" cy="713232"/>
          </a:xfrm>
          <a:prstGeom prst="rect">
            <a:avLst/>
          </a:prstGeom>
          <a:noFill/>
        </p:spPr>
        <p:txBody>
          <a:bodyPr wrap="square" anchor="t" lIns="0" rIns="0" tIns="0" bIns="0">
            <a:spAutoFit/>
          </a:bodyPr>
          <a:lstStyle/>
          <a:p>
            <a:pPr algn="ctr">
              <a:spcBef>
                <a:spcPts val="0"/>
              </a:spcBef>
              <a:spcAft>
                <a:spcPts val="100"/>
              </a:spcAft>
            </a:pPr>
            <a:r>
              <a:rPr sz="1800" b="1" i="0">
                <a:solidFill>
                  <a:srgbClr val="F2790D"/>
                </a:solidFill>
                <a:latin typeface="Calibri"/>
              </a:rPr>
              <a:t>4</a:t>
            </a:r>
          </a:p>
          <a:p>
            <a:pPr algn="ctr">
              <a:spcBef>
                <a:spcPts val="0"/>
              </a:spcBef>
              <a:spcAft>
                <a:spcPts val="0"/>
              </a:spcAft>
            </a:pPr>
            <a:r>
              <a:rPr sz="700" b="0" i="0">
                <a:solidFill>
                  <a:srgbClr val="A9BEDF"/>
                </a:solidFill>
                <a:latin typeface="Calibri"/>
              </a:rPr>
              <a:t>attacks that defeat the
carrier — all published</a:t>
            </a:r>
          </a:p>
        </p:txBody>
      </p:sp>
      <p:sp>
        <p:nvSpPr>
          <p:cNvPr id="17429" name="TextBox 17428"/>
          <p:cNvSpPr txBox="1"/>
          <p:nvPr/>
        </p:nvSpPr>
        <p:spPr>
          <a:xfrm>
            <a:off x="9779508" y="4114800"/>
            <a:ext cx="1842516" cy="713232"/>
          </a:xfrm>
          <a:prstGeom prst="rect">
            <a:avLst/>
          </a:prstGeom>
          <a:noFill/>
        </p:spPr>
        <p:txBody>
          <a:bodyPr wrap="square" anchor="t" lIns="0" rIns="0" tIns="0" bIns="0">
            <a:spAutoFit/>
          </a:bodyPr>
          <a:lstStyle/>
          <a:p>
            <a:pPr algn="ctr">
              <a:spcBef>
                <a:spcPts val="0"/>
              </a:spcBef>
              <a:spcAft>
                <a:spcPts val="100"/>
              </a:spcAft>
            </a:pPr>
            <a:r>
              <a:rPr sz="1800" b="1" i="0">
                <a:solidFill>
                  <a:srgbClr val="FFFFFF"/>
                </a:solidFill>
                <a:latin typeface="Calibri"/>
              </a:rPr>
              <a:t>163</a:t>
            </a:r>
          </a:p>
          <a:p>
            <a:pPr algn="ctr">
              <a:spcBef>
                <a:spcPts val="0"/>
              </a:spcBef>
              <a:spcAft>
                <a:spcPts val="0"/>
              </a:spcAft>
            </a:pPr>
            <a:r>
              <a:rPr sz="700" b="0" i="0">
                <a:solidFill>
                  <a:srgbClr val="A9BEDF"/>
                </a:solidFill>
                <a:latin typeface="Calibri"/>
              </a:rPr>
              <a:t>automated tests,
all passing</a:t>
            </a:r>
          </a:p>
        </p:txBody>
      </p:sp>
      <p:sp>
        <p:nvSpPr>
          <p:cNvPr id="17430" name="Hexagon 17429"/>
          <p:cNvSpPr/>
          <p:nvPr/>
        </p:nvSpPr>
        <p:spPr>
          <a:xfrm rot="5400000">
            <a:off x="365760" y="5056632"/>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4</a:t>
            </a:r>
          </a:p>
        </p:txBody>
      </p:sp>
      <p:sp>
        <p:nvSpPr>
          <p:cNvPr id="17431" name="TextBox 17430"/>
          <p:cNvSpPr txBox="1"/>
          <p:nvPr/>
        </p:nvSpPr>
        <p:spPr>
          <a:xfrm>
            <a:off x="749808" y="5038344"/>
            <a:ext cx="110733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Path to deployment</a:t>
            </a:r>
          </a:p>
        </p:txBody>
      </p:sp>
      <p:sp>
        <p:nvSpPr>
          <p:cNvPr id="17432" name="Rounded Rectangle 17431"/>
          <p:cNvSpPr/>
          <p:nvPr/>
        </p:nvSpPr>
        <p:spPr>
          <a:xfrm>
            <a:off x="365760" y="5431536"/>
            <a:ext cx="2631186" cy="822960"/>
          </a:xfrm>
          <a:prstGeom prst="roundRect">
            <a:avLst>
              <a:gd name="adj" fmla="val 7000"/>
            </a:avLst>
          </a:prstGeom>
          <a:solidFill>
            <a:srgbClr val="E7F6EE"/>
          </a:solidFill>
          <a:ln w="15875">
            <a:solidFill>
              <a:srgbClr val="94CE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512064" y="5522976"/>
            <a:ext cx="2338578" cy="658368"/>
          </a:xfrm>
          <a:prstGeom prst="rect">
            <a:avLst/>
          </a:prstGeom>
          <a:noFill/>
        </p:spPr>
        <p:txBody>
          <a:bodyPr wrap="square" anchor="t" lIns="0" rIns="0" tIns="0" bIns="0">
            <a:spAutoFit/>
          </a:bodyPr>
          <a:lstStyle/>
          <a:p>
            <a:pPr algn="l">
              <a:spcBef>
                <a:spcPts val="0"/>
              </a:spcBef>
              <a:spcAft>
                <a:spcPts val="150"/>
              </a:spcAft>
            </a:pPr>
            <a:r>
              <a:rPr sz="680" b="1" i="0" spc="140">
                <a:solidFill>
                  <a:srgbClr val="158A5A"/>
                </a:solidFill>
                <a:latin typeface="Calibri"/>
              </a:rPr>
              <a:t>NOW</a:t>
            </a:r>
          </a:p>
          <a:p>
            <a:pPr algn="l">
              <a:spcBef>
                <a:spcPts val="0"/>
              </a:spcBef>
              <a:spcAft>
                <a:spcPts val="150"/>
              </a:spcAft>
            </a:pPr>
            <a:r>
              <a:rPr sz="940" b="1" i="0">
                <a:solidFill>
                  <a:srgbClr val="1B335E"/>
                </a:solidFill>
                <a:latin typeface="Calibri"/>
              </a:rPr>
              <a:t>Working prototype</a:t>
            </a:r>
          </a:p>
          <a:p>
            <a:pPr algn="l">
              <a:spcBef>
                <a:spcPts val="0"/>
              </a:spcBef>
              <a:spcAft>
                <a:spcPts val="0"/>
              </a:spcAft>
            </a:pPr>
            <a:r>
              <a:rPr sz="760" b="0" i="0">
                <a:solidFill>
                  <a:srgbClr val="54627A"/>
                </a:solidFill>
                <a:latin typeface="Calibri"/>
              </a:rPr>
              <a:t>text and PDF carriers, 3-validator ledger, live</a:t>
            </a:r>
          </a:p>
        </p:txBody>
      </p:sp>
      <p:cxnSp>
        <p:nvCxnSpPr>
          <p:cNvPr id="17434" name="Connector 17433"/>
          <p:cNvCxnSpPr/>
          <p:nvPr/>
        </p:nvCxnSpPr>
        <p:spPr>
          <a:xfrm>
            <a:off x="3042665" y="5843016"/>
            <a:ext cx="219457" cy="0"/>
          </a:xfrm>
          <a:prstGeom prst="line">
            <a:avLst/>
          </a:prstGeom>
          <a:ln w="28575">
            <a:solidFill>
              <a:srgbClr val="1B33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35" name="Rounded Rectangle 17434"/>
          <p:cNvSpPr/>
          <p:nvPr/>
        </p:nvSpPr>
        <p:spPr>
          <a:xfrm>
            <a:off x="3307841" y="5431536"/>
            <a:ext cx="2631186" cy="822960"/>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3454146" y="5522976"/>
            <a:ext cx="2338578" cy="658368"/>
          </a:xfrm>
          <a:prstGeom prst="rect">
            <a:avLst/>
          </a:prstGeom>
          <a:noFill/>
        </p:spPr>
        <p:txBody>
          <a:bodyPr wrap="square" anchor="t" lIns="0" rIns="0" tIns="0" bIns="0">
            <a:spAutoFit/>
          </a:bodyPr>
          <a:lstStyle/>
          <a:p>
            <a:pPr algn="l">
              <a:spcBef>
                <a:spcPts val="0"/>
              </a:spcBef>
              <a:spcAft>
                <a:spcPts val="150"/>
              </a:spcAft>
            </a:pPr>
            <a:r>
              <a:rPr sz="680" b="1" i="0" spc="140">
                <a:solidFill>
                  <a:srgbClr val="7C8AA3"/>
                </a:solidFill>
                <a:latin typeface="Calibri"/>
              </a:rPr>
              <a:t>NEXT</a:t>
            </a:r>
          </a:p>
          <a:p>
            <a:pPr algn="l">
              <a:spcBef>
                <a:spcPts val="0"/>
              </a:spcBef>
              <a:spcAft>
                <a:spcPts val="150"/>
              </a:spcAft>
            </a:pPr>
            <a:r>
              <a:rPr sz="940" b="1" i="0">
                <a:solidFill>
                  <a:srgbClr val="1B335E"/>
                </a:solidFill>
                <a:latin typeface="Calibri"/>
              </a:rPr>
              <a:t>Content-anchored slots</a:t>
            </a:r>
          </a:p>
          <a:p>
            <a:pPr algn="l">
              <a:spcBef>
                <a:spcPts val="0"/>
              </a:spcBef>
              <a:spcAft>
                <a:spcPts val="0"/>
              </a:spcAft>
            </a:pPr>
            <a:r>
              <a:rPr sz="760" b="0" i="0">
                <a:solidFill>
                  <a:srgbClr val="54627A"/>
                </a:solidFill>
                <a:latin typeface="Calibri"/>
              </a:rPr>
              <a:t>removes the word-insertion weakness</a:t>
            </a:r>
          </a:p>
        </p:txBody>
      </p:sp>
      <p:cxnSp>
        <p:nvCxnSpPr>
          <p:cNvPr id="17437" name="Connector 17436"/>
          <p:cNvCxnSpPr/>
          <p:nvPr/>
        </p:nvCxnSpPr>
        <p:spPr>
          <a:xfrm>
            <a:off x="5984747" y="5843016"/>
            <a:ext cx="219456" cy="0"/>
          </a:xfrm>
          <a:prstGeom prst="line">
            <a:avLst/>
          </a:prstGeom>
          <a:ln w="28575">
            <a:solidFill>
              <a:srgbClr val="1B33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38" name="Rounded Rectangle 17437"/>
          <p:cNvSpPr/>
          <p:nvPr/>
        </p:nvSpPr>
        <p:spPr>
          <a:xfrm>
            <a:off x="6249923" y="5431536"/>
            <a:ext cx="2631186" cy="822960"/>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396227" y="5522976"/>
            <a:ext cx="2338578" cy="658368"/>
          </a:xfrm>
          <a:prstGeom prst="rect">
            <a:avLst/>
          </a:prstGeom>
          <a:noFill/>
        </p:spPr>
        <p:txBody>
          <a:bodyPr wrap="square" anchor="t" lIns="0" rIns="0" tIns="0" bIns="0">
            <a:spAutoFit/>
          </a:bodyPr>
          <a:lstStyle/>
          <a:p>
            <a:pPr algn="l">
              <a:spcBef>
                <a:spcPts val="0"/>
              </a:spcBef>
              <a:spcAft>
                <a:spcPts val="150"/>
              </a:spcAft>
            </a:pPr>
            <a:r>
              <a:rPr sz="680" b="1" i="0" spc="140">
                <a:solidFill>
                  <a:srgbClr val="7C8AA3"/>
                </a:solidFill>
                <a:latin typeface="Calibri"/>
              </a:rPr>
              <a:t>THEN</a:t>
            </a:r>
          </a:p>
          <a:p>
            <a:pPr algn="l">
              <a:spcBef>
                <a:spcPts val="0"/>
              </a:spcBef>
              <a:spcAft>
                <a:spcPts val="150"/>
              </a:spcAft>
            </a:pPr>
            <a:r>
              <a:rPr sz="940" b="1" i="0">
                <a:solidFill>
                  <a:srgbClr val="1B335E"/>
                </a:solidFill>
                <a:latin typeface="Calibri"/>
              </a:rPr>
              <a:t>Departmental pilot</a:t>
            </a:r>
          </a:p>
          <a:p>
            <a:pPr algn="l">
              <a:spcBef>
                <a:spcPts val="0"/>
              </a:spcBef>
              <a:spcAft>
                <a:spcPts val="0"/>
              </a:spcAft>
            </a:pPr>
            <a:r>
              <a:rPr sz="760" b="0" i="0">
                <a:solidFill>
                  <a:srgbClr val="54627A"/>
                </a:solidFill>
                <a:latin typeface="Calibri"/>
              </a:rPr>
              <a:t>validators held by three separate offices</a:t>
            </a:r>
          </a:p>
        </p:txBody>
      </p:sp>
      <p:cxnSp>
        <p:nvCxnSpPr>
          <p:cNvPr id="17440" name="Connector 17439"/>
          <p:cNvCxnSpPr/>
          <p:nvPr/>
        </p:nvCxnSpPr>
        <p:spPr>
          <a:xfrm>
            <a:off x="8926830" y="5843016"/>
            <a:ext cx="219456" cy="0"/>
          </a:xfrm>
          <a:prstGeom prst="line">
            <a:avLst/>
          </a:prstGeom>
          <a:ln w="28575">
            <a:solidFill>
              <a:srgbClr val="1B33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1" name="Rounded Rectangle 17440"/>
          <p:cNvSpPr/>
          <p:nvPr/>
        </p:nvSpPr>
        <p:spPr>
          <a:xfrm>
            <a:off x="9192005" y="5431536"/>
            <a:ext cx="2631186" cy="822960"/>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TextBox 17441"/>
          <p:cNvSpPr txBox="1"/>
          <p:nvPr/>
        </p:nvSpPr>
        <p:spPr>
          <a:xfrm>
            <a:off x="9338309" y="5522976"/>
            <a:ext cx="2338578" cy="658368"/>
          </a:xfrm>
          <a:prstGeom prst="rect">
            <a:avLst/>
          </a:prstGeom>
          <a:noFill/>
        </p:spPr>
        <p:txBody>
          <a:bodyPr wrap="square" anchor="t" lIns="0" rIns="0" tIns="0" bIns="0">
            <a:spAutoFit/>
          </a:bodyPr>
          <a:lstStyle/>
          <a:p>
            <a:pPr algn="l">
              <a:spcBef>
                <a:spcPts val="0"/>
              </a:spcBef>
              <a:spcAft>
                <a:spcPts val="150"/>
              </a:spcAft>
            </a:pPr>
            <a:r>
              <a:rPr sz="680" b="1" i="0" spc="140">
                <a:solidFill>
                  <a:srgbClr val="7C8AA3"/>
                </a:solidFill>
                <a:latin typeface="Calibri"/>
              </a:rPr>
              <a:t>SCALE</a:t>
            </a:r>
          </a:p>
          <a:p>
            <a:pPr algn="l">
              <a:spcBef>
                <a:spcPts val="0"/>
              </a:spcBef>
              <a:spcAft>
                <a:spcPts val="150"/>
              </a:spcAft>
            </a:pPr>
            <a:r>
              <a:rPr sz="940" b="1" i="0">
                <a:solidFill>
                  <a:srgbClr val="1B335E"/>
                </a:solidFill>
                <a:latin typeface="Calibri"/>
              </a:rPr>
              <a:t>Cross-organisation</a:t>
            </a:r>
          </a:p>
          <a:p>
            <a:pPr algn="l">
              <a:spcBef>
                <a:spcPts val="0"/>
              </a:spcBef>
              <a:spcAft>
                <a:spcPts val="0"/>
              </a:spcAft>
            </a:pPr>
            <a:r>
              <a:rPr sz="760" b="0" i="0">
                <a:solidFill>
                  <a:srgbClr val="54627A"/>
                </a:solidFill>
                <a:latin typeface="Calibri"/>
              </a:rPr>
              <a:t>one validator per participating body</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a:solidFill>
            <a:srgbClr val="0E1F42"/>
          </a:solidFill>
          <a:ln w="19050">
            <a:solidFill>
              <a:srgbClr val="F2790D"/>
            </a:solidFill>
          </a:ln>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FFFFFF"/>
                </a:solidFill>
                <a:latin typeface="Calibri"/>
              </a:rPr>
              <a:t>NOX</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Hexagon 17409"/>
          <p:cNvSpPr/>
          <p:nvPr/>
        </p:nvSpPr>
        <p:spPr>
          <a:xfrm rot="5400000">
            <a:off x="3657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1</a:t>
            </a:r>
          </a:p>
        </p:txBody>
      </p:sp>
      <p:sp>
        <p:nvSpPr>
          <p:cNvPr id="17411" name="TextBox 17410"/>
          <p:cNvSpPr txBox="1"/>
          <p:nvPr/>
        </p:nvSpPr>
        <p:spPr>
          <a:xfrm>
            <a:off x="749808" y="1143000"/>
            <a:ext cx="5321808"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Potential impact on the target audience</a:t>
            </a:r>
          </a:p>
        </p:txBody>
      </p:sp>
      <p:sp>
        <p:nvSpPr>
          <p:cNvPr id="17412" name="Rounded Rectangle 17411"/>
          <p:cNvSpPr/>
          <p:nvPr/>
        </p:nvSpPr>
        <p:spPr>
          <a:xfrm>
            <a:off x="365760" y="1572768"/>
            <a:ext cx="5705856" cy="1700784"/>
          </a:xfrm>
          <a:prstGeom prst="roundRect">
            <a:avLst>
              <a:gd name="adj" fmla="val 6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530352" y="1682496"/>
            <a:ext cx="5376672" cy="1554480"/>
          </a:xfrm>
          <a:prstGeom prst="rect">
            <a:avLst/>
          </a:prstGeom>
          <a:noFill/>
        </p:spPr>
        <p:txBody>
          <a:bodyPr wrap="square" anchor="t" lIns="0" rIns="0" tIns="0" bIns="0">
            <a:spAutoFit/>
          </a:bodyPr>
          <a:lstStyle/>
          <a:p>
            <a:pPr algn="l">
              <a:spcBef>
                <a:spcPts val="0"/>
              </a:spcBef>
              <a:spcAft>
                <a:spcPts val="800"/>
              </a:spcAft>
            </a:pPr>
            <a:r>
              <a:rPr sz="940" b="1">
                <a:solidFill>
                  <a:srgbClr val="1B335E"/>
                </a:solidFill>
                <a:latin typeface="Calibri"/>
              </a:rPr>
              <a:t>Service headquarters. </a:t>
            </a:r>
            <a:r>
              <a:rPr sz="940" b="0">
                <a:solidFill>
                  <a:srgbClr val="54627A"/>
                </a:solidFill>
                <a:latin typeface="Calibri"/>
              </a:rPr>
              <a:t>Operational orders and classified assessments become individually accountable, not collectively deniable.</a:t>
            </a:r>
          </a:p>
          <a:p>
            <a:pPr algn="l">
              <a:spcBef>
                <a:spcPts val="0"/>
              </a:spcBef>
              <a:spcAft>
                <a:spcPts val="800"/>
              </a:spcAft>
            </a:pPr>
            <a:r>
              <a:rPr sz="940" b="1">
                <a:solidFill>
                  <a:srgbClr val="1B335E"/>
                </a:solidFill>
                <a:latin typeface="Calibri"/>
              </a:rPr>
              <a:t>Defence procurement. </a:t>
            </a:r>
            <a:r>
              <a:rPr sz="940" b="0">
                <a:solidFill>
                  <a:srgbClr val="54627A"/>
                </a:solidFill>
                <a:latin typeface="Calibri"/>
              </a:rPr>
              <a:t>Tender documents and technical specifications reach vendors traceably; a pre-bid leak has an owner.</a:t>
            </a:r>
          </a:p>
          <a:p>
            <a:pPr algn="l">
              <a:spcBef>
                <a:spcPts val="0"/>
              </a:spcBef>
              <a:spcAft>
                <a:spcPts val="800"/>
              </a:spcAft>
            </a:pPr>
            <a:r>
              <a:rPr sz="940" b="1">
                <a:solidFill>
                  <a:srgbClr val="1B335E"/>
                </a:solidFill>
                <a:latin typeface="Calibri"/>
              </a:rPr>
              <a:t>DRDO and defence PSUs. </a:t>
            </a:r>
            <a:r>
              <a:rPr sz="940" b="0">
                <a:solidFill>
                  <a:srgbClr val="54627A"/>
                </a:solidFill>
                <a:latin typeface="Calibri"/>
              </a:rPr>
              <a:t>Design data shared with partners and contractors carries a non-repudiable receipt per recipient.</a:t>
            </a:r>
          </a:p>
          <a:p>
            <a:pPr algn="l">
              <a:spcBef>
                <a:spcPts val="0"/>
              </a:spcBef>
              <a:spcAft>
                <a:spcPts val="800"/>
              </a:spcAft>
            </a:pPr>
            <a:r>
              <a:rPr sz="940" b="1">
                <a:solidFill>
                  <a:srgbClr val="1B335E"/>
                </a:solidFill>
                <a:latin typeface="Calibri"/>
              </a:rPr>
              <a:t>Inter-agency sharing. </a:t>
            </a:r>
            <a:r>
              <a:rPr sz="940" b="0">
                <a:solidFill>
                  <a:srgbClr val="54627A"/>
                </a:solidFill>
                <a:latin typeface="Calibri"/>
              </a:rPr>
              <a:t>Intelligence keeps its provenance without a central authority anyone has to trust.</a:t>
            </a:r>
          </a:p>
        </p:txBody>
      </p:sp>
      <p:sp>
        <p:nvSpPr>
          <p:cNvPr id="17414" name="Hexagon 17413"/>
          <p:cNvSpPr/>
          <p:nvPr/>
        </p:nvSpPr>
        <p:spPr>
          <a:xfrm rot="5400000">
            <a:off x="6336792"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2</a:t>
            </a:r>
          </a:p>
        </p:txBody>
      </p:sp>
      <p:sp>
        <p:nvSpPr>
          <p:cNvPr id="17415" name="TextBox 17414"/>
          <p:cNvSpPr txBox="1"/>
          <p:nvPr/>
        </p:nvSpPr>
        <p:spPr>
          <a:xfrm>
            <a:off x="6720840" y="1143000"/>
            <a:ext cx="5321808"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Benefits of the solution (social, economic, environmental)</a:t>
            </a:r>
          </a:p>
        </p:txBody>
      </p:sp>
      <p:sp>
        <p:nvSpPr>
          <p:cNvPr id="17416" name="Rounded Rectangle 17415"/>
          <p:cNvSpPr/>
          <p:nvPr/>
        </p:nvSpPr>
        <p:spPr>
          <a:xfrm>
            <a:off x="6336792" y="1572768"/>
            <a:ext cx="5705856" cy="1700784"/>
          </a:xfrm>
          <a:prstGeom prst="roundRect">
            <a:avLst>
              <a:gd name="adj" fmla="val 6000"/>
            </a:avLst>
          </a:prstGeom>
          <a:solidFill>
            <a:srgbClr val="E7F6EE"/>
          </a:solidFill>
          <a:ln w="15875">
            <a:solidFill>
              <a:srgbClr val="94CE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6501384" y="1682496"/>
            <a:ext cx="5376672" cy="1554480"/>
          </a:xfrm>
          <a:prstGeom prst="rect">
            <a:avLst/>
          </a:prstGeom>
          <a:noFill/>
        </p:spPr>
        <p:txBody>
          <a:bodyPr wrap="square" anchor="t" lIns="0" rIns="0" tIns="0" bIns="0">
            <a:spAutoFit/>
          </a:bodyPr>
          <a:lstStyle/>
          <a:p>
            <a:pPr algn="l">
              <a:spcBef>
                <a:spcPts val="0"/>
              </a:spcBef>
              <a:spcAft>
                <a:spcPts val="450"/>
              </a:spcAft>
            </a:pPr>
            <a:r>
              <a:rPr sz="900" b="1">
                <a:solidFill>
                  <a:srgbClr val="158A5A"/>
                </a:solidFill>
                <a:latin typeface="Calibri"/>
              </a:rPr>
              <a:t>Deterrence is the real product. </a:t>
            </a:r>
            <a:r>
              <a:rPr sz="900" b="0">
                <a:solidFill>
                  <a:srgbClr val="54627A"/>
                </a:solidFill>
                <a:latin typeface="Calibri"/>
              </a:rPr>
              <a:t>When every holder knows their copy is individually accountable, most leaks never happen.</a:t>
            </a:r>
          </a:p>
          <a:p>
            <a:pPr algn="l">
              <a:spcBef>
                <a:spcPts val="0"/>
              </a:spcBef>
              <a:spcAft>
                <a:spcPts val="450"/>
              </a:spcAft>
            </a:pPr>
            <a:r>
              <a:rPr sz="900" b="1">
                <a:solidFill>
                  <a:srgbClr val="158A5A"/>
                </a:solidFill>
                <a:latin typeface="Calibri"/>
              </a:rPr>
              <a:t>Protects the accused too. </a:t>
            </a:r>
            <a:r>
              <a:rPr sz="900" b="0">
                <a:solidFill>
                  <a:srgbClr val="54627A"/>
                </a:solidFill>
                <a:latin typeface="Calibri"/>
              </a:rPr>
              <a:t>A stated error probability and a refusal to guess are what stop an innocent officer being named.</a:t>
            </a:r>
          </a:p>
          <a:p>
            <a:pPr algn="l">
              <a:spcBef>
                <a:spcPts val="0"/>
              </a:spcBef>
              <a:spcAft>
                <a:spcPts val="450"/>
              </a:spcAft>
            </a:pPr>
            <a:r>
              <a:rPr sz="900" b="1">
                <a:solidFill>
                  <a:srgbClr val="158A5A"/>
                </a:solidFill>
                <a:latin typeface="Calibri"/>
              </a:rPr>
              <a:t>Zero licensing cost. </a:t>
            </a:r>
            <a:r>
              <a:rPr sz="900" b="0">
                <a:solidFill>
                  <a:srgbClr val="54627A"/>
                </a:solidFill>
                <a:latin typeface="Calibri"/>
              </a:rPr>
              <a:t>Open-source and free-tier; per-department rollout cost is effectively nil.</a:t>
            </a:r>
          </a:p>
          <a:p>
            <a:pPr algn="l">
              <a:spcBef>
                <a:spcPts val="0"/>
              </a:spcBef>
              <a:spcAft>
                <a:spcPts val="450"/>
              </a:spcAft>
            </a:pPr>
            <a:r>
              <a:rPr sz="900" b="1">
                <a:solidFill>
                  <a:srgbClr val="158A5A"/>
                </a:solidFill>
                <a:latin typeface="Calibri"/>
              </a:rPr>
              <a:t>Quantum-durable. </a:t>
            </a:r>
            <a:r>
              <a:rPr sz="900" b="0">
                <a:solidFill>
                  <a:srgbClr val="54627A"/>
                </a:solidFill>
                <a:latin typeface="Calibri"/>
              </a:rPr>
              <a:t>A defence assessment stays sensitive for decades; FIPS 203/204 resist harvest-now-decrypt-later.</a:t>
            </a:r>
          </a:p>
          <a:p>
            <a:pPr algn="l">
              <a:spcBef>
                <a:spcPts val="0"/>
              </a:spcBef>
              <a:spcAft>
                <a:spcPts val="450"/>
              </a:spcAft>
            </a:pPr>
            <a:r>
              <a:rPr sz="900" b="1">
                <a:solidFill>
                  <a:srgbClr val="158A5A"/>
                </a:solidFill>
                <a:latin typeface="Calibri"/>
              </a:rPr>
              <a:t>Scales unchanged. </a:t>
            </a:r>
            <a:r>
              <a:rPr sz="900" b="0">
                <a:solidFill>
                  <a:srgbClr val="54627A"/>
                </a:solidFill>
                <a:latin typeface="Calibri"/>
              </a:rPr>
              <a:t>Any organisation distributing to a named list — only the list changes.</a:t>
            </a:r>
          </a:p>
        </p:txBody>
      </p:sp>
      <p:sp>
        <p:nvSpPr>
          <p:cNvPr id="17418" name="Hexagon 17417"/>
          <p:cNvSpPr/>
          <p:nvPr/>
        </p:nvSpPr>
        <p:spPr>
          <a:xfrm rot="5400000">
            <a:off x="365760" y="3410712"/>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3</a:t>
            </a:r>
          </a:p>
        </p:txBody>
      </p:sp>
      <p:sp>
        <p:nvSpPr>
          <p:cNvPr id="17419" name="TextBox 17418"/>
          <p:cNvSpPr txBox="1"/>
          <p:nvPr/>
        </p:nvSpPr>
        <p:spPr>
          <a:xfrm>
            <a:off x="749808" y="3392424"/>
            <a:ext cx="110733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What changes</a:t>
            </a:r>
          </a:p>
        </p:txBody>
      </p:sp>
      <p:sp>
        <p:nvSpPr>
          <p:cNvPr id="17420" name="Rounded Rectangle 17419"/>
          <p:cNvSpPr/>
          <p:nvPr/>
        </p:nvSpPr>
        <p:spPr>
          <a:xfrm>
            <a:off x="365760" y="3785615"/>
            <a:ext cx="5705856" cy="768096"/>
          </a:xfrm>
          <a:prstGeom prst="roundRect">
            <a:avLst>
              <a:gd name="adj" fmla="val 6000"/>
            </a:avLst>
          </a:prstGeom>
          <a:solidFill>
            <a:srgbClr val="FDEEEE"/>
          </a:solidFill>
          <a:ln w="15875">
            <a:solidFill>
              <a:srgbClr val="E3A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548640" y="3904487"/>
            <a:ext cx="5340096" cy="749808"/>
          </a:xfrm>
          <a:prstGeom prst="rect">
            <a:avLst/>
          </a:prstGeom>
          <a:noFill/>
        </p:spPr>
        <p:txBody>
          <a:bodyPr wrap="square" anchor="t" lIns="0" rIns="0" tIns="0" bIns="0">
            <a:spAutoFit/>
          </a:bodyPr>
          <a:lstStyle/>
          <a:p>
            <a:pPr algn="l">
              <a:spcBef>
                <a:spcPts val="0"/>
              </a:spcBef>
              <a:spcAft>
                <a:spcPts val="300"/>
              </a:spcAft>
            </a:pPr>
            <a:r>
              <a:rPr sz="819" b="1" i="0" spc="140">
                <a:solidFill>
                  <a:srgbClr val="B3222C"/>
                </a:solidFill>
                <a:latin typeface="Calibri"/>
              </a:rPr>
              <a:t>TODAY</a:t>
            </a:r>
            <a:r>
              <a:rPr sz="860" b="0" i="0">
                <a:solidFill>
                  <a:srgbClr val="54627A"/>
                </a:solidFill>
                <a:latin typeface="Calibri"/>
              </a:rPr>
              <a:t>▪  Every cleared recipient is an equally plausible suspect.</a:t>
            </a:r>
          </a:p>
          <a:p>
            <a:pPr algn="l">
              <a:spcBef>
                <a:spcPts val="0"/>
              </a:spcBef>
              <a:spcAft>
                <a:spcPts val="300"/>
              </a:spcAft>
            </a:pPr>
            <a:r>
              <a:rPr sz="860" b="0" i="0">
                <a:solidFill>
                  <a:srgbClr val="54627A"/>
                </a:solidFill>
                <a:latin typeface="Calibri"/>
              </a:rPr>
              <a:t>▪  Access logs can be edited by the administrator who holds them.</a:t>
            </a:r>
          </a:p>
          <a:p>
            <a:pPr algn="l">
              <a:spcBef>
                <a:spcPts val="0"/>
              </a:spcBef>
              <a:spcAft>
                <a:spcPts val="300"/>
              </a:spcAft>
            </a:pPr>
            <a:r>
              <a:rPr sz="860" b="0" i="0">
                <a:solidFill>
                  <a:srgbClr val="54627A"/>
                </a:solidFill>
                <a:latin typeface="Calibri"/>
              </a:rPr>
              <a:t>▪  One identical watermark for all recipients attributes nothing.</a:t>
            </a:r>
          </a:p>
        </p:txBody>
      </p:sp>
      <p:sp>
        <p:nvSpPr>
          <p:cNvPr id="17422" name="Rounded Rectangle 17421"/>
          <p:cNvSpPr/>
          <p:nvPr/>
        </p:nvSpPr>
        <p:spPr>
          <a:xfrm>
            <a:off x="6336792" y="3785615"/>
            <a:ext cx="5705856" cy="768096"/>
          </a:xfrm>
          <a:prstGeom prst="roundRect">
            <a:avLst>
              <a:gd name="adj" fmla="val 6000"/>
            </a:avLst>
          </a:prstGeom>
          <a:solidFill>
            <a:srgbClr val="0E1F42"/>
          </a:solidFill>
          <a:ln w="19050">
            <a:solidFill>
              <a:srgbClr val="22B1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6519672" y="3904487"/>
            <a:ext cx="5340096" cy="749808"/>
          </a:xfrm>
          <a:prstGeom prst="rect">
            <a:avLst/>
          </a:prstGeom>
          <a:noFill/>
        </p:spPr>
        <p:txBody>
          <a:bodyPr wrap="square" anchor="t" lIns="0" rIns="0" tIns="0" bIns="0">
            <a:spAutoFit/>
          </a:bodyPr>
          <a:lstStyle/>
          <a:p>
            <a:pPr algn="l">
              <a:spcBef>
                <a:spcPts val="0"/>
              </a:spcBef>
              <a:spcAft>
                <a:spcPts val="300"/>
              </a:spcAft>
            </a:pPr>
            <a:r>
              <a:rPr sz="819" b="1" i="0" spc="140">
                <a:solidFill>
                  <a:srgbClr val="22B173"/>
                </a:solidFill>
                <a:latin typeface="Calibri"/>
              </a:rPr>
              <a:t>WITH PQFW</a:t>
            </a:r>
            <a:r>
              <a:rPr sz="860" b="0" i="0">
                <a:solidFill>
                  <a:srgbClr val="A9BEDF"/>
                </a:solidFill>
                <a:latin typeface="Calibri"/>
              </a:rPr>
              <a:t>▪  A leaked copy names one recipient and one decryption session.</a:t>
            </a:r>
          </a:p>
          <a:p>
            <a:pPr algn="l">
              <a:spcBef>
                <a:spcPts val="0"/>
              </a:spcBef>
              <a:spcAft>
                <a:spcPts val="300"/>
              </a:spcAft>
            </a:pPr>
            <a:r>
              <a:rPr sz="860" b="0" i="0">
                <a:solidFill>
                  <a:srgbClr val="A9BEDF"/>
                </a:solidFill>
                <a:latin typeface="Calibri"/>
              </a:rPr>
              <a:t>▪  Records replicated 3 ways; one compromised admin is out-voted.</a:t>
            </a:r>
          </a:p>
          <a:p>
            <a:pPr algn="l">
              <a:spcBef>
                <a:spcPts val="0"/>
              </a:spcBef>
              <a:spcAft>
                <a:spcPts val="300"/>
              </a:spcAft>
            </a:pPr>
            <a:r>
              <a:rPr sz="860" b="0" i="0">
                <a:solidFill>
                  <a:srgbClr val="A9BEDF"/>
                </a:solidFill>
                <a:latin typeface="Calibri"/>
              </a:rPr>
              <a:t>▪  Every copy distinct, and the accusation carries a provable bound.</a:t>
            </a:r>
          </a:p>
        </p:txBody>
      </p:sp>
      <p:sp>
        <p:nvSpPr>
          <p:cNvPr id="17424" name="Hexagon 17423"/>
          <p:cNvSpPr/>
          <p:nvPr/>
        </p:nvSpPr>
        <p:spPr>
          <a:xfrm rot="5400000">
            <a:off x="365760" y="472744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4</a:t>
            </a:r>
          </a:p>
        </p:txBody>
      </p:sp>
      <p:sp>
        <p:nvSpPr>
          <p:cNvPr id="17425" name="TextBox 17424"/>
          <p:cNvSpPr txBox="1"/>
          <p:nvPr/>
        </p:nvSpPr>
        <p:spPr>
          <a:xfrm>
            <a:off x="749808" y="4709159"/>
            <a:ext cx="110733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Cost of running it</a:t>
            </a:r>
          </a:p>
          <a:p>
            <a:pPr algn="l">
              <a:spcBef>
                <a:spcPts val="0"/>
              </a:spcBef>
              <a:spcAft>
                <a:spcPts val="0"/>
              </a:spcAft>
            </a:pPr>
            <a:r>
              <a:rPr sz="819" b="0" i="1">
                <a:solidFill>
                  <a:srgbClr val="7C8AA3"/>
                </a:solidFill>
                <a:latin typeface="Calibri"/>
              </a:rPr>
              <a:t>measured on the running prototype, not projected</a:t>
            </a:r>
          </a:p>
        </p:txBody>
      </p:sp>
      <p:sp>
        <p:nvSpPr>
          <p:cNvPr id="17426" name="Rounded Rectangle 17425"/>
          <p:cNvSpPr/>
          <p:nvPr/>
        </p:nvSpPr>
        <p:spPr>
          <a:xfrm>
            <a:off x="365760" y="5157216"/>
            <a:ext cx="11457432" cy="1024128"/>
          </a:xfrm>
          <a:prstGeom prst="roundRect">
            <a:avLst>
              <a:gd name="adj" fmla="val 3500"/>
            </a:avLst>
          </a:prstGeom>
          <a:solidFill>
            <a:srgbClr val="0E1F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548640" y="5413248"/>
            <a:ext cx="2218334" cy="713232"/>
          </a:xfrm>
          <a:prstGeom prst="rect">
            <a:avLst/>
          </a:prstGeom>
          <a:noFill/>
        </p:spPr>
        <p:txBody>
          <a:bodyPr wrap="square" anchor="t" lIns="0" rIns="0" tIns="0" bIns="0">
            <a:spAutoFit/>
          </a:bodyPr>
          <a:lstStyle/>
          <a:p>
            <a:pPr algn="ctr">
              <a:spcBef>
                <a:spcPts val="0"/>
              </a:spcBef>
              <a:spcAft>
                <a:spcPts val="100"/>
              </a:spcAft>
            </a:pPr>
            <a:r>
              <a:rPr sz="1900" b="1" i="0">
                <a:solidFill>
                  <a:srgbClr val="FFFFFF"/>
                </a:solidFill>
                <a:latin typeface="Calibri"/>
              </a:rPr>
              <a:t>116 KB</a:t>
            </a:r>
          </a:p>
          <a:p>
            <a:pPr algn="ctr">
              <a:spcBef>
                <a:spcPts val="0"/>
              </a:spcBef>
              <a:spcAft>
                <a:spcPts val="0"/>
              </a:spcAft>
            </a:pPr>
            <a:r>
              <a:rPr sz="710" b="0" i="0">
                <a:solidFill>
                  <a:srgbClr val="A9BEDF"/>
                </a:solidFill>
                <a:latin typeface="Calibri"/>
              </a:rPr>
              <a:t>shared ciphertext —
the same bytes for everyone</a:t>
            </a:r>
          </a:p>
        </p:txBody>
      </p:sp>
      <p:sp>
        <p:nvSpPr>
          <p:cNvPr id="17428" name="TextBox 17427"/>
          <p:cNvSpPr txBox="1"/>
          <p:nvPr/>
        </p:nvSpPr>
        <p:spPr>
          <a:xfrm>
            <a:off x="2766974" y="5413248"/>
            <a:ext cx="2218334" cy="713232"/>
          </a:xfrm>
          <a:prstGeom prst="rect">
            <a:avLst/>
          </a:prstGeom>
          <a:noFill/>
        </p:spPr>
        <p:txBody>
          <a:bodyPr wrap="square" anchor="t" lIns="0" rIns="0" tIns="0" bIns="0">
            <a:spAutoFit/>
          </a:bodyPr>
          <a:lstStyle/>
          <a:p>
            <a:pPr algn="ctr">
              <a:spcBef>
                <a:spcPts val="0"/>
              </a:spcBef>
              <a:spcAft>
                <a:spcPts val="100"/>
              </a:spcAft>
            </a:pPr>
            <a:r>
              <a:rPr sz="1900" b="1" i="0">
                <a:solidFill>
                  <a:srgbClr val="FFFFFF"/>
                </a:solidFill>
                <a:latin typeface="Calibri"/>
              </a:rPr>
              <a:t>34 KB</a:t>
            </a:r>
          </a:p>
          <a:p>
            <a:pPr algn="ctr">
              <a:spcBef>
                <a:spcPts val="0"/>
              </a:spcBef>
              <a:spcAft>
                <a:spcPts val="0"/>
              </a:spcAft>
            </a:pPr>
            <a:r>
              <a:rPr sz="710" b="0" i="0">
                <a:solidFill>
                  <a:srgbClr val="A9BEDF"/>
                </a:solidFill>
                <a:latin typeface="Calibri"/>
              </a:rPr>
              <a:t>per recipient, and
independent of N</a:t>
            </a:r>
          </a:p>
        </p:txBody>
      </p:sp>
      <p:sp>
        <p:nvSpPr>
          <p:cNvPr id="17429" name="TextBox 17428"/>
          <p:cNvSpPr txBox="1"/>
          <p:nvPr/>
        </p:nvSpPr>
        <p:spPr>
          <a:xfrm>
            <a:off x="4985308" y="5413248"/>
            <a:ext cx="2218334" cy="713232"/>
          </a:xfrm>
          <a:prstGeom prst="rect">
            <a:avLst/>
          </a:prstGeom>
          <a:noFill/>
        </p:spPr>
        <p:txBody>
          <a:bodyPr wrap="square" anchor="t" lIns="0" rIns="0" tIns="0" bIns="0">
            <a:spAutoFit/>
          </a:bodyPr>
          <a:lstStyle/>
          <a:p>
            <a:pPr algn="ctr">
              <a:spcBef>
                <a:spcPts val="0"/>
              </a:spcBef>
              <a:spcAft>
                <a:spcPts val="100"/>
              </a:spcAft>
            </a:pPr>
            <a:r>
              <a:rPr sz="1900" b="1" i="0">
                <a:solidFill>
                  <a:srgbClr val="22B173"/>
                </a:solidFill>
                <a:latin typeface="Calibri"/>
              </a:rPr>
              <a:t>0</a:t>
            </a:r>
          </a:p>
          <a:p>
            <a:pPr algn="ctr">
              <a:spcBef>
                <a:spcPts val="0"/>
              </a:spcBef>
              <a:spcAft>
                <a:spcPts val="0"/>
              </a:spcAft>
            </a:pPr>
            <a:r>
              <a:rPr sz="710" b="0" i="0">
                <a:solidFill>
                  <a:srgbClr val="A9BEDF"/>
                </a:solidFill>
                <a:latin typeface="Calibri"/>
              </a:rPr>
              <a:t>GPUs, HSMs and
cloud services required</a:t>
            </a:r>
          </a:p>
        </p:txBody>
      </p:sp>
      <p:sp>
        <p:nvSpPr>
          <p:cNvPr id="17430" name="TextBox 17429"/>
          <p:cNvSpPr txBox="1"/>
          <p:nvPr/>
        </p:nvSpPr>
        <p:spPr>
          <a:xfrm>
            <a:off x="7203643" y="5413248"/>
            <a:ext cx="2218334" cy="713232"/>
          </a:xfrm>
          <a:prstGeom prst="rect">
            <a:avLst/>
          </a:prstGeom>
          <a:noFill/>
        </p:spPr>
        <p:txBody>
          <a:bodyPr wrap="square" anchor="t" lIns="0" rIns="0" tIns="0" bIns="0">
            <a:spAutoFit/>
          </a:bodyPr>
          <a:lstStyle/>
          <a:p>
            <a:pPr algn="ctr">
              <a:spcBef>
                <a:spcPts val="0"/>
              </a:spcBef>
              <a:spcAft>
                <a:spcPts val="100"/>
              </a:spcAft>
            </a:pPr>
            <a:r>
              <a:rPr sz="1900" b="1" i="0">
                <a:solidFill>
                  <a:srgbClr val="22B173"/>
                </a:solidFill>
                <a:latin typeface="Calibri"/>
              </a:rPr>
              <a:t>₹0</a:t>
            </a:r>
          </a:p>
          <a:p>
            <a:pPr algn="ctr">
              <a:spcBef>
                <a:spcPts val="0"/>
              </a:spcBef>
              <a:spcAft>
                <a:spcPts val="0"/>
              </a:spcAft>
            </a:pPr>
            <a:r>
              <a:rPr sz="710" b="0" i="0">
                <a:solidFill>
                  <a:srgbClr val="A9BEDF"/>
                </a:solidFill>
                <a:latin typeface="Calibri"/>
              </a:rPr>
              <a:t>licensing cost —
open-source throughout</a:t>
            </a:r>
          </a:p>
        </p:txBody>
      </p:sp>
      <p:sp>
        <p:nvSpPr>
          <p:cNvPr id="17431" name="TextBox 17430"/>
          <p:cNvSpPr txBox="1"/>
          <p:nvPr/>
        </p:nvSpPr>
        <p:spPr>
          <a:xfrm>
            <a:off x="9421977" y="5413248"/>
            <a:ext cx="2218334" cy="713232"/>
          </a:xfrm>
          <a:prstGeom prst="rect">
            <a:avLst/>
          </a:prstGeom>
          <a:noFill/>
        </p:spPr>
        <p:txBody>
          <a:bodyPr wrap="square" anchor="t" lIns="0" rIns="0" tIns="0" bIns="0">
            <a:spAutoFit/>
          </a:bodyPr>
          <a:lstStyle/>
          <a:p>
            <a:pPr algn="ctr">
              <a:spcBef>
                <a:spcPts val="0"/>
              </a:spcBef>
              <a:spcAft>
                <a:spcPts val="100"/>
              </a:spcAft>
            </a:pPr>
            <a:r>
              <a:rPr sz="1900" b="1" i="0">
                <a:solidFill>
                  <a:srgbClr val="F2790D"/>
                </a:solidFill>
                <a:latin typeface="Calibri"/>
              </a:rPr>
              <a:t>&lt; 1 s</a:t>
            </a:r>
          </a:p>
          <a:p>
            <a:pPr algn="ctr">
              <a:spcBef>
                <a:spcPts val="0"/>
              </a:spcBef>
              <a:spcAft>
                <a:spcPts val="0"/>
              </a:spcAft>
            </a:pPr>
            <a:r>
              <a:rPr sz="710" b="0" i="0">
                <a:solidFill>
                  <a:srgbClr val="A9BEDF"/>
                </a:solidFill>
                <a:latin typeface="Calibri"/>
              </a:rPr>
              <a:t>to trace a leak against
1,000 recipients</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a:solidFill>
            <a:srgbClr val="0E1F42"/>
          </a:solidFill>
          <a:ln w="19050">
            <a:solidFill>
              <a:srgbClr val="F2790D"/>
            </a:solidFill>
          </a:ln>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FFFFFF"/>
                </a:solidFill>
                <a:latin typeface="Calibri"/>
              </a:rPr>
              <a:t>NOX</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Hexagon 17409"/>
          <p:cNvSpPr/>
          <p:nvPr/>
        </p:nvSpPr>
        <p:spPr>
          <a:xfrm rot="5400000">
            <a:off x="3657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1</a:t>
            </a:r>
          </a:p>
        </p:txBody>
      </p:sp>
      <p:sp>
        <p:nvSpPr>
          <p:cNvPr id="17411" name="TextBox 17410"/>
          <p:cNvSpPr txBox="1"/>
          <p:nvPr/>
        </p:nvSpPr>
        <p:spPr>
          <a:xfrm>
            <a:off x="749808" y="1143000"/>
            <a:ext cx="33009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Standards and specifications</a:t>
            </a:r>
          </a:p>
        </p:txBody>
      </p:sp>
      <p:sp>
        <p:nvSpPr>
          <p:cNvPr id="17412" name="TextBox 17411"/>
          <p:cNvSpPr txBox="1"/>
          <p:nvPr/>
        </p:nvSpPr>
        <p:spPr>
          <a:xfrm>
            <a:off x="365760" y="1572768"/>
            <a:ext cx="3685032" cy="2377440"/>
          </a:xfrm>
          <a:prstGeom prst="rect">
            <a:avLst/>
          </a:prstGeom>
          <a:noFill/>
        </p:spPr>
        <p:txBody>
          <a:bodyPr wrap="square" anchor="t" lIns="0" rIns="0" tIns="0" bIns="0">
            <a:spAutoFit/>
          </a:bodyPr>
          <a:lstStyle/>
          <a:p>
            <a:pPr algn="l">
              <a:spcBef>
                <a:spcPts val="0"/>
              </a:spcBef>
              <a:spcAft>
                <a:spcPts val="1300"/>
              </a:spcAft>
            </a:pPr>
            <a:r>
              <a:rPr sz="919" b="1">
                <a:solidFill>
                  <a:srgbClr val="1B335E"/>
                </a:solidFill>
                <a:latin typeface="Calibri"/>
              </a:rPr>
              <a:t>FIPS 203 (2024)  </a:t>
            </a:r>
            <a:r>
              <a:rPr sz="919" b="0">
                <a:solidFill>
                  <a:srgbClr val="54627A"/>
                </a:solidFill>
                <a:latin typeface="Calibri"/>
              </a:rPr>
              <a:t>Module-Lattice-Based Key-Encapsulation Mechanism — ML-KEM. NIST.</a:t>
            </a:r>
          </a:p>
          <a:p>
            <a:pPr algn="l">
              <a:spcBef>
                <a:spcPts val="0"/>
              </a:spcBef>
              <a:spcAft>
                <a:spcPts val="1300"/>
              </a:spcAft>
            </a:pPr>
            <a:r>
              <a:rPr sz="919" b="1">
                <a:solidFill>
                  <a:srgbClr val="1B335E"/>
                </a:solidFill>
                <a:latin typeface="Calibri"/>
              </a:rPr>
              <a:t>FIPS 204 (2024)  </a:t>
            </a:r>
            <a:r>
              <a:rPr sz="919" b="0">
                <a:solidFill>
                  <a:srgbClr val="54627A"/>
                </a:solidFill>
                <a:latin typeface="Calibri"/>
              </a:rPr>
              <a:t>Module-Lattice-Based Digital Signature Standard — ML-DSA. NIST.</a:t>
            </a:r>
          </a:p>
          <a:p>
            <a:pPr algn="l">
              <a:spcBef>
                <a:spcPts val="0"/>
              </a:spcBef>
              <a:spcAft>
                <a:spcPts val="1300"/>
              </a:spcAft>
            </a:pPr>
            <a:r>
              <a:rPr sz="919" b="1">
                <a:solidFill>
                  <a:srgbClr val="1B335E"/>
                </a:solidFill>
                <a:latin typeface="Calibri"/>
              </a:rPr>
              <a:t>FIPS 202  </a:t>
            </a:r>
            <a:r>
              <a:rPr sz="919" b="0">
                <a:solidFill>
                  <a:srgbClr val="54627A"/>
                </a:solidFill>
                <a:latin typeface="Calibri"/>
              </a:rPr>
              <a:t>SHA-3 permutation-based hash and extendable-output functions.</a:t>
            </a:r>
          </a:p>
          <a:p>
            <a:pPr algn="l">
              <a:spcBef>
                <a:spcPts val="0"/>
              </a:spcBef>
              <a:spcAft>
                <a:spcPts val="1300"/>
              </a:spcAft>
            </a:pPr>
            <a:r>
              <a:rPr sz="919" b="1">
                <a:solidFill>
                  <a:srgbClr val="1B335E"/>
                </a:solidFill>
                <a:latin typeface="Calibri"/>
              </a:rPr>
              <a:t>NIST SP 800-38D  </a:t>
            </a:r>
            <a:r>
              <a:rPr sz="919" b="0">
                <a:solidFill>
                  <a:srgbClr val="54627A"/>
                </a:solidFill>
                <a:latin typeface="Calibri"/>
              </a:rPr>
              <a:t>Galois/Counter Mode for AES, used for every ciphertext here.</a:t>
            </a:r>
          </a:p>
        </p:txBody>
      </p:sp>
      <p:sp>
        <p:nvSpPr>
          <p:cNvPr id="17413" name="Hexagon 17412"/>
          <p:cNvSpPr/>
          <p:nvPr/>
        </p:nvSpPr>
        <p:spPr>
          <a:xfrm rot="5400000">
            <a:off x="42519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2</a:t>
            </a:r>
          </a:p>
        </p:txBody>
      </p:sp>
      <p:sp>
        <p:nvSpPr>
          <p:cNvPr id="17414" name="TextBox 17413"/>
          <p:cNvSpPr txBox="1"/>
          <p:nvPr/>
        </p:nvSpPr>
        <p:spPr>
          <a:xfrm>
            <a:off x="4636008" y="1143000"/>
            <a:ext cx="33009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Methods and literature</a:t>
            </a:r>
          </a:p>
        </p:txBody>
      </p:sp>
      <p:sp>
        <p:nvSpPr>
          <p:cNvPr id="17415" name="TextBox 17414"/>
          <p:cNvSpPr txBox="1"/>
          <p:nvPr/>
        </p:nvSpPr>
        <p:spPr>
          <a:xfrm>
            <a:off x="4251960" y="1572768"/>
            <a:ext cx="3685032" cy="2377440"/>
          </a:xfrm>
          <a:prstGeom prst="rect">
            <a:avLst/>
          </a:prstGeom>
          <a:noFill/>
        </p:spPr>
        <p:txBody>
          <a:bodyPr wrap="square" anchor="t" lIns="0" rIns="0" tIns="0" bIns="0">
            <a:spAutoFit/>
          </a:bodyPr>
          <a:lstStyle/>
          <a:p>
            <a:pPr algn="l">
              <a:spcBef>
                <a:spcPts val="0"/>
              </a:spcBef>
              <a:spcAft>
                <a:spcPts val="900"/>
              </a:spcAft>
            </a:pPr>
            <a:r>
              <a:rPr sz="919" b="1">
                <a:solidFill>
                  <a:srgbClr val="1B335E"/>
                </a:solidFill>
                <a:latin typeface="Calibri"/>
              </a:rPr>
              <a:t>Tardos (2003)  </a:t>
            </a:r>
            <a:r>
              <a:rPr sz="919" b="0">
                <a:solidFill>
                  <a:srgbClr val="54627A"/>
                </a:solidFill>
                <a:latin typeface="Calibri"/>
              </a:rPr>
              <a:t>Optimal probabilistic fingerprint codes. STOC.</a:t>
            </a:r>
          </a:p>
          <a:p>
            <a:pPr algn="l">
              <a:spcBef>
                <a:spcPts val="0"/>
              </a:spcBef>
              <a:spcAft>
                <a:spcPts val="900"/>
              </a:spcAft>
            </a:pPr>
            <a:r>
              <a:rPr sz="919" b="1">
                <a:solidFill>
                  <a:srgbClr val="1B335E"/>
                </a:solidFill>
                <a:latin typeface="Calibri"/>
              </a:rPr>
              <a:t>Škorić et al. (2008)  </a:t>
            </a:r>
            <a:r>
              <a:rPr sz="919" b="0">
                <a:solidFill>
                  <a:srgbClr val="54627A"/>
                </a:solidFill>
                <a:latin typeface="Calibri"/>
              </a:rPr>
              <a:t>Symmetric Tardos fingerprinting codes. Designs, Codes and Cryptography.</a:t>
            </a:r>
          </a:p>
          <a:p>
            <a:pPr algn="l">
              <a:spcBef>
                <a:spcPts val="0"/>
              </a:spcBef>
              <a:spcAft>
                <a:spcPts val="900"/>
              </a:spcAft>
            </a:pPr>
            <a:r>
              <a:rPr sz="919" b="1">
                <a:solidFill>
                  <a:srgbClr val="1B335E"/>
                </a:solidFill>
                <a:latin typeface="Calibri"/>
              </a:rPr>
              <a:t>Boneh &amp; Shaw (1998)  </a:t>
            </a:r>
            <a:r>
              <a:rPr sz="919" b="0">
                <a:solidFill>
                  <a:srgbClr val="54627A"/>
                </a:solidFill>
                <a:latin typeface="Calibri"/>
              </a:rPr>
              <a:t>Collusion-secure fingerprinting for digital data. IEEE Trans. Inf. Theory.</a:t>
            </a:r>
          </a:p>
          <a:p>
            <a:pPr algn="l">
              <a:spcBef>
                <a:spcPts val="0"/>
              </a:spcBef>
              <a:spcAft>
                <a:spcPts val="900"/>
              </a:spcAft>
            </a:pPr>
            <a:r>
              <a:rPr sz="919" b="1">
                <a:solidFill>
                  <a:srgbClr val="1B335E"/>
                </a:solidFill>
                <a:latin typeface="Calibri"/>
              </a:rPr>
              <a:t>Open Quantum Safe  </a:t>
            </a:r>
            <a:r>
              <a:rPr sz="919" b="0">
                <a:solidFill>
                  <a:srgbClr val="54627A"/>
                </a:solidFill>
                <a:latin typeface="Calibri"/>
              </a:rPr>
              <a:t>liboqs — the C library providing both mechanisms used here.</a:t>
            </a:r>
          </a:p>
          <a:p>
            <a:pPr algn="l">
              <a:spcBef>
                <a:spcPts val="0"/>
              </a:spcBef>
              <a:spcAft>
                <a:spcPts val="900"/>
              </a:spcAft>
            </a:pPr>
            <a:r>
              <a:rPr sz="919" b="1">
                <a:solidFill>
                  <a:srgbClr val="1B335E"/>
                </a:solidFill>
                <a:latin typeface="Calibri"/>
              </a:rPr>
              <a:t>Brakerski–Fan–Vercauteren  </a:t>
            </a:r>
            <a:r>
              <a:rPr sz="919" b="0">
                <a:solidFill>
                  <a:srgbClr val="54627A"/>
                </a:solidFill>
                <a:latin typeface="Calibri"/>
              </a:rPr>
              <a:t>Somewhat-homomorphic encryption; the route to post-quantum asymmetric fingerprinting. Future work.</a:t>
            </a:r>
          </a:p>
        </p:txBody>
      </p:sp>
      <p:sp>
        <p:nvSpPr>
          <p:cNvPr id="17416" name="Hexagon 17415"/>
          <p:cNvSpPr/>
          <p:nvPr/>
        </p:nvSpPr>
        <p:spPr>
          <a:xfrm rot="5400000">
            <a:off x="8138160" y="1161288"/>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3</a:t>
            </a:r>
          </a:p>
        </p:txBody>
      </p:sp>
      <p:sp>
        <p:nvSpPr>
          <p:cNvPr id="17417" name="TextBox 17416"/>
          <p:cNvSpPr txBox="1"/>
          <p:nvPr/>
        </p:nvSpPr>
        <p:spPr>
          <a:xfrm>
            <a:off x="8522208" y="1143000"/>
            <a:ext cx="33009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Our work — live and inspectable</a:t>
            </a:r>
          </a:p>
        </p:txBody>
      </p:sp>
      <p:sp>
        <p:nvSpPr>
          <p:cNvPr id="17418" name="Rounded Rectangle 17417"/>
          <p:cNvSpPr/>
          <p:nvPr/>
        </p:nvSpPr>
        <p:spPr>
          <a:xfrm>
            <a:off x="8138160" y="1572768"/>
            <a:ext cx="3685032" cy="1005840"/>
          </a:xfrm>
          <a:prstGeom prst="roundRect">
            <a:avLst>
              <a:gd name="adj" fmla="val 7000"/>
            </a:avLst>
          </a:prstGeom>
          <a:solidFill>
            <a:srgbClr val="0E1F42"/>
          </a:solidFill>
          <a:ln w="19050">
            <a:solidFill>
              <a:srgbClr val="F2790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19" name="Picture 17418" descr="qr_live.png"/>
          <p:cNvPicPr>
            <a:picLocks noChangeAspect="1"/>
          </p:cNvPicPr>
          <p:nvPr/>
        </p:nvPicPr>
        <p:blipFill>
          <a:blip r:embed="rId4"/>
          <a:stretch>
            <a:fillRect/>
          </a:stretch>
        </p:blipFill>
        <p:spPr>
          <a:xfrm>
            <a:off x="8266176" y="1700784"/>
            <a:ext cx="749808" cy="749808"/>
          </a:xfrm>
          <a:prstGeom prst="rect">
            <a:avLst/>
          </a:prstGeom>
        </p:spPr>
      </p:pic>
      <p:sp>
        <p:nvSpPr>
          <p:cNvPr id="17420" name="TextBox 17419"/>
          <p:cNvSpPr txBox="1"/>
          <p:nvPr/>
        </p:nvSpPr>
        <p:spPr>
          <a:xfrm>
            <a:off x="9125712" y="1719072"/>
            <a:ext cx="2551176" cy="786384"/>
          </a:xfrm>
          <a:prstGeom prst="rect">
            <a:avLst/>
          </a:prstGeom>
          <a:noFill/>
        </p:spPr>
        <p:txBody>
          <a:bodyPr wrap="square" anchor="t" lIns="0" rIns="0" tIns="0" bIns="0">
            <a:spAutoFit/>
          </a:bodyPr>
          <a:lstStyle/>
          <a:p>
            <a:pPr algn="l">
              <a:spcBef>
                <a:spcPts val="0"/>
              </a:spcBef>
              <a:spcAft>
                <a:spcPts val="300"/>
              </a:spcAft>
            </a:pPr>
            <a:r>
              <a:rPr sz="700" b="1" i="0" spc="120">
                <a:solidFill>
                  <a:srgbClr val="F2790D"/>
                </a:solidFill>
                <a:latin typeface="Calibri"/>
              </a:rPr>
              <a:t>WORKING PROTOTYPE</a:t>
            </a:r>
          </a:p>
          <a:p>
            <a:pPr algn="l">
              <a:spcBef>
                <a:spcPts val="0"/>
              </a:spcBef>
              <a:spcAft>
                <a:spcPts val="300"/>
              </a:spcAft>
            </a:pPr>
            <a:r>
              <a:rPr sz="1100" b="1" i="0">
                <a:solidFill>
                  <a:srgbClr val="FFFFFF"/>
                </a:solidFill>
                <a:latin typeface="Calibri"/>
              </a:rPr>
              <a:t>pqfw.onrender.com</a:t>
            </a:r>
          </a:p>
          <a:p>
            <a:pPr algn="l">
              <a:spcBef>
                <a:spcPts val="0"/>
              </a:spcBef>
              <a:spcAft>
                <a:spcPts val="0"/>
              </a:spcAft>
            </a:pPr>
            <a:r>
              <a:rPr sz="730" b="0" i="0">
                <a:solidFill>
                  <a:srgbClr val="A9BEDF"/>
                </a:solidFill>
                <a:latin typeface="Calibri"/>
              </a:rPr>
              <a:t>Five guided steps, real post-quantum cryptography server-side.</a:t>
            </a:r>
          </a:p>
        </p:txBody>
      </p:sp>
      <p:sp>
        <p:nvSpPr>
          <p:cNvPr id="17421" name="Rounded Rectangle 17420"/>
          <p:cNvSpPr/>
          <p:nvPr/>
        </p:nvSpPr>
        <p:spPr>
          <a:xfrm>
            <a:off x="8138160" y="2688336"/>
            <a:ext cx="3685032" cy="877824"/>
          </a:xfrm>
          <a:prstGeom prst="roundRect">
            <a:avLst>
              <a:gd name="adj" fmla="val 7000"/>
            </a:avLst>
          </a:prstGeom>
          <a:solidFill>
            <a:srgbClr val="F3F6FC"/>
          </a:solidFill>
          <a:ln w="15875">
            <a:solidFill>
              <a:srgbClr val="B6C8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8284464" y="2779776"/>
            <a:ext cx="3392424" cy="731520"/>
          </a:xfrm>
          <a:prstGeom prst="rect">
            <a:avLst/>
          </a:prstGeom>
          <a:noFill/>
        </p:spPr>
        <p:txBody>
          <a:bodyPr wrap="square" anchor="t" lIns="0" rIns="0" tIns="0" bIns="0">
            <a:spAutoFit/>
          </a:bodyPr>
          <a:lstStyle/>
          <a:p>
            <a:pPr algn="l">
              <a:spcBef>
                <a:spcPts val="0"/>
              </a:spcBef>
              <a:spcAft>
                <a:spcPts val="300"/>
              </a:spcAft>
            </a:pPr>
            <a:r>
              <a:rPr sz="700" b="1" i="0" spc="120">
                <a:solidFill>
                  <a:srgbClr val="1B335E"/>
                </a:solidFill>
                <a:latin typeface="Calibri"/>
              </a:rPr>
              <a:t>EVALUATION AND ATTACK RESULTS</a:t>
            </a:r>
          </a:p>
          <a:p>
            <a:pPr algn="l">
              <a:spcBef>
                <a:spcPts val="0"/>
              </a:spcBef>
              <a:spcAft>
                <a:spcPts val="300"/>
              </a:spcAft>
            </a:pPr>
            <a:r>
              <a:rPr sz="730" b="1" i="0">
                <a:solidFill>
                  <a:srgbClr val="1B335E"/>
                </a:solidFill>
                <a:latin typeface="Calibri"/>
              </a:rPr>
              <a:t>evildeity-pqfw-post-quantum-watermarking.static.hf.space</a:t>
            </a:r>
          </a:p>
          <a:p>
            <a:pPr algn="l">
              <a:spcBef>
                <a:spcPts val="0"/>
              </a:spcBef>
              <a:spcAft>
                <a:spcPts val="0"/>
              </a:spcAft>
            </a:pPr>
            <a:r>
              <a:rPr sz="730" b="0" i="0">
                <a:solidFill>
                  <a:srgbClr val="54627A"/>
                </a:solidFill>
                <a:latin typeface="Calibri"/>
              </a:rPr>
              <a:t>Every figure produced by executing the library, commit recorded.</a:t>
            </a:r>
          </a:p>
        </p:txBody>
      </p:sp>
      <p:sp>
        <p:nvSpPr>
          <p:cNvPr id="17423" name="Hexagon 17422"/>
          <p:cNvSpPr/>
          <p:nvPr/>
        </p:nvSpPr>
        <p:spPr>
          <a:xfrm rot="5400000">
            <a:off x="365760" y="3941064"/>
            <a:ext cx="274320" cy="241401"/>
          </a:xfrm>
          <a:prstGeom prst="hexagon">
            <a:avLst/>
          </a:prstGeom>
          <a:solidFill>
            <a:srgbClr val="F2790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rot="-5400000"/>
          <a:lstStyle/>
          <a:p>
            <a:pPr algn="ctr"/>
            <a:r>
              <a:rPr sz="1000" b="1">
                <a:solidFill>
                  <a:srgbClr val="FFFFFF"/>
                </a:solidFill>
                <a:latin typeface="Calibri"/>
              </a:rPr>
              <a:t>✓</a:t>
            </a:r>
          </a:p>
        </p:txBody>
      </p:sp>
      <p:sp>
        <p:nvSpPr>
          <p:cNvPr id="17424" name="TextBox 17423"/>
          <p:cNvSpPr txBox="1"/>
          <p:nvPr/>
        </p:nvSpPr>
        <p:spPr>
          <a:xfrm>
            <a:off x="749808" y="3922776"/>
            <a:ext cx="11073384" cy="310896"/>
          </a:xfrm>
          <a:prstGeom prst="rect">
            <a:avLst/>
          </a:prstGeom>
          <a:noFill/>
        </p:spPr>
        <p:txBody>
          <a:bodyPr wrap="square" anchor="t" lIns="0" rIns="0" tIns="0" bIns="0">
            <a:spAutoFit/>
          </a:bodyPr>
          <a:lstStyle/>
          <a:p>
            <a:pPr algn="l">
              <a:spcBef>
                <a:spcPts val="0"/>
              </a:spcBef>
              <a:spcAft>
                <a:spcPts val="0"/>
              </a:spcAft>
            </a:pPr>
            <a:r>
              <a:rPr sz="1150" b="1" i="0">
                <a:solidFill>
                  <a:srgbClr val="1B335E"/>
                </a:solidFill>
                <a:latin typeface="Calibri"/>
              </a:rPr>
              <a:t>Every requirement in SIH26237, and where it is met</a:t>
            </a:r>
          </a:p>
          <a:p>
            <a:pPr algn="l">
              <a:spcBef>
                <a:spcPts val="0"/>
              </a:spcBef>
              <a:spcAft>
                <a:spcPts val="0"/>
              </a:spcAft>
            </a:pPr>
            <a:r>
              <a:rPr sz="819" b="0" i="1">
                <a:solidFill>
                  <a:srgbClr val="7C8AA3"/>
                </a:solidFill>
                <a:latin typeface="Calibri"/>
              </a:rPr>
              <a:t>each one exercised by an automated test and by a step of the live demo</a:t>
            </a:r>
          </a:p>
        </p:txBody>
      </p:sp>
      <p:sp>
        <p:nvSpPr>
          <p:cNvPr id="17425" name="Rounded Rectangle 17424"/>
          <p:cNvSpPr/>
          <p:nvPr/>
        </p:nvSpPr>
        <p:spPr>
          <a:xfrm>
            <a:off x="365760" y="4370832"/>
            <a:ext cx="11457432" cy="1847088"/>
          </a:xfrm>
          <a:prstGeom prst="roundRect">
            <a:avLst>
              <a:gd name="adj" fmla="val 3500"/>
            </a:avLst>
          </a:prstGeom>
          <a:solidFill>
            <a:srgbClr val="0E1F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TextBox 17425"/>
          <p:cNvSpPr txBox="1"/>
          <p:nvPr/>
        </p:nvSpPr>
        <p:spPr>
          <a:xfrm>
            <a:off x="585216" y="453542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Unique invisible forensic watermark at the moment of decryption</a:t>
            </a:r>
          </a:p>
        </p:txBody>
      </p:sp>
      <p:sp>
        <p:nvSpPr>
          <p:cNvPr id="17427" name="TextBox 17426"/>
          <p:cNvSpPr txBox="1"/>
          <p:nvPr/>
        </p:nvSpPr>
        <p:spPr>
          <a:xfrm>
            <a:off x="585216" y="480974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Specific to each recipient and each decryption session</a:t>
            </a:r>
          </a:p>
        </p:txBody>
      </p:sp>
      <p:sp>
        <p:nvSpPr>
          <p:cNvPr id="17428" name="TextBox 17427"/>
          <p:cNvSpPr txBox="1"/>
          <p:nvPr/>
        </p:nvSpPr>
        <p:spPr>
          <a:xfrm>
            <a:off x="585216" y="508406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Every copy visually identical, forensically distinct</a:t>
            </a:r>
          </a:p>
        </p:txBody>
      </p:sp>
      <p:sp>
        <p:nvSpPr>
          <p:cNvPr id="17429" name="TextBox 17428"/>
          <p:cNvSpPr txBox="1"/>
          <p:nvPr/>
        </p:nvSpPr>
        <p:spPr>
          <a:xfrm>
            <a:off x="585216" y="5358383"/>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Each decryption cryptographically bound to the recipient's identity</a:t>
            </a:r>
          </a:p>
        </p:txBody>
      </p:sp>
      <p:sp>
        <p:nvSpPr>
          <p:cNvPr id="17430" name="TextBox 17429"/>
          <p:cNvSpPr txBox="1"/>
          <p:nvPr/>
        </p:nvSpPr>
        <p:spPr>
          <a:xfrm>
            <a:off x="585216" y="563270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Signature generated with the recipient's own private key</a:t>
            </a:r>
          </a:p>
        </p:txBody>
      </p:sp>
      <p:sp>
        <p:nvSpPr>
          <p:cNvPr id="17431" name="TextBox 17430"/>
          <p:cNvSpPr txBox="1"/>
          <p:nvPr/>
        </p:nvSpPr>
        <p:spPr>
          <a:xfrm>
            <a:off x="585216" y="590702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NIST-standardised PQC for key exchange and digital signatures</a:t>
            </a:r>
          </a:p>
        </p:txBody>
      </p:sp>
      <p:sp>
        <p:nvSpPr>
          <p:cNvPr id="17432" name="TextBox 17431"/>
          <p:cNvSpPr txBox="1"/>
          <p:nvPr/>
        </p:nvSpPr>
        <p:spPr>
          <a:xfrm>
            <a:off x="6112764" y="453542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Immutable audit layer implemented as a distributed ledger</a:t>
            </a:r>
          </a:p>
        </p:txBody>
      </p:sp>
      <p:sp>
        <p:nvSpPr>
          <p:cNvPr id="17433" name="TextBox 17432"/>
          <p:cNvSpPr txBox="1"/>
          <p:nvPr/>
        </p:nvSpPr>
        <p:spPr>
          <a:xfrm>
            <a:off x="6112764" y="480974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No single administrator or compromised account can alter records</a:t>
            </a:r>
          </a:p>
        </p:txBody>
      </p:sp>
      <p:sp>
        <p:nvSpPr>
          <p:cNvPr id="17434" name="TextBox 17433"/>
          <p:cNvSpPr txBox="1"/>
          <p:nvPr/>
        </p:nvSpPr>
        <p:spPr>
          <a:xfrm>
            <a:off x="6112764" y="508406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Extract the watermark, match it against the ledger, verify it</a:t>
            </a:r>
          </a:p>
        </p:txBody>
      </p:sp>
      <p:sp>
        <p:nvSpPr>
          <p:cNvPr id="17435" name="TextBox 17434"/>
          <p:cNvSpPr txBox="1"/>
          <p:nvPr/>
        </p:nvSpPr>
        <p:spPr>
          <a:xfrm>
            <a:off x="6112764" y="5358383"/>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Complete operation offline and air-gapped</a:t>
            </a:r>
          </a:p>
        </p:txBody>
      </p:sp>
      <p:sp>
        <p:nvSpPr>
          <p:cNvPr id="17436" name="TextBox 17435"/>
          <p:cNvSpPr txBox="1"/>
          <p:nvPr/>
        </p:nvSpPr>
        <p:spPr>
          <a:xfrm>
            <a:off x="6112764" y="563270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No dependency on external cloud KMS services</a:t>
            </a:r>
          </a:p>
        </p:txBody>
      </p:sp>
      <p:sp>
        <p:nvSpPr>
          <p:cNvPr id="17437" name="TextBox 17436"/>
          <p:cNvSpPr txBox="1"/>
          <p:nvPr/>
        </p:nvSpPr>
        <p:spPr>
          <a:xfrm>
            <a:off x="6112764" y="5907024"/>
            <a:ext cx="5436108" cy="256032"/>
          </a:xfrm>
          <a:prstGeom prst="rect">
            <a:avLst/>
          </a:prstGeom>
          <a:noFill/>
        </p:spPr>
        <p:txBody>
          <a:bodyPr wrap="square" anchor="t" lIns="0" rIns="0" tIns="0" bIns="0">
            <a:spAutoFit/>
          </a:bodyPr>
          <a:lstStyle/>
          <a:p>
            <a:pPr algn="l">
              <a:spcBef>
                <a:spcPts val="0"/>
              </a:spcBef>
              <a:spcAft>
                <a:spcPts val="0"/>
              </a:spcAft>
            </a:pPr>
            <a:r>
              <a:rPr sz="880" b="1">
                <a:solidFill>
                  <a:srgbClr val="22B173"/>
                </a:solidFill>
                <a:latin typeface="Calibri"/>
              </a:rPr>
              <a:t>✓  </a:t>
            </a:r>
            <a:r>
              <a:rPr sz="880" b="0">
                <a:solidFill>
                  <a:srgbClr val="A9BEDF"/>
                </a:solidFill>
                <a:latin typeface="Calibri"/>
              </a:rPr>
              <a:t>No dependency on public blockchain networks</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