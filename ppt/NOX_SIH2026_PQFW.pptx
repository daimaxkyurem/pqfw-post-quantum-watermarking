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384048" y="1060704"/>
            <a:ext cx="6126480" cy="932688"/>
          </a:xfrm>
        </p:spPr>
        <p:txBody>
          <a:bodyPr lIns="0" r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1F3864"/>
                </a:solidFill>
                <a:latin typeface="Calibri"/>
              </a:rPr>
              <a:t>PQFW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E06C18"/>
                </a:solidFill>
                <a:latin typeface="Calibri"/>
              </a:rPr>
              <a:t>Post-Quantum Forensic Watermarking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384048" y="2212848"/>
            <a:ext cx="60350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5A677D"/>
                </a:solidFill>
                <a:latin typeface="Calibri"/>
              </a:rPr>
              <a:t>Problem Statement ID  </a:t>
            </a:r>
            <a:r>
              <a:rPr sz="1050" b="1">
                <a:solidFill>
                  <a:srgbClr val="1F3864"/>
                </a:solidFill>
                <a:latin typeface="Calibri"/>
              </a:rPr>
              <a:t>SIH26XXX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5A677D"/>
                </a:solidFill>
                <a:latin typeface="Calibri"/>
              </a:rPr>
              <a:t>Problem Statement Title  </a:t>
            </a:r>
            <a:r>
              <a:rPr sz="1050" b="1">
                <a:solidFill>
                  <a:srgbClr val="1F3864"/>
                </a:solidFill>
                <a:latin typeface="Calibri"/>
              </a:rPr>
              <a:t>Forensic attribution of leaked documents in broadcast-encrypt, individually-decrypt distribution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5A677D"/>
                </a:solidFill>
                <a:latin typeface="Calibri"/>
              </a:rPr>
              <a:t>Theme  </a:t>
            </a:r>
            <a:r>
              <a:rPr sz="1050" b="1">
                <a:solidFill>
                  <a:srgbClr val="1F3864"/>
                </a:solidFill>
                <a:latin typeface="Calibri"/>
              </a:rPr>
              <a:t>Blockchain &amp; Cybersecurity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5A677D"/>
                </a:solidFill>
                <a:latin typeface="Calibri"/>
              </a:rPr>
              <a:t>PS Category  </a:t>
            </a:r>
            <a:r>
              <a:rPr sz="1050" b="1">
                <a:solidFill>
                  <a:srgbClr val="1F3864"/>
                </a:solidFill>
                <a:latin typeface="Calibri"/>
              </a:rPr>
              <a:t>Software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5A677D"/>
                </a:solidFill>
                <a:latin typeface="Calibri"/>
              </a:rPr>
              <a:t>Team ID  </a:t>
            </a:r>
            <a:r>
              <a:rPr sz="1050" b="1">
                <a:solidFill>
                  <a:srgbClr val="1F3864"/>
                </a:solidFill>
                <a:latin typeface="Calibri"/>
              </a:rPr>
              <a:t>TEAM-ID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5A677D"/>
                </a:solidFill>
                <a:latin typeface="Calibri"/>
              </a:rPr>
              <a:t>Team Name  </a:t>
            </a:r>
            <a:r>
              <a:rPr sz="1050" b="1">
                <a:solidFill>
                  <a:srgbClr val="1F3864"/>
                </a:solidFill>
                <a:latin typeface="Calibri"/>
              </a:rPr>
              <a:t>NOX  ·  International Institute of Information Technology, Bhubaneswar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84048" y="5230368"/>
            <a:ext cx="6035040" cy="932688"/>
          </a:xfrm>
          <a:prstGeom prst="roundRect">
            <a:avLst>
              <a:gd name="adj" fmla="val 9000"/>
            </a:avLst>
          </a:prstGeom>
          <a:solidFill>
            <a:srgbClr val="E8F4EE"/>
          </a:solidFill>
          <a:ln w="9525">
            <a:solidFill>
              <a:srgbClr val="A8D3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5349240"/>
            <a:ext cx="5760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B7F5E"/>
                </a:solidFill>
                <a:latin typeface="Calibri"/>
              </a:rPr>
              <a:t>LIVE WORKING PROTOTYPE   </a:t>
            </a:r>
            <a:r>
              <a:rPr sz="900" b="0">
                <a:solidFill>
                  <a:srgbClr val="5A677D"/>
                </a:solidFill>
                <a:latin typeface="Calibri"/>
              </a:rPr>
              <a:t>·  real ML-KEM-768 / ML-DSA-65, in the browser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F3864"/>
                </a:solidFill>
                <a:latin typeface="Calibri"/>
              </a:rPr>
              <a:t>pqfw.onrender.com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5A677D"/>
                </a:solidFill>
                <a:latin typeface="Calibri"/>
              </a:rPr>
              <a:t>Evaluation, figures and attack results:  evildeity-pqfw-post-quantum-watermarking.static.hf.space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4048" y="6291072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740" b="1" i="0">
                <a:solidFill>
                  <a:srgbClr val="5A677D"/>
                </a:solidFill>
                <a:latin typeface="Calibri"/>
              </a:rPr>
              <a:t>TEAM MEMBERS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202838"/>
                </a:solidFill>
                <a:latin typeface="Calibri"/>
              </a:rPr>
              <a:t>Alok Ranjan Tripathy  ·  Subhashree Dash  ·  Krishna Mohanty  ·  Tanisth Das  ·  Bineet Lenka  ·  Shreyas Changder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25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PQFW — A LEAK THAT NAMES ITSELF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3864"/>
                </a:solidFill>
                <a:latin typeface="Calibri"/>
              </a:rPr>
              <a:t>NOX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384048" y="1188720"/>
            <a:ext cx="722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Proposed Solution (Describe your Idea/Solution/Prototype)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384048" y="1499616"/>
            <a:ext cx="7223760" cy="1572768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 w="9525">
            <a:solidFill>
              <a:srgbClr val="C3D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4" name="TextBox 15363"/>
          <p:cNvSpPr txBox="1"/>
          <p:nvPr/>
        </p:nvSpPr>
        <p:spPr>
          <a:xfrm>
            <a:off x="512064" y="1572768"/>
            <a:ext cx="69677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F3864"/>
                </a:solidFill>
                <a:latin typeface="Calibri"/>
              </a:rPr>
              <a:t>Detailed explanation of the proposed solution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512064" y="1883664"/>
            <a:ext cx="1572768" cy="1042415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 w="9525">
            <a:solidFill>
              <a:srgbClr val="C3D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6" name="TextBox 15365"/>
          <p:cNvSpPr txBox="1"/>
          <p:nvPr/>
        </p:nvSpPr>
        <p:spPr>
          <a:xfrm>
            <a:off x="576072" y="1947672"/>
            <a:ext cx="1444752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60" b="1" i="0">
                <a:solidFill>
                  <a:srgbClr val="1F3864"/>
                </a:solidFill>
                <a:latin typeface="Calibri"/>
              </a:rPr>
              <a:t>Split the document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base body +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m invisible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mark slots</a:t>
            </a:r>
          </a:p>
        </p:txBody>
      </p:sp>
      <p:sp>
        <p:nvSpPr>
          <p:cNvPr id="15367" name="Right Arrow 15366"/>
          <p:cNvSpPr/>
          <p:nvPr/>
        </p:nvSpPr>
        <p:spPr>
          <a:xfrm>
            <a:off x="2139696" y="2354579"/>
            <a:ext cx="201168" cy="100584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8" name="Rounded Rectangle 15367"/>
          <p:cNvSpPr/>
          <p:nvPr/>
        </p:nvSpPr>
        <p:spPr>
          <a:xfrm>
            <a:off x="2395728" y="1883664"/>
            <a:ext cx="1810512" cy="1042415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 w="9525">
            <a:solidFill>
              <a:srgbClr val="E8C9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9" name="TextBox 15368"/>
          <p:cNvSpPr txBox="1"/>
          <p:nvPr/>
        </p:nvSpPr>
        <p:spPr>
          <a:xfrm>
            <a:off x="2459736" y="1947672"/>
            <a:ext cx="1682495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60" b="1" i="0">
                <a:solidFill>
                  <a:srgbClr val="E06C18"/>
                </a:solidFill>
                <a:latin typeface="Calibri"/>
              </a:rPr>
              <a:t>Two renderings, two keys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each slot written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2 ways that look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identical — encrypted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under different keys</a:t>
            </a:r>
          </a:p>
        </p:txBody>
      </p:sp>
      <p:sp>
        <p:nvSpPr>
          <p:cNvPr id="15370" name="Right Arrow 15369"/>
          <p:cNvSpPr/>
          <p:nvPr/>
        </p:nvSpPr>
        <p:spPr>
          <a:xfrm>
            <a:off x="4261104" y="2354579"/>
            <a:ext cx="201168" cy="100584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1" name="Rounded Rectangle 15370"/>
          <p:cNvSpPr/>
          <p:nvPr/>
        </p:nvSpPr>
        <p:spPr>
          <a:xfrm>
            <a:off x="4517136" y="1883664"/>
            <a:ext cx="1481328" cy="1042415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 w="9525">
            <a:solidFill>
              <a:srgbClr val="C3D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2" name="TextBox 15371"/>
          <p:cNvSpPr txBox="1"/>
          <p:nvPr/>
        </p:nvSpPr>
        <p:spPr>
          <a:xfrm>
            <a:off x="4581144" y="1947672"/>
            <a:ext cx="1353312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60" b="1" i="0">
                <a:solidFill>
                  <a:srgbClr val="1F3864"/>
                </a:solidFill>
                <a:latin typeface="Calibri"/>
              </a:rPr>
              <a:t>One ciphertext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broadcast to all N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— byte-identical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for everybody</a:t>
            </a:r>
          </a:p>
        </p:txBody>
      </p:sp>
      <p:sp>
        <p:nvSpPr>
          <p:cNvPr id="15373" name="Right Arrow 15372"/>
          <p:cNvSpPr/>
          <p:nvPr/>
        </p:nvSpPr>
        <p:spPr>
          <a:xfrm>
            <a:off x="6053328" y="2354579"/>
            <a:ext cx="201168" cy="100584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4" name="Rounded Rectangle 15373"/>
          <p:cNvSpPr/>
          <p:nvPr/>
        </p:nvSpPr>
        <p:spPr>
          <a:xfrm>
            <a:off x="6309360" y="1883664"/>
            <a:ext cx="1298448" cy="1042415"/>
          </a:xfrm>
          <a:prstGeom prst="roundRect">
            <a:avLst>
              <a:gd name="adj" fmla="val 8000"/>
            </a:avLst>
          </a:prstGeom>
          <a:solidFill>
            <a:srgbClr val="E8F4EE"/>
          </a:solidFill>
          <a:ln w="9525">
            <a:solidFill>
              <a:srgbClr val="A8D3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5" name="TextBox 15374"/>
          <p:cNvSpPr txBox="1"/>
          <p:nvPr/>
        </p:nvSpPr>
        <p:spPr>
          <a:xfrm>
            <a:off x="6373368" y="1947672"/>
            <a:ext cx="1170431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60" b="1" i="0">
                <a:solidFill>
                  <a:srgbClr val="1B7F5E"/>
                </a:solidFill>
                <a:latin typeface="Calibri"/>
              </a:rPr>
              <a:t>One key each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recipient holds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1 of the 2 keys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per slot</a:t>
            </a:r>
          </a:p>
        </p:txBody>
      </p:sp>
      <p:sp>
        <p:nvSpPr>
          <p:cNvPr id="15376" name="TextBox 15375"/>
          <p:cNvSpPr txBox="1"/>
          <p:nvPr/>
        </p:nvSpPr>
        <p:spPr>
          <a:xfrm>
            <a:off x="384048" y="3163824"/>
            <a:ext cx="72237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202838"/>
                </a:solidFill>
                <a:latin typeface="Calibri"/>
              </a:rPr>
              <a:t>So the fingerprint is not something their software chose to add — it is a consequence of </a:t>
            </a:r>
            <a:r>
              <a:rPr sz="960" b="1">
                <a:solidFill>
                  <a:srgbClr val="1F3864"/>
                </a:solidFill>
                <a:latin typeface="Calibri"/>
              </a:rPr>
              <a:t>which keys they hold</a:t>
            </a:r>
            <a:r>
              <a:rPr sz="960" b="0">
                <a:solidFill>
                  <a:srgbClr val="202838"/>
                </a:solidFill>
                <a:latin typeface="Calibri"/>
              </a:rPr>
              <a:t>. The other rendering is an AES-GCM tag failure for them, and </a:t>
            </a:r>
            <a:r>
              <a:rPr sz="960" b="1">
                <a:solidFill>
                  <a:srgbClr val="1F3864"/>
                </a:solidFill>
                <a:latin typeface="Calibri"/>
              </a:rPr>
              <a:t>no unmarked copy exists anywhere</a:t>
            </a:r>
            <a:r>
              <a:rPr sz="960" b="0">
                <a:solidFill>
                  <a:srgbClr val="202838"/>
                </a:solidFill>
                <a:latin typeface="Calibri"/>
              </a:rPr>
              <a:t> — not in the package, not in transit, not on the sender's disk.</a:t>
            </a:r>
          </a:p>
        </p:txBody>
      </p:sp>
      <p:sp>
        <p:nvSpPr>
          <p:cNvPr id="15377" name="TextBox 15376"/>
          <p:cNvSpPr txBox="1"/>
          <p:nvPr/>
        </p:nvSpPr>
        <p:spPr>
          <a:xfrm>
            <a:off x="384048" y="3675888"/>
            <a:ext cx="722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15378" name="TextBox 15377"/>
          <p:cNvSpPr txBox="1"/>
          <p:nvPr/>
        </p:nvSpPr>
        <p:spPr>
          <a:xfrm>
            <a:off x="384048" y="3986784"/>
            <a:ext cx="7223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60" b="0" i="0">
                <a:solidFill>
                  <a:srgbClr val="202838"/>
                </a:solidFill>
                <a:latin typeface="Calibri"/>
              </a:rPr>
              <a:t>▪  Today every recipient who could decrypt is an equally plausible suspect — the decrypted bytes are identical for all of them.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60" b="0" i="0">
                <a:solidFill>
                  <a:srgbClr val="202838"/>
                </a:solidFill>
                <a:latin typeface="Calibri"/>
              </a:rPr>
              <a:t>▪  PQFW makes each copy forensically distinct while visually identical, so a leaked file resolves to one recipient and one decryption session.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60" b="0" i="0">
                <a:solidFill>
                  <a:srgbClr val="202838"/>
                </a:solidFill>
                <a:latin typeface="Calibri"/>
              </a:rPr>
              <a:t>▪  Server-side access logs can be edited by an administrator; a static watermark is the same for everyone. Both are replaced, not patched.</a:t>
            </a:r>
          </a:p>
        </p:txBody>
      </p:sp>
      <p:sp>
        <p:nvSpPr>
          <p:cNvPr id="15379" name="TextBox 15378"/>
          <p:cNvSpPr txBox="1"/>
          <p:nvPr/>
        </p:nvSpPr>
        <p:spPr>
          <a:xfrm>
            <a:off x="7818120" y="1188720"/>
            <a:ext cx="3986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Innovation and uniqueness of the solution</a:t>
            </a:r>
          </a:p>
        </p:txBody>
      </p:sp>
      <p:sp>
        <p:nvSpPr>
          <p:cNvPr id="15380" name="Rounded Rectangle 15379"/>
          <p:cNvSpPr/>
          <p:nvPr/>
        </p:nvSpPr>
        <p:spPr>
          <a:xfrm>
            <a:off x="7818120" y="1499616"/>
            <a:ext cx="3986784" cy="786384"/>
          </a:xfrm>
          <a:prstGeom prst="roundRect">
            <a:avLst>
              <a:gd name="adj" fmla="val 7000"/>
            </a:avLst>
          </a:prstGeom>
          <a:solidFill>
            <a:srgbClr val="EEF3FA"/>
          </a:solidFill>
          <a:ln w="9525">
            <a:solidFill>
              <a:srgbClr val="C3D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1" name="TextBox 15380"/>
          <p:cNvSpPr txBox="1"/>
          <p:nvPr/>
        </p:nvSpPr>
        <p:spPr>
          <a:xfrm>
            <a:off x="7936992" y="1591056"/>
            <a:ext cx="374903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40" b="1" i="0">
                <a:solidFill>
                  <a:srgbClr val="1F3864"/>
                </a:solidFill>
                <a:latin typeface="Calibri"/>
              </a:rPr>
              <a:t>Enforced by keys, not software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5A677D"/>
                </a:solidFill>
                <a:latin typeface="Calibri"/>
              </a:rPr>
              <a:t>Patching the client does not help. There is no code path around a tag check.</a:t>
            </a:r>
          </a:p>
        </p:txBody>
      </p:sp>
      <p:sp>
        <p:nvSpPr>
          <p:cNvPr id="15382" name="Rounded Rectangle 15381"/>
          <p:cNvSpPr/>
          <p:nvPr/>
        </p:nvSpPr>
        <p:spPr>
          <a:xfrm>
            <a:off x="7818120" y="2377440"/>
            <a:ext cx="3986784" cy="786384"/>
          </a:xfrm>
          <a:prstGeom prst="roundRect">
            <a:avLst>
              <a:gd name="adj" fmla="val 7000"/>
            </a:avLst>
          </a:prstGeom>
          <a:solidFill>
            <a:srgbClr val="EEF3FA"/>
          </a:solidFill>
          <a:ln w="9525">
            <a:solidFill>
              <a:srgbClr val="C3D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3" name="TextBox 15382"/>
          <p:cNvSpPr txBox="1"/>
          <p:nvPr/>
        </p:nvSpPr>
        <p:spPr>
          <a:xfrm>
            <a:off x="7936992" y="2468880"/>
            <a:ext cx="374903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40" b="1" i="0">
                <a:solidFill>
                  <a:srgbClr val="1F3864"/>
                </a:solidFill>
                <a:latin typeface="Calibri"/>
              </a:rPr>
              <a:t>A provable error bound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5A677D"/>
                </a:solidFill>
                <a:latin typeface="Calibri"/>
              </a:rPr>
              <a:t>Chernoff bound from the code's own biases — not a Gaussian p-value, which we measured as anti-conservative.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7818120" y="3255264"/>
            <a:ext cx="3986784" cy="786384"/>
          </a:xfrm>
          <a:prstGeom prst="roundRect">
            <a:avLst>
              <a:gd name="adj" fmla="val 7000"/>
            </a:avLst>
          </a:prstGeom>
          <a:solidFill>
            <a:srgbClr val="EEF3FA"/>
          </a:solidFill>
          <a:ln w="9525">
            <a:solidFill>
              <a:srgbClr val="C3D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5" name="TextBox 15384"/>
          <p:cNvSpPr txBox="1"/>
          <p:nvPr/>
        </p:nvSpPr>
        <p:spPr>
          <a:xfrm>
            <a:off x="7936992" y="3346704"/>
            <a:ext cx="374903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40" b="1" i="0">
                <a:solidFill>
                  <a:srgbClr val="1F3864"/>
                </a:solidFill>
                <a:latin typeface="Calibri"/>
              </a:rPr>
              <a:t>It refuses to guess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5A677D"/>
                </a:solidFill>
                <a:latin typeface="Calibri"/>
              </a:rPr>
              <a:t>When evidence is thin the verdict is NO IDENTIFICATION — never the wrong person.</a:t>
            </a:r>
          </a:p>
        </p:txBody>
      </p:sp>
      <p:sp>
        <p:nvSpPr>
          <p:cNvPr id="15386" name="Rounded Rectangle 15385"/>
          <p:cNvSpPr/>
          <p:nvPr/>
        </p:nvSpPr>
        <p:spPr>
          <a:xfrm>
            <a:off x="7818120" y="4133087"/>
            <a:ext cx="3986784" cy="786384"/>
          </a:xfrm>
          <a:prstGeom prst="roundRect">
            <a:avLst>
              <a:gd name="adj" fmla="val 7000"/>
            </a:avLst>
          </a:prstGeom>
          <a:solidFill>
            <a:srgbClr val="EEF3FA"/>
          </a:solidFill>
          <a:ln w="9525">
            <a:solidFill>
              <a:srgbClr val="C3D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7" name="TextBox 15386"/>
          <p:cNvSpPr txBox="1"/>
          <p:nvPr/>
        </p:nvSpPr>
        <p:spPr>
          <a:xfrm>
            <a:off x="7936992" y="4224527"/>
            <a:ext cx="374903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40" b="1" i="0">
                <a:solidFill>
                  <a:srgbClr val="1F3864"/>
                </a:solidFill>
                <a:latin typeface="Calibri"/>
              </a:rPr>
              <a:t>Session-level attribution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5A677D"/>
                </a:solidFill>
                <a:latin typeface="Calibri"/>
              </a:rPr>
              <a:t>Two opens by one person give two different fingerprints and two ledger records.</a:t>
            </a:r>
          </a:p>
        </p:txBody>
      </p:sp>
      <p:sp>
        <p:nvSpPr>
          <p:cNvPr id="15388" name="Rounded Rectangle 15387"/>
          <p:cNvSpPr/>
          <p:nvPr/>
        </p:nvSpPr>
        <p:spPr>
          <a:xfrm>
            <a:off x="7818120" y="5065775"/>
            <a:ext cx="3986784" cy="676656"/>
          </a:xfrm>
          <a:prstGeom prst="roundRect">
            <a:avLst>
              <a:gd name="adj" fmla="val 7000"/>
            </a:avLst>
          </a:prstGeom>
          <a:solidFill>
            <a:srgbClr val="E8F4EE"/>
          </a:solidFill>
          <a:ln w="9525">
            <a:solidFill>
              <a:srgbClr val="A8D3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9" name="TextBox 15388"/>
          <p:cNvSpPr txBox="1"/>
          <p:nvPr/>
        </p:nvSpPr>
        <p:spPr>
          <a:xfrm>
            <a:off x="7936992" y="5166359"/>
            <a:ext cx="374903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760" b="1" i="0">
                <a:solidFill>
                  <a:srgbClr val="1B7F5E"/>
                </a:solidFill>
                <a:latin typeface="Calibri"/>
              </a:rPr>
              <a:t>NOT A CONCEPT — IT IS RUNNING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F3864"/>
                </a:solidFill>
                <a:latin typeface="Calibri"/>
              </a:rPr>
              <a:t>pqfw.onrender.com   ·   163 automated tests</a:t>
            </a:r>
          </a:p>
        </p:txBody>
      </p:sp>
      <p:sp>
        <p:nvSpPr>
          <p:cNvPr id="15390" name="TextBox 15389"/>
          <p:cNvSpPr txBox="1"/>
          <p:nvPr/>
        </p:nvSpPr>
        <p:spPr>
          <a:xfrm>
            <a:off x="384048" y="4864607"/>
            <a:ext cx="722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What that looks like on one document</a:t>
            </a:r>
          </a:p>
        </p:txBody>
      </p:sp>
      <p:sp>
        <p:nvSpPr>
          <p:cNvPr id="15391" name="Rounded Rectangle 15390"/>
          <p:cNvSpPr/>
          <p:nvPr/>
        </p:nvSpPr>
        <p:spPr>
          <a:xfrm>
            <a:off x="384048" y="5157216"/>
            <a:ext cx="7223760" cy="987552"/>
          </a:xfrm>
          <a:prstGeom prst="roundRect">
            <a:avLst>
              <a:gd name="adj" fmla="val 5000"/>
            </a:avLst>
          </a:prstGeom>
          <a:solidFill>
            <a:srgbClr val="FDF3E2"/>
          </a:solidFill>
          <a:ln w="9525">
            <a:solidFill>
              <a:srgbClr val="E8C9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2" name="TextBox 15391"/>
          <p:cNvSpPr txBox="1"/>
          <p:nvPr/>
        </p:nvSpPr>
        <p:spPr>
          <a:xfrm>
            <a:off x="530352" y="5257799"/>
            <a:ext cx="6931152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40" b="1">
                <a:solidFill>
                  <a:srgbClr val="1F3864"/>
                </a:solidFill>
                <a:latin typeface="Calibri"/>
              </a:rPr>
              <a:t>A 2 KB memo, 20 recipients, 301 mark slots. </a:t>
            </a:r>
            <a:r>
              <a:rPr sz="940" b="0">
                <a:solidFill>
                  <a:srgbClr val="202838"/>
                </a:solidFill>
                <a:latin typeface="Calibri"/>
              </a:rPr>
              <a:t>r07 opens it once and signs an ML-DSA-65 receipt. Their copy leaks.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202838"/>
                </a:solidFill>
                <a:latin typeface="Calibri"/>
              </a:rPr>
              <a:t>Traced back to </a:t>
            </a:r>
            <a:r>
              <a:rPr sz="940" b="1">
                <a:solidFill>
                  <a:srgbClr val="1F3864"/>
                </a:solidFill>
                <a:latin typeface="Calibri"/>
              </a:rPr>
              <a:t>r07, session #0</a:t>
            </a:r>
            <a:r>
              <a:rPr sz="940" b="0">
                <a:solidFill>
                  <a:srgbClr val="202838"/>
                </a:solidFill>
                <a:latin typeface="Calibri"/>
              </a:rPr>
              <a:t> — with a provable false-accusation probability of </a:t>
            </a:r>
            <a:r>
              <a:rPr sz="940" b="1">
                <a:solidFill>
                  <a:srgbClr val="1B7F5E"/>
                </a:solidFill>
                <a:latin typeface="Calibri"/>
              </a:rPr>
              <a:t>2.8 x 10⁻⁵⁹</a:t>
            </a:r>
            <a:r>
              <a:rPr sz="940" b="0">
                <a:solidFill>
                  <a:srgbClr val="202838"/>
                </a:solidFill>
                <a:latin typeface="Calibri"/>
              </a:rPr>
              <a:t>, the next-best suspect 10 sigma behind, and all five ledger checks green.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3864"/>
                </a:solidFill>
                <a:latin typeface="Calibri"/>
              </a:rPr>
              <a:t>NOX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84048" y="1188720"/>
            <a:ext cx="78821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End-to-end flow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5A677D"/>
                </a:solidFill>
                <a:latin typeface="Calibri"/>
              </a:rPr>
              <a:t>distribute · decrypt &amp; record · trace — every stage runs offline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84048" y="1463040"/>
            <a:ext cx="788212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E06C18"/>
                </a:solidFill>
                <a:latin typeface="Calibri"/>
              </a:rPr>
              <a:t>1  DISTRIBUTE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84048" y="1645920"/>
            <a:ext cx="1755648" cy="78638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 w="9525">
            <a:solidFill>
              <a:srgbClr val="C3D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448056" y="1709928"/>
            <a:ext cx="162763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60" b="1" i="0">
                <a:solidFill>
                  <a:srgbClr val="1F3864"/>
                </a:solidFill>
                <a:latin typeface="Calibri"/>
              </a:rPr>
              <a:t>Sender's document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split into base +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m mark slots</a:t>
            </a:r>
          </a:p>
        </p:txBody>
      </p:sp>
      <p:sp>
        <p:nvSpPr>
          <p:cNvPr id="17414" name="Right Arrow 17413"/>
          <p:cNvSpPr/>
          <p:nvPr/>
        </p:nvSpPr>
        <p:spPr>
          <a:xfrm>
            <a:off x="2176272" y="1988819"/>
            <a:ext cx="201168" cy="100584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Rounded Rectangle 17414"/>
          <p:cNvSpPr/>
          <p:nvPr/>
        </p:nvSpPr>
        <p:spPr>
          <a:xfrm>
            <a:off x="2414015" y="1645920"/>
            <a:ext cx="1755648" cy="786384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 w="9525">
            <a:solidFill>
              <a:srgbClr val="E8C9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2478023" y="1709928"/>
            <a:ext cx="162763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60" b="1" i="0">
                <a:solidFill>
                  <a:srgbClr val="E06C18"/>
                </a:solidFill>
                <a:latin typeface="Calibri"/>
              </a:rPr>
              <a:t>Variant encryption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AES-256-GCM,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a different key per rendering</a:t>
            </a:r>
          </a:p>
        </p:txBody>
      </p:sp>
      <p:sp>
        <p:nvSpPr>
          <p:cNvPr id="17417" name="Right Arrow 17416"/>
          <p:cNvSpPr/>
          <p:nvPr/>
        </p:nvSpPr>
        <p:spPr>
          <a:xfrm>
            <a:off x="4206240" y="1988819"/>
            <a:ext cx="201168" cy="100584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4443983" y="1645920"/>
            <a:ext cx="1755648" cy="78638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 w="9525">
            <a:solidFill>
              <a:srgbClr val="C3D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4507992" y="1709928"/>
            <a:ext cx="162763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60" b="1" i="0">
                <a:solidFill>
                  <a:srgbClr val="1F3864"/>
                </a:solidFill>
                <a:latin typeface="Calibri"/>
              </a:rPr>
              <a:t>Key bundles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wrapped with ML-KEM-768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one key per slot each</a:t>
            </a:r>
          </a:p>
        </p:txBody>
      </p:sp>
      <p:sp>
        <p:nvSpPr>
          <p:cNvPr id="17420" name="Right Arrow 17419"/>
          <p:cNvSpPr/>
          <p:nvPr/>
        </p:nvSpPr>
        <p:spPr>
          <a:xfrm>
            <a:off x="6236207" y="1988819"/>
            <a:ext cx="201168" cy="100584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Rounded Rectangle 17420"/>
          <p:cNvSpPr/>
          <p:nvPr/>
        </p:nvSpPr>
        <p:spPr>
          <a:xfrm>
            <a:off x="6473951" y="1645920"/>
            <a:ext cx="1755648" cy="78638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 w="9525">
            <a:solidFill>
              <a:srgbClr val="C3D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6537959" y="1709928"/>
            <a:ext cx="162763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60" b="1" i="0">
                <a:solidFill>
                  <a:srgbClr val="1F3864"/>
                </a:solidFill>
                <a:latin typeface="Calibri"/>
              </a:rPr>
              <a:t>One package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identical ciphertext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for all N recipients</a:t>
            </a:r>
          </a:p>
        </p:txBody>
      </p:sp>
      <p:sp>
        <p:nvSpPr>
          <p:cNvPr id="17423" name="Down Arrow 17422"/>
          <p:cNvSpPr/>
          <p:nvPr/>
        </p:nvSpPr>
        <p:spPr>
          <a:xfrm>
            <a:off x="4274820" y="2468880"/>
            <a:ext cx="100584" cy="201168"/>
          </a:xfrm>
          <a:prstGeom prst="down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TextBox 17423"/>
          <p:cNvSpPr txBox="1"/>
          <p:nvPr/>
        </p:nvSpPr>
        <p:spPr>
          <a:xfrm>
            <a:off x="384048" y="2651760"/>
            <a:ext cx="788212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1B7F5E"/>
                </a:solidFill>
                <a:latin typeface="Calibri"/>
              </a:rPr>
              <a:t>2  DECRYPT  &amp;  RECORD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384048" y="2834640"/>
            <a:ext cx="1755648" cy="786384"/>
          </a:xfrm>
          <a:prstGeom prst="roundRect">
            <a:avLst>
              <a:gd name="adj" fmla="val 8000"/>
            </a:avLst>
          </a:prstGeom>
          <a:solidFill>
            <a:srgbClr val="E8F4EE"/>
          </a:solidFill>
          <a:ln w="9525">
            <a:solidFill>
              <a:srgbClr val="A8D3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TextBox 17425"/>
          <p:cNvSpPr txBox="1"/>
          <p:nvPr/>
        </p:nvSpPr>
        <p:spPr>
          <a:xfrm>
            <a:off x="448056" y="2898648"/>
            <a:ext cx="162763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60" b="1" i="0">
                <a:solidFill>
                  <a:srgbClr val="1B7F5E"/>
                </a:solidFill>
                <a:latin typeface="Calibri"/>
              </a:rPr>
              <a:t>Recipient decrypts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unwraps bundle,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spends one session</a:t>
            </a:r>
          </a:p>
        </p:txBody>
      </p:sp>
      <p:sp>
        <p:nvSpPr>
          <p:cNvPr id="17427" name="Right Arrow 17426"/>
          <p:cNvSpPr/>
          <p:nvPr/>
        </p:nvSpPr>
        <p:spPr>
          <a:xfrm>
            <a:off x="2176272" y="3177540"/>
            <a:ext cx="201168" cy="100584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Rounded Rectangle 17427"/>
          <p:cNvSpPr/>
          <p:nvPr/>
        </p:nvSpPr>
        <p:spPr>
          <a:xfrm>
            <a:off x="2414015" y="2834640"/>
            <a:ext cx="1755648" cy="786384"/>
          </a:xfrm>
          <a:prstGeom prst="roundRect">
            <a:avLst>
              <a:gd name="adj" fmla="val 8000"/>
            </a:avLst>
          </a:prstGeom>
          <a:solidFill>
            <a:srgbClr val="E8F4EE"/>
          </a:solidFill>
          <a:ln w="9525">
            <a:solidFill>
              <a:srgbClr val="A8D3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2478023" y="2898648"/>
            <a:ext cx="162763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60" b="1" i="0">
                <a:solidFill>
                  <a:srgbClr val="1B7F5E"/>
                </a:solidFill>
                <a:latin typeface="Calibri"/>
              </a:rPr>
              <a:t>Uniquely marked copy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one rendering per slot;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the other is a tag failure</a:t>
            </a:r>
          </a:p>
        </p:txBody>
      </p:sp>
      <p:sp>
        <p:nvSpPr>
          <p:cNvPr id="17430" name="Right Arrow 17429"/>
          <p:cNvSpPr/>
          <p:nvPr/>
        </p:nvSpPr>
        <p:spPr>
          <a:xfrm>
            <a:off x="4206240" y="3177540"/>
            <a:ext cx="201168" cy="100584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Rounded Rectangle 17430"/>
          <p:cNvSpPr/>
          <p:nvPr/>
        </p:nvSpPr>
        <p:spPr>
          <a:xfrm>
            <a:off x="4443983" y="2834640"/>
            <a:ext cx="1755648" cy="786384"/>
          </a:xfrm>
          <a:prstGeom prst="roundRect">
            <a:avLst>
              <a:gd name="adj" fmla="val 8000"/>
            </a:avLst>
          </a:prstGeom>
          <a:solidFill>
            <a:srgbClr val="E8F4EE"/>
          </a:solidFill>
          <a:ln w="9525">
            <a:solidFill>
              <a:srgbClr val="A8D3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2" name="TextBox 17431"/>
          <p:cNvSpPr txBox="1"/>
          <p:nvPr/>
        </p:nvSpPr>
        <p:spPr>
          <a:xfrm>
            <a:off x="4507992" y="2898648"/>
            <a:ext cx="162763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60" b="1" i="0">
                <a:solidFill>
                  <a:srgbClr val="1B7F5E"/>
                </a:solidFill>
                <a:latin typeface="Calibri"/>
              </a:rPr>
              <a:t>Signed receipt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ML-DSA-65, recipient's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own private key</a:t>
            </a:r>
          </a:p>
        </p:txBody>
      </p:sp>
      <p:sp>
        <p:nvSpPr>
          <p:cNvPr id="17433" name="Right Arrow 17432"/>
          <p:cNvSpPr/>
          <p:nvPr/>
        </p:nvSpPr>
        <p:spPr>
          <a:xfrm>
            <a:off x="6236207" y="3177540"/>
            <a:ext cx="201168" cy="100584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4" name="Rounded Rectangle 17433"/>
          <p:cNvSpPr/>
          <p:nvPr/>
        </p:nvSpPr>
        <p:spPr>
          <a:xfrm>
            <a:off x="6473951" y="2834640"/>
            <a:ext cx="1755648" cy="786384"/>
          </a:xfrm>
          <a:prstGeom prst="roundRect">
            <a:avLst>
              <a:gd name="adj" fmla="val 8000"/>
            </a:avLst>
          </a:prstGeom>
          <a:solidFill>
            <a:srgbClr val="E8F4EE"/>
          </a:solidFill>
          <a:ln w="9525">
            <a:solidFill>
              <a:srgbClr val="A8D3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TextBox 17434"/>
          <p:cNvSpPr txBox="1"/>
          <p:nvPr/>
        </p:nvSpPr>
        <p:spPr>
          <a:xfrm>
            <a:off x="6537959" y="2898648"/>
            <a:ext cx="162763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60" b="1" i="0">
                <a:solidFill>
                  <a:srgbClr val="1B7F5E"/>
                </a:solidFill>
                <a:latin typeface="Calibri"/>
              </a:rPr>
              <a:t>Distributed ledger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3 validator replicas,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2-of-3 block commit</a:t>
            </a:r>
          </a:p>
        </p:txBody>
      </p:sp>
      <p:sp>
        <p:nvSpPr>
          <p:cNvPr id="17436" name="Down Arrow 17435"/>
          <p:cNvSpPr/>
          <p:nvPr/>
        </p:nvSpPr>
        <p:spPr>
          <a:xfrm>
            <a:off x="4274820" y="3657600"/>
            <a:ext cx="100584" cy="201168"/>
          </a:xfrm>
          <a:prstGeom prst="down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TextBox 17436"/>
          <p:cNvSpPr txBox="1"/>
          <p:nvPr/>
        </p:nvSpPr>
        <p:spPr>
          <a:xfrm>
            <a:off x="384048" y="3840480"/>
            <a:ext cx="788212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B42828"/>
                </a:solidFill>
                <a:latin typeface="Calibri"/>
              </a:rPr>
              <a:t>3  TRACE A LEAK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384048" y="4023360"/>
            <a:ext cx="1755648" cy="78638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 w="9525">
            <a:solidFill>
              <a:srgbClr val="C3D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9" name="TextBox 17438"/>
          <p:cNvSpPr txBox="1"/>
          <p:nvPr/>
        </p:nvSpPr>
        <p:spPr>
          <a:xfrm>
            <a:off x="448056" y="4087368"/>
            <a:ext cx="162763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60" b="1" i="0">
                <a:solidFill>
                  <a:srgbClr val="1F3864"/>
                </a:solidFill>
                <a:latin typeface="Calibri"/>
              </a:rPr>
              <a:t>Leaked copy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extract the slot bits</a:t>
            </a:r>
          </a:p>
        </p:txBody>
      </p:sp>
      <p:sp>
        <p:nvSpPr>
          <p:cNvPr id="17440" name="Right Arrow 17439"/>
          <p:cNvSpPr/>
          <p:nvPr/>
        </p:nvSpPr>
        <p:spPr>
          <a:xfrm>
            <a:off x="2176272" y="4366260"/>
            <a:ext cx="201168" cy="100584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Rounded Rectangle 17440"/>
          <p:cNvSpPr/>
          <p:nvPr/>
        </p:nvSpPr>
        <p:spPr>
          <a:xfrm>
            <a:off x="2414015" y="4023360"/>
            <a:ext cx="1755648" cy="78638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 w="9525">
            <a:solidFill>
              <a:srgbClr val="C3D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2" name="TextBox 17441"/>
          <p:cNvSpPr txBox="1"/>
          <p:nvPr/>
        </p:nvSpPr>
        <p:spPr>
          <a:xfrm>
            <a:off x="2478023" y="4087368"/>
            <a:ext cx="162763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60" b="1" i="0">
                <a:solidFill>
                  <a:srgbClr val="1F3864"/>
                </a:solidFill>
                <a:latin typeface="Calibri"/>
              </a:rPr>
              <a:t>Tardos scoring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score against every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issued codeword</a:t>
            </a:r>
          </a:p>
        </p:txBody>
      </p:sp>
      <p:sp>
        <p:nvSpPr>
          <p:cNvPr id="17443" name="Right Arrow 17442"/>
          <p:cNvSpPr/>
          <p:nvPr/>
        </p:nvSpPr>
        <p:spPr>
          <a:xfrm>
            <a:off x="4206240" y="4366260"/>
            <a:ext cx="201168" cy="100584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4" name="Rounded Rectangle 17443"/>
          <p:cNvSpPr/>
          <p:nvPr/>
        </p:nvSpPr>
        <p:spPr>
          <a:xfrm>
            <a:off x="4443983" y="4023360"/>
            <a:ext cx="1755648" cy="78638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 w="9525">
            <a:solidFill>
              <a:srgbClr val="C3D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5" name="TextBox 17444"/>
          <p:cNvSpPr txBox="1"/>
          <p:nvPr/>
        </p:nvSpPr>
        <p:spPr>
          <a:xfrm>
            <a:off x="4507992" y="4087368"/>
            <a:ext cx="162763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60" b="1" i="0">
                <a:solidFill>
                  <a:srgbClr val="1F3864"/>
                </a:solidFill>
                <a:latin typeface="Calibri"/>
              </a:rPr>
              <a:t>Ledger lookup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commitment → receipt,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signature + quorum checked</a:t>
            </a:r>
          </a:p>
        </p:txBody>
      </p:sp>
      <p:sp>
        <p:nvSpPr>
          <p:cNvPr id="17446" name="Right Arrow 17445"/>
          <p:cNvSpPr/>
          <p:nvPr/>
        </p:nvSpPr>
        <p:spPr>
          <a:xfrm>
            <a:off x="6236207" y="4366260"/>
            <a:ext cx="201168" cy="100584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7" name="Rounded Rectangle 17446"/>
          <p:cNvSpPr/>
          <p:nvPr/>
        </p:nvSpPr>
        <p:spPr>
          <a:xfrm>
            <a:off x="6473951" y="4023360"/>
            <a:ext cx="1755648" cy="786384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 w="9525">
            <a:solidFill>
              <a:srgbClr val="E8C9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8" name="TextBox 17447"/>
          <p:cNvSpPr txBox="1"/>
          <p:nvPr/>
        </p:nvSpPr>
        <p:spPr>
          <a:xfrm>
            <a:off x="6537959" y="4087368"/>
            <a:ext cx="162763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60" b="1" i="0">
                <a:solidFill>
                  <a:srgbClr val="E06C18"/>
                </a:solidFill>
                <a:latin typeface="Calibri"/>
              </a:rPr>
              <a:t>Verifiable verdict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recipient + session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5A677D"/>
                </a:solidFill>
                <a:latin typeface="Calibri"/>
              </a:rPr>
              <a:t>+ provable error bound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384048" y="4901184"/>
            <a:ext cx="788212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1F3864"/>
                </a:solidFill>
                <a:latin typeface="Calibri"/>
              </a:rPr>
              <a:t>Offline and air-gapped throughout · </a:t>
            </a:r>
            <a:r>
              <a:rPr sz="819" b="0">
                <a:solidFill>
                  <a:srgbClr val="5A677D"/>
                </a:solidFill>
                <a:latin typeface="Calibri"/>
              </a:rPr>
              <a:t>no cloud KMS, no public blockchain, no network call at any stage — asserted by a test that refuses every socket operation.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8503920" y="1188720"/>
            <a:ext cx="3300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Technologies to be used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8503920" y="1481328"/>
            <a:ext cx="3300984" cy="1572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60"/>
              </a:spcAft>
            </a:pPr>
            <a:r>
              <a:rPr sz="840" b="1">
                <a:solidFill>
                  <a:srgbClr val="1F3864"/>
                </a:solidFill>
                <a:latin typeface="Calibri"/>
              </a:rPr>
              <a:t>Key exchange   </a:t>
            </a:r>
            <a:r>
              <a:rPr sz="840" b="0">
                <a:solidFill>
                  <a:srgbClr val="202838"/>
                </a:solidFill>
                <a:latin typeface="Calibri"/>
              </a:rPr>
              <a:t>ML-KEM-768  (FIPS 203)</a:t>
            </a:r>
          </a:p>
          <a:p>
            <a:pPr algn="l">
              <a:spcBef>
                <a:spcPts val="0"/>
              </a:spcBef>
              <a:spcAft>
                <a:spcPts val="260"/>
              </a:spcAft>
            </a:pPr>
            <a:r>
              <a:rPr sz="840" b="1">
                <a:solidFill>
                  <a:srgbClr val="1F3864"/>
                </a:solidFill>
                <a:latin typeface="Calibri"/>
              </a:rPr>
              <a:t>Signatures   </a:t>
            </a:r>
            <a:r>
              <a:rPr sz="840" b="0">
                <a:solidFill>
                  <a:srgbClr val="202838"/>
                </a:solidFill>
                <a:latin typeface="Calibri"/>
              </a:rPr>
              <a:t>ML-DSA-65  (FIPS 204)</a:t>
            </a:r>
          </a:p>
          <a:p>
            <a:pPr algn="l">
              <a:spcBef>
                <a:spcPts val="0"/>
              </a:spcBef>
              <a:spcAft>
                <a:spcPts val="260"/>
              </a:spcAft>
            </a:pPr>
            <a:r>
              <a:rPr sz="840" b="1">
                <a:solidFill>
                  <a:srgbClr val="1F3864"/>
                </a:solidFill>
                <a:latin typeface="Calibri"/>
              </a:rPr>
              <a:t>PQC library   </a:t>
            </a:r>
            <a:r>
              <a:rPr sz="840" b="0">
                <a:solidFill>
                  <a:srgbClr val="202838"/>
                </a:solidFill>
                <a:latin typeface="Calibri"/>
              </a:rPr>
              <a:t>liboqs 0.16.0 via liboqs-python</a:t>
            </a:r>
          </a:p>
          <a:p>
            <a:pPr algn="l">
              <a:spcBef>
                <a:spcPts val="0"/>
              </a:spcBef>
              <a:spcAft>
                <a:spcPts val="260"/>
              </a:spcAft>
            </a:pPr>
            <a:r>
              <a:rPr sz="840" b="1">
                <a:solidFill>
                  <a:srgbClr val="1F3864"/>
                </a:solidFill>
                <a:latin typeface="Calibri"/>
              </a:rPr>
              <a:t>Content   </a:t>
            </a:r>
            <a:r>
              <a:rPr sz="840" b="0">
                <a:solidFill>
                  <a:srgbClr val="202838"/>
                </a:solidFill>
                <a:latin typeface="Calibri"/>
              </a:rPr>
              <a:t>AES-256-GCM · HKDF-SHA3-256</a:t>
            </a:r>
          </a:p>
          <a:p>
            <a:pPr algn="l">
              <a:spcBef>
                <a:spcPts val="0"/>
              </a:spcBef>
              <a:spcAft>
                <a:spcPts val="260"/>
              </a:spcAft>
            </a:pPr>
            <a:r>
              <a:rPr sz="840" b="1">
                <a:solidFill>
                  <a:srgbClr val="1F3864"/>
                </a:solidFill>
                <a:latin typeface="Calibri"/>
              </a:rPr>
              <a:t>Fingerprint   </a:t>
            </a:r>
            <a:r>
              <a:rPr sz="840" b="0">
                <a:solidFill>
                  <a:srgbClr val="202838"/>
                </a:solidFill>
                <a:latin typeface="Calibri"/>
              </a:rPr>
              <a:t>symmetric Tardos code (Škorić)</a:t>
            </a:r>
          </a:p>
          <a:p>
            <a:pPr algn="l">
              <a:spcBef>
                <a:spcPts val="0"/>
              </a:spcBef>
              <a:spcAft>
                <a:spcPts val="260"/>
              </a:spcAft>
            </a:pPr>
            <a:r>
              <a:rPr sz="840" b="1">
                <a:solidFill>
                  <a:srgbClr val="1F3864"/>
                </a:solidFill>
                <a:latin typeface="Calibri"/>
              </a:rPr>
              <a:t>Ledger   </a:t>
            </a:r>
            <a:r>
              <a:rPr sz="840" b="0">
                <a:solidFill>
                  <a:srgbClr val="202838"/>
                </a:solidFill>
                <a:latin typeface="Calibri"/>
              </a:rPr>
              <a:t>hash chain + Merkle blocks, 2-of-3</a:t>
            </a:r>
          </a:p>
          <a:p>
            <a:pPr algn="l">
              <a:spcBef>
                <a:spcPts val="0"/>
              </a:spcBef>
              <a:spcAft>
                <a:spcPts val="260"/>
              </a:spcAft>
            </a:pPr>
            <a:r>
              <a:rPr sz="840" b="1">
                <a:solidFill>
                  <a:srgbClr val="1F3864"/>
                </a:solidFill>
                <a:latin typeface="Calibri"/>
              </a:rPr>
              <a:t>Carriers   </a:t>
            </a:r>
            <a:r>
              <a:rPr sz="840" b="0">
                <a:solidFill>
                  <a:srgbClr val="202838"/>
                </a:solidFill>
                <a:latin typeface="Calibri"/>
              </a:rPr>
              <a:t>zero-width space · PDF kerning</a:t>
            </a:r>
          </a:p>
          <a:p>
            <a:pPr algn="l">
              <a:spcBef>
                <a:spcPts val="0"/>
              </a:spcBef>
              <a:spcAft>
                <a:spcPts val="260"/>
              </a:spcAft>
            </a:pPr>
            <a:r>
              <a:rPr sz="840" b="1">
                <a:solidFill>
                  <a:srgbClr val="1F3864"/>
                </a:solidFill>
                <a:latin typeface="Calibri"/>
              </a:rPr>
              <a:t>Stack   </a:t>
            </a:r>
            <a:r>
              <a:rPr sz="840" b="0">
                <a:solidFill>
                  <a:srgbClr val="202838"/>
                </a:solidFill>
                <a:latin typeface="Calibri"/>
              </a:rPr>
              <a:t>Python 3.11 · FastAPI · NumPy · Docker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8503920" y="3328415"/>
            <a:ext cx="3300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Methodology and process for implementation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8503920" y="3621024"/>
            <a:ext cx="330098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340"/>
              </a:spcAft>
            </a:pPr>
            <a:r>
              <a:rPr sz="840" b="0" i="0">
                <a:solidFill>
                  <a:srgbClr val="202838"/>
                </a:solidFill>
                <a:latin typeface="Calibri"/>
              </a:rPr>
              <a:t>▪  Safety and audit layers built and tested before any tracing existed.</a:t>
            </a:r>
          </a:p>
          <a:p>
            <a:pPr algn="l">
              <a:spcBef>
                <a:spcPts val="0"/>
              </a:spcBef>
              <a:spcAft>
                <a:spcPts val="340"/>
              </a:spcAft>
            </a:pPr>
            <a:r>
              <a:rPr sz="840" b="0" i="0">
                <a:solidFill>
                  <a:srgbClr val="202838"/>
                </a:solidFill>
                <a:latin typeface="Calibri"/>
              </a:rPr>
              <a:t>▪  Test-first throughout: 163 tests, including the central claim that a recipient cannot decrypt the other variant.</a:t>
            </a:r>
          </a:p>
          <a:p>
            <a:pPr algn="l">
              <a:spcBef>
                <a:spcPts val="0"/>
              </a:spcBef>
              <a:spcAft>
                <a:spcPts val="340"/>
              </a:spcAft>
            </a:pPr>
            <a:r>
              <a:rPr sz="840" b="0" i="0">
                <a:solidFill>
                  <a:srgbClr val="202838"/>
                </a:solidFill>
                <a:latin typeface="Calibri"/>
              </a:rPr>
              <a:t>▪  Every attack on the carrier measured and published — including the four that defeat it.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8503920" y="4937759"/>
            <a:ext cx="3300984" cy="932688"/>
          </a:xfrm>
          <a:prstGeom prst="roundRect">
            <a:avLst>
              <a:gd name="adj" fmla="val 7000"/>
            </a:avLst>
          </a:prstGeom>
          <a:solidFill>
            <a:srgbClr val="E8F4EE"/>
          </a:solidFill>
          <a:ln w="9525">
            <a:solidFill>
              <a:srgbClr val="A8D3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5" name="TextBox 17454"/>
          <p:cNvSpPr txBox="1"/>
          <p:nvPr/>
        </p:nvSpPr>
        <p:spPr>
          <a:xfrm>
            <a:off x="8631936" y="5029200"/>
            <a:ext cx="3044952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1B7F5E"/>
                </a:solidFill>
                <a:latin typeface="Calibri"/>
              </a:rPr>
              <a:t>WHY THIS DESIGN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5A677D"/>
                </a:solidFill>
                <a:latin typeface="Calibri"/>
              </a:rPr>
              <a:t>Broadcast ciphertext is shared by everyone; only a ~14 KB key bundle differs per recipient, independent of document size and of 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3864"/>
                </a:solidFill>
                <a:latin typeface="Calibri"/>
              </a:rPr>
              <a:t>NOX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84048" y="1188720"/>
            <a:ext cx="36758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Analysis of the feasibility of the idea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84048" y="1517904"/>
            <a:ext cx="3675887" cy="1993392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 w="9525">
            <a:solidFill>
              <a:srgbClr val="C3D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521207" y="1627632"/>
            <a:ext cx="3401568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880" b="1">
                <a:solidFill>
                  <a:srgbClr val="1F3864"/>
                </a:solidFill>
                <a:latin typeface="Calibri"/>
              </a:rPr>
              <a:t>Already built and running. </a:t>
            </a:r>
            <a:r>
              <a:rPr sz="880" b="0">
                <a:solidFill>
                  <a:srgbClr val="5A677D"/>
                </a:solidFill>
                <a:latin typeface="Calibri"/>
              </a:rPr>
              <a:t>Not a concept — a working deployment anyone can open right now.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880" b="1">
                <a:solidFill>
                  <a:srgbClr val="1F3864"/>
                </a:solidFill>
                <a:latin typeface="Calibri"/>
              </a:rPr>
              <a:t>Runs on commodity CPU. </a:t>
            </a:r>
            <a:r>
              <a:rPr sz="880" b="0">
                <a:solidFill>
                  <a:srgbClr val="5A677D"/>
                </a:solidFill>
                <a:latin typeface="Calibri"/>
              </a:rPr>
              <a:t>No GPU, no HSM. The whole demo fits a free 0.1-vCPU tier.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880" b="1">
                <a:solidFill>
                  <a:srgbClr val="1F3864"/>
                </a:solidFill>
                <a:latin typeface="Calibri"/>
              </a:rPr>
              <a:t>Zero licensing cost. </a:t>
            </a:r>
            <a:r>
              <a:rPr sz="880" b="0">
                <a:solidFill>
                  <a:srgbClr val="5A677D"/>
                </a:solidFill>
                <a:latin typeface="Calibri"/>
              </a:rPr>
              <a:t>Open-source primitives end to end; NIST-standardised, not bespoke.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880" b="1">
                <a:solidFill>
                  <a:srgbClr val="1F3864"/>
                </a:solidFill>
                <a:latin typeface="Calibri"/>
              </a:rPr>
              <a:t>Deploys air-gapped. </a:t>
            </a:r>
            <a:r>
              <a:rPr sz="880" b="0">
                <a:solidFill>
                  <a:srgbClr val="5A677D"/>
                </a:solidFill>
                <a:latin typeface="Calibri"/>
              </a:rPr>
              <a:t>No cloud KMS, no public chain, no outbound call at any stage.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880" b="1">
                <a:solidFill>
                  <a:srgbClr val="1F3864"/>
                </a:solidFill>
                <a:latin typeface="Calibri"/>
              </a:rPr>
              <a:t>Drops in beside existing flows. </a:t>
            </a:r>
            <a:r>
              <a:rPr sz="880" b="0">
                <a:solidFill>
                  <a:srgbClr val="5A677D"/>
                </a:solidFill>
                <a:latin typeface="Calibri"/>
              </a:rPr>
              <a:t>The sender already encrypts once for many; this replaces that step, not the whole system.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270248" y="1188720"/>
            <a:ext cx="36758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Potential challenges and risks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270248" y="1517904"/>
            <a:ext cx="3675887" cy="1993392"/>
          </a:xfrm>
          <a:prstGeom prst="roundRect">
            <a:avLst>
              <a:gd name="adj" fmla="val 6000"/>
            </a:avLst>
          </a:prstGeom>
          <a:solidFill>
            <a:srgbClr val="FDF3E2"/>
          </a:solidFill>
          <a:ln w="9525">
            <a:solidFill>
              <a:srgbClr val="E8C9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4407408" y="1627632"/>
            <a:ext cx="3401568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880" b="1">
                <a:solidFill>
                  <a:srgbClr val="B07410"/>
                </a:solidFill>
                <a:latin typeface="Calibri"/>
              </a:rPr>
              <a:t>Carrier fragility. </a:t>
            </a:r>
            <a:r>
              <a:rPr sz="880" b="0">
                <a:solidFill>
                  <a:srgbClr val="5A677D"/>
                </a:solidFill>
                <a:latin typeface="Calibri"/>
              </a:rPr>
              <a:t>Retyping, OCR or stripping invisible characters destroys a text watermark.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880" b="1">
                <a:solidFill>
                  <a:srgbClr val="B07410"/>
                </a:solidFill>
                <a:latin typeface="Calibri"/>
              </a:rPr>
              <a:t>Word insertion desynchronises. </a:t>
            </a:r>
            <a:r>
              <a:rPr sz="880" b="0">
                <a:solidFill>
                  <a:srgbClr val="5A677D"/>
                </a:solidFill>
                <a:latin typeface="Calibri"/>
              </a:rPr>
              <a:t>Slot addresses are ordinal, so adding a word shifts every later slot.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880" b="1">
                <a:solidFill>
                  <a:srgbClr val="B07410"/>
                </a:solidFill>
                <a:latin typeface="Calibri"/>
              </a:rPr>
              <a:t>Short documents, weaker codes. </a:t>
            </a:r>
            <a:r>
              <a:rPr sz="880" b="0">
                <a:solidFill>
                  <a:srgbClr val="5A677D"/>
                </a:solidFill>
                <a:latin typeface="Calibri"/>
              </a:rPr>
              <a:t>A memo holds ~300 slots; the Tardos bound asks for far more.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880" b="1">
                <a:solidFill>
                  <a:srgbClr val="B07410"/>
                </a:solidFill>
                <a:latin typeface="Calibri"/>
              </a:rPr>
              <a:t>Unframeability. </a:t>
            </a:r>
            <a:r>
              <a:rPr sz="880" b="0">
                <a:solidFill>
                  <a:srgbClr val="5A677D"/>
                </a:solidFill>
                <a:latin typeface="Calibri"/>
              </a:rPr>
              <a:t>The sender knows every codeword, so this proves traceability, not non-framing.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880" b="1">
                <a:solidFill>
                  <a:srgbClr val="B07410"/>
                </a:solidFill>
                <a:latin typeface="Calibri"/>
              </a:rPr>
              <a:t>Collusion. </a:t>
            </a:r>
            <a:r>
              <a:rPr sz="880" b="0">
                <a:solidFill>
                  <a:srgbClr val="5A677D"/>
                </a:solidFill>
                <a:latin typeface="Calibri"/>
              </a:rPr>
              <a:t>Several recipients can compare copies and splice them together.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8156448" y="1188720"/>
            <a:ext cx="36758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Strategies for overcoming these challenges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8156448" y="1517904"/>
            <a:ext cx="3675887" cy="1993392"/>
          </a:xfrm>
          <a:prstGeom prst="roundRect">
            <a:avLst>
              <a:gd name="adj" fmla="val 6000"/>
            </a:avLst>
          </a:prstGeom>
          <a:solidFill>
            <a:srgbClr val="E8F4EE"/>
          </a:solidFill>
          <a:ln w="9525">
            <a:solidFill>
              <a:srgbClr val="A8D3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8293608" y="1627632"/>
            <a:ext cx="3401568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880" b="1">
                <a:solidFill>
                  <a:srgbClr val="1B7F5E"/>
                </a:solidFill>
                <a:latin typeface="Calibri"/>
              </a:rPr>
              <a:t>Publish the attacks that win. </a:t>
            </a:r>
            <a:r>
              <a:rPr sz="880" b="0">
                <a:solidFill>
                  <a:srgbClr val="5A677D"/>
                </a:solidFill>
                <a:latin typeface="Calibri"/>
              </a:rPr>
              <a:t>Every one is measured with its bit error rate, beside the ones survived.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880" b="1">
                <a:solidFill>
                  <a:srgbClr val="1B7F5E"/>
                </a:solidFill>
                <a:latin typeface="Calibri"/>
              </a:rPr>
              <a:t>Fail safe, not loud. </a:t>
            </a:r>
            <a:r>
              <a:rPr sz="880" b="0">
                <a:solidFill>
                  <a:srgbClr val="5A677D"/>
                </a:solidFill>
                <a:latin typeface="Calibri"/>
              </a:rPr>
              <a:t>When an attack wins the result is a failure to identify — misidentification stayed at 0.0% across a 0–95% erasure sweep.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880" b="1">
                <a:solidFill>
                  <a:srgbClr val="1B7F5E"/>
                </a:solidFill>
                <a:latin typeface="Calibri"/>
              </a:rPr>
              <a:t>Report the reachable bound. </a:t>
            </a:r>
            <a:r>
              <a:rPr sz="880" b="0">
                <a:solidFill>
                  <a:srgbClr val="5A677D"/>
                </a:solidFill>
                <a:latin typeface="Calibri"/>
              </a:rPr>
              <a:t>protect states the best error probability the document can support before anything is sent.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880" b="1">
                <a:solidFill>
                  <a:srgbClr val="1B7F5E"/>
                </a:solidFill>
                <a:latin typeface="Calibri"/>
              </a:rPr>
              <a:t>Tardos codes for collusion. </a:t>
            </a:r>
            <a:r>
              <a:rPr sz="880" b="0">
                <a:solidFill>
                  <a:srgbClr val="5A677D"/>
                </a:solidFill>
                <a:latin typeface="Calibri"/>
              </a:rPr>
              <a:t>Where colluders agree they are stuck — no one holds the other key.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880" b="1">
                <a:solidFill>
                  <a:srgbClr val="1B7F5E"/>
                </a:solidFill>
                <a:latin typeface="Calibri"/>
              </a:rPr>
              <a:t>Content-anchored slots. </a:t>
            </a:r>
            <a:r>
              <a:rPr sz="880" b="0">
                <a:solidFill>
                  <a:srgbClr val="5A677D"/>
                </a:solidFill>
                <a:latin typeface="Calibri"/>
              </a:rPr>
              <a:t>The named next step, replacing ordinal addressing.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84048" y="3657600"/>
            <a:ext cx="11420856" cy="1152144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 w="9525">
            <a:solidFill>
              <a:srgbClr val="C3D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TextBox 17419"/>
          <p:cNvSpPr txBox="1"/>
          <p:nvPr/>
        </p:nvSpPr>
        <p:spPr>
          <a:xfrm>
            <a:off x="548640" y="3749039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1F3864"/>
                </a:solidFill>
                <a:latin typeface="Calibri"/>
              </a:rPr>
              <a:t>MEASURED, NOT ASSERTED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548640" y="4041648"/>
            <a:ext cx="184861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7F5E"/>
                </a:solidFill>
                <a:latin typeface="Calibri"/>
              </a:rPr>
              <a:t>100%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A677D"/>
                </a:solidFill>
                <a:latin typeface="Calibri"/>
              </a:rPr>
              <a:t>coalition of 8 traced
at the prescribed code length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2397252" y="4041648"/>
            <a:ext cx="184861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7F5E"/>
                </a:solidFill>
                <a:latin typeface="Calibri"/>
              </a:rPr>
              <a:t>0.0%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A677D"/>
                </a:solidFill>
                <a:latin typeface="Calibri"/>
              </a:rPr>
              <a:t>misidentification across
a 0–95% erasure sweep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4245864" y="4041648"/>
            <a:ext cx="184861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F3864"/>
                </a:solidFill>
                <a:latin typeface="Calibri"/>
              </a:rPr>
              <a:t>2.8e-59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A677D"/>
                </a:solidFill>
                <a:latin typeface="Calibri"/>
              </a:rPr>
              <a:t>provable false-accusation
bound on the live demo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6094476" y="4041648"/>
            <a:ext cx="184861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7F5E"/>
                </a:solidFill>
                <a:latin typeface="Calibri"/>
              </a:rPr>
              <a:t>0 / 10,000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A677D"/>
                </a:solidFill>
                <a:latin typeface="Calibri"/>
              </a:rPr>
              <a:t>innocent trials accused
at α ≤ 1e-5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7943088" y="4041648"/>
            <a:ext cx="184861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42828"/>
                </a:solidFill>
                <a:latin typeface="Calibr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A677D"/>
                </a:solidFill>
                <a:latin typeface="Calibri"/>
              </a:rPr>
              <a:t>attacks that defeat the
carrier — all published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9791700" y="4041648"/>
            <a:ext cx="184861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F3864"/>
                </a:solidFill>
                <a:latin typeface="Calibri"/>
              </a:rPr>
              <a:t>163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A677D"/>
                </a:solidFill>
                <a:latin typeface="Calibri"/>
              </a:rPr>
              <a:t>automated tests,
all passing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384048" y="4974336"/>
            <a:ext cx="11420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Path to deployment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384048" y="5303520"/>
            <a:ext cx="2649474" cy="804672"/>
          </a:xfrm>
          <a:prstGeom prst="roundRect">
            <a:avLst>
              <a:gd name="adj" fmla="val 7000"/>
            </a:avLst>
          </a:prstGeom>
          <a:solidFill>
            <a:srgbClr val="E8F4EE"/>
          </a:solidFill>
          <a:ln w="9525">
            <a:solidFill>
              <a:srgbClr val="A8D3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512064" y="5394959"/>
            <a:ext cx="239344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700" b="1" i="0">
                <a:solidFill>
                  <a:srgbClr val="1B7F5E"/>
                </a:solidFill>
                <a:latin typeface="Calibri"/>
              </a:rPr>
              <a:t>NOW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40" b="1" i="0">
                <a:solidFill>
                  <a:srgbClr val="1F3864"/>
                </a:solidFill>
                <a:latin typeface="Calibri"/>
              </a:rPr>
              <a:t>Working prototype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5A677D"/>
                </a:solidFill>
                <a:latin typeface="Calibri"/>
              </a:rPr>
              <a:t>text and PDF carriers, 3-validator ledger, live</a:t>
            </a:r>
          </a:p>
        </p:txBody>
      </p:sp>
      <p:sp>
        <p:nvSpPr>
          <p:cNvPr id="17430" name="Right Arrow 17429"/>
          <p:cNvSpPr/>
          <p:nvPr/>
        </p:nvSpPr>
        <p:spPr>
          <a:xfrm>
            <a:off x="3070098" y="5655564"/>
            <a:ext cx="201168" cy="100584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Rounded Rectangle 17430"/>
          <p:cNvSpPr/>
          <p:nvPr/>
        </p:nvSpPr>
        <p:spPr>
          <a:xfrm>
            <a:off x="3307841" y="5303520"/>
            <a:ext cx="2649474" cy="804672"/>
          </a:xfrm>
          <a:prstGeom prst="roundRect">
            <a:avLst>
              <a:gd name="adj" fmla="val 7000"/>
            </a:avLst>
          </a:prstGeom>
          <a:solidFill>
            <a:srgbClr val="EEF3FA"/>
          </a:solidFill>
          <a:ln w="9525">
            <a:solidFill>
              <a:srgbClr val="C3D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2" name="TextBox 17431"/>
          <p:cNvSpPr txBox="1"/>
          <p:nvPr/>
        </p:nvSpPr>
        <p:spPr>
          <a:xfrm>
            <a:off x="3435858" y="5394959"/>
            <a:ext cx="239344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700" b="1" i="0">
                <a:solidFill>
                  <a:srgbClr val="5A677D"/>
                </a:solidFill>
                <a:latin typeface="Calibri"/>
              </a:rPr>
              <a:t>NEXT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40" b="1" i="0">
                <a:solidFill>
                  <a:srgbClr val="1F3864"/>
                </a:solidFill>
                <a:latin typeface="Calibri"/>
              </a:rPr>
              <a:t>Content-anchored slots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5A677D"/>
                </a:solidFill>
                <a:latin typeface="Calibri"/>
              </a:rPr>
              <a:t>removes the word-insertion weakness</a:t>
            </a:r>
          </a:p>
        </p:txBody>
      </p:sp>
      <p:sp>
        <p:nvSpPr>
          <p:cNvPr id="17433" name="Right Arrow 17432"/>
          <p:cNvSpPr/>
          <p:nvPr/>
        </p:nvSpPr>
        <p:spPr>
          <a:xfrm>
            <a:off x="5993892" y="5655564"/>
            <a:ext cx="201168" cy="100584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4" name="Rounded Rectangle 17433"/>
          <p:cNvSpPr/>
          <p:nvPr/>
        </p:nvSpPr>
        <p:spPr>
          <a:xfrm>
            <a:off x="6231636" y="5303520"/>
            <a:ext cx="2649474" cy="804672"/>
          </a:xfrm>
          <a:prstGeom prst="roundRect">
            <a:avLst>
              <a:gd name="adj" fmla="val 7000"/>
            </a:avLst>
          </a:prstGeom>
          <a:solidFill>
            <a:srgbClr val="EEF3FA"/>
          </a:solidFill>
          <a:ln w="9525">
            <a:solidFill>
              <a:srgbClr val="C3D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TextBox 17434"/>
          <p:cNvSpPr txBox="1"/>
          <p:nvPr/>
        </p:nvSpPr>
        <p:spPr>
          <a:xfrm>
            <a:off x="6359651" y="5394959"/>
            <a:ext cx="239344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700" b="1" i="0">
                <a:solidFill>
                  <a:srgbClr val="5A677D"/>
                </a:solidFill>
                <a:latin typeface="Calibri"/>
              </a:rPr>
              <a:t>THEN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40" b="1" i="0">
                <a:solidFill>
                  <a:srgbClr val="1F3864"/>
                </a:solidFill>
                <a:latin typeface="Calibri"/>
              </a:rPr>
              <a:t>Departmental pilot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5A677D"/>
                </a:solidFill>
                <a:latin typeface="Calibri"/>
              </a:rPr>
              <a:t>validators held by three separate offices</a:t>
            </a:r>
          </a:p>
        </p:txBody>
      </p:sp>
      <p:sp>
        <p:nvSpPr>
          <p:cNvPr id="17436" name="Right Arrow 17435"/>
          <p:cNvSpPr/>
          <p:nvPr/>
        </p:nvSpPr>
        <p:spPr>
          <a:xfrm>
            <a:off x="8917685" y="5655564"/>
            <a:ext cx="201168" cy="100584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Rounded Rectangle 17436"/>
          <p:cNvSpPr/>
          <p:nvPr/>
        </p:nvSpPr>
        <p:spPr>
          <a:xfrm>
            <a:off x="9155430" y="5303520"/>
            <a:ext cx="2649474" cy="804672"/>
          </a:xfrm>
          <a:prstGeom prst="roundRect">
            <a:avLst>
              <a:gd name="adj" fmla="val 7000"/>
            </a:avLst>
          </a:prstGeom>
          <a:solidFill>
            <a:srgbClr val="EEF3FA"/>
          </a:solidFill>
          <a:ln w="9525">
            <a:solidFill>
              <a:srgbClr val="C3D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8" name="TextBox 17437"/>
          <p:cNvSpPr txBox="1"/>
          <p:nvPr/>
        </p:nvSpPr>
        <p:spPr>
          <a:xfrm>
            <a:off x="9283446" y="5394959"/>
            <a:ext cx="239344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700" b="1" i="0">
                <a:solidFill>
                  <a:srgbClr val="5A677D"/>
                </a:solidFill>
                <a:latin typeface="Calibri"/>
              </a:rPr>
              <a:t>SCALE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40" b="1" i="0">
                <a:solidFill>
                  <a:srgbClr val="1F3864"/>
                </a:solidFill>
                <a:latin typeface="Calibri"/>
              </a:rPr>
              <a:t>Cross-ministry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5A677D"/>
                </a:solidFill>
                <a:latin typeface="Calibri"/>
              </a:rPr>
              <a:t>one validator per participating ministry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3864"/>
                </a:solidFill>
                <a:latin typeface="Calibri"/>
              </a:rPr>
              <a:t>NOX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84048" y="118872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Potential impact on the target audience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84048" y="1517904"/>
            <a:ext cx="5669280" cy="1700784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 w="9525">
            <a:solidFill>
              <a:srgbClr val="C3D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530352" y="1627632"/>
            <a:ext cx="5376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19" b="1">
                <a:solidFill>
                  <a:srgbClr val="1F3864"/>
                </a:solidFill>
                <a:latin typeface="Calibri"/>
              </a:rPr>
              <a:t>Ministries and secretariats. </a:t>
            </a:r>
            <a:r>
              <a:rPr sz="919" b="0">
                <a:solidFill>
                  <a:srgbClr val="5A677D"/>
                </a:solidFill>
                <a:latin typeface="Calibri"/>
              </a:rPr>
              <a:t>Cabinet notes, draft policy and pre-budget material become individually accountable.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19" b="1">
                <a:solidFill>
                  <a:srgbClr val="1F3864"/>
                </a:solidFill>
                <a:latin typeface="Calibri"/>
              </a:rPr>
              <a:t>Procurement and tendering. </a:t>
            </a:r>
            <a:r>
              <a:rPr sz="919" b="0">
                <a:solidFill>
                  <a:srgbClr val="5A677D"/>
                </a:solidFill>
                <a:latin typeface="Calibri"/>
              </a:rPr>
              <a:t>Bid documents leak before deadlines; each copy now names its holder.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19" b="1">
                <a:solidFill>
                  <a:srgbClr val="1F3864"/>
                </a:solidFill>
                <a:latin typeface="Calibri"/>
              </a:rPr>
              <a:t>Examination boards. </a:t>
            </a:r>
            <a:r>
              <a:rPr sz="919" b="0">
                <a:solidFill>
                  <a:srgbClr val="5A677D"/>
                </a:solidFill>
                <a:latin typeface="Calibri"/>
              </a:rPr>
              <a:t>Question papers reach centres traceably, so a leak has an owner within minutes.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19" b="1">
                <a:solidFill>
                  <a:srgbClr val="1F3864"/>
                </a:solidFill>
                <a:latin typeface="Calibri"/>
              </a:rPr>
              <a:t>Courts and legal discovery. </a:t>
            </a:r>
            <a:r>
              <a:rPr sz="919" b="0">
                <a:solidFill>
                  <a:srgbClr val="5A677D"/>
                </a:solidFill>
                <a:latin typeface="Calibri"/>
              </a:rPr>
              <a:t>Material shared with opposing counsel carries non-repudiable receipts.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6336792" y="118872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Benefits of the solution (social, economic, environmental)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336792" y="1517904"/>
            <a:ext cx="5669280" cy="1700784"/>
          </a:xfrm>
          <a:prstGeom prst="roundRect">
            <a:avLst>
              <a:gd name="adj" fmla="val 6000"/>
            </a:avLst>
          </a:prstGeom>
          <a:solidFill>
            <a:srgbClr val="E8F4EE"/>
          </a:solidFill>
          <a:ln w="9525">
            <a:solidFill>
              <a:srgbClr val="A8D3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6483096" y="1627632"/>
            <a:ext cx="5376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19" b="1">
                <a:solidFill>
                  <a:srgbClr val="1B7F5E"/>
                </a:solidFill>
                <a:latin typeface="Calibri"/>
              </a:rPr>
              <a:t>Deterrence is the real product. </a:t>
            </a:r>
            <a:r>
              <a:rPr sz="919" b="0">
                <a:solidFill>
                  <a:srgbClr val="5A677D"/>
                </a:solidFill>
                <a:latin typeface="Calibri"/>
              </a:rPr>
              <a:t>When 20 people know each copy is accountable, most of them do not leak at all.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19" b="1">
                <a:solidFill>
                  <a:srgbClr val="1B7F5E"/>
                </a:solidFill>
                <a:latin typeface="Calibri"/>
              </a:rPr>
              <a:t>Protects the accused too. </a:t>
            </a:r>
            <a:r>
              <a:rPr sz="919" b="0">
                <a:solidFill>
                  <a:srgbClr val="5A677D"/>
                </a:solidFill>
                <a:latin typeface="Calibri"/>
              </a:rPr>
              <a:t>A stated error probability and a refusal to guess are what stop an innocent official being named.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19" b="1">
                <a:solidFill>
                  <a:srgbClr val="1B7F5E"/>
                </a:solidFill>
                <a:latin typeface="Calibri"/>
              </a:rPr>
              <a:t>Zero licensing cost. </a:t>
            </a:r>
            <a:r>
              <a:rPr sz="919" b="0">
                <a:solidFill>
                  <a:srgbClr val="5A677D"/>
                </a:solidFill>
                <a:latin typeface="Calibri"/>
              </a:rPr>
              <a:t>Open-source and free-tier; per-department rollout cost is effectively nil.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19" b="1">
                <a:solidFill>
                  <a:srgbClr val="1B7F5E"/>
                </a:solidFill>
                <a:latin typeface="Calibri"/>
              </a:rPr>
              <a:t>Quantum-durable. </a:t>
            </a:r>
            <a:r>
              <a:rPr sz="919" b="0">
                <a:solidFill>
                  <a:srgbClr val="5A677D"/>
                </a:solidFill>
                <a:latin typeface="Calibri"/>
              </a:rPr>
              <a:t>A cabinet note is sensitive for decades; FIPS 203/204 resist harvest-now-decrypt-later.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19" b="1">
                <a:solidFill>
                  <a:srgbClr val="1B7F5E"/>
                </a:solidFill>
                <a:latin typeface="Calibri"/>
              </a:rPr>
              <a:t>Scales unchanged. </a:t>
            </a:r>
            <a:r>
              <a:rPr sz="919" b="0">
                <a:solidFill>
                  <a:srgbClr val="5A677D"/>
                </a:solidFill>
                <a:latin typeface="Calibri"/>
              </a:rPr>
              <a:t>Any ministry distributing one document to a named list — the architecture does not change, only the list.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84048" y="3346704"/>
            <a:ext cx="11420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What changes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84048" y="3639312"/>
            <a:ext cx="5669280" cy="1243584"/>
          </a:xfrm>
          <a:prstGeom prst="roundRect">
            <a:avLst>
              <a:gd name="adj" fmla="val 6000"/>
            </a:avLst>
          </a:prstGeom>
          <a:solidFill>
            <a:srgbClr val="FAEEEE"/>
          </a:solidFill>
          <a:ln w="9525">
            <a:solidFill>
              <a:srgbClr val="E4C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548640" y="3758184"/>
            <a:ext cx="534009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40" b="1" i="0">
                <a:solidFill>
                  <a:srgbClr val="B42828"/>
                </a:solidFill>
                <a:latin typeface="Calibri"/>
              </a:rPr>
              <a:t>TODAY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80" b="0" i="0">
                <a:solidFill>
                  <a:srgbClr val="5A677D"/>
                </a:solidFill>
                <a:latin typeface="Calibri"/>
              </a:rPr>
              <a:t>▪  Every recipient who could decrypt is an equally plausible suspect.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80" b="0" i="0">
                <a:solidFill>
                  <a:srgbClr val="5A677D"/>
                </a:solidFill>
                <a:latin typeface="Calibri"/>
              </a:rPr>
              <a:t>▪  Access logs can be edited by the administrator who holds them.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80" b="0" i="0">
                <a:solidFill>
                  <a:srgbClr val="5A677D"/>
                </a:solidFill>
                <a:latin typeface="Calibri"/>
              </a:rPr>
              <a:t>▪  One identical watermark for all recipients attributes nothing.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6336792" y="3639312"/>
            <a:ext cx="5669280" cy="1243584"/>
          </a:xfrm>
          <a:prstGeom prst="roundRect">
            <a:avLst>
              <a:gd name="adj" fmla="val 6000"/>
            </a:avLst>
          </a:prstGeom>
          <a:solidFill>
            <a:srgbClr val="E8F4EE"/>
          </a:solidFill>
          <a:ln w="9525">
            <a:solidFill>
              <a:srgbClr val="A8D3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TextBox 17419"/>
          <p:cNvSpPr txBox="1"/>
          <p:nvPr/>
        </p:nvSpPr>
        <p:spPr>
          <a:xfrm>
            <a:off x="6501383" y="3758184"/>
            <a:ext cx="534009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40" b="1" i="0">
                <a:solidFill>
                  <a:srgbClr val="1B7F5E"/>
                </a:solidFill>
                <a:latin typeface="Calibri"/>
              </a:rPr>
              <a:t>WITH PQFW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80" b="0" i="0">
                <a:solidFill>
                  <a:srgbClr val="5A677D"/>
                </a:solidFill>
                <a:latin typeface="Calibri"/>
              </a:rPr>
              <a:t>▪  A leaked copy names one recipient and one decryption session.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80" b="0" i="0">
                <a:solidFill>
                  <a:srgbClr val="5A677D"/>
                </a:solidFill>
                <a:latin typeface="Calibri"/>
              </a:rPr>
              <a:t>▪  Records are replicated 3 ways; one compromised admin is out-voted.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80" b="0" i="0">
                <a:solidFill>
                  <a:srgbClr val="5A677D"/>
                </a:solidFill>
                <a:latin typeface="Calibri"/>
              </a:rPr>
              <a:t>▪  Every copy is distinct, and the accusation carries a provable bound.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384048" y="4956048"/>
            <a:ext cx="11420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Cost of running it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84048" y="5248656"/>
            <a:ext cx="11420856" cy="896112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 w="9525">
            <a:solidFill>
              <a:srgbClr val="C3D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548640" y="5340096"/>
            <a:ext cx="221833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/>
              </a:rPr>
              <a:t>116 KB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A677D"/>
                </a:solidFill>
                <a:latin typeface="Calibri"/>
              </a:rPr>
              <a:t>shared ciphertext —
the same bytes for everyone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2766974" y="5340096"/>
            <a:ext cx="221833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/>
              </a:rPr>
              <a:t>34 KB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A677D"/>
                </a:solidFill>
                <a:latin typeface="Calibri"/>
              </a:rPr>
              <a:t>per recipient, and
independent of N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985308" y="5340096"/>
            <a:ext cx="221833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7F5E"/>
                </a:solidFill>
                <a:latin typeface="Calibri"/>
              </a:rPr>
              <a:t>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A677D"/>
                </a:solidFill>
                <a:latin typeface="Calibri"/>
              </a:rPr>
              <a:t>GPUs, HSMs and
cloud services required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7203643" y="5340096"/>
            <a:ext cx="221833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7F5E"/>
                </a:solidFill>
                <a:latin typeface="Calibri"/>
              </a:rPr>
              <a:t>₹0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A677D"/>
                </a:solidFill>
                <a:latin typeface="Calibri"/>
              </a:rPr>
              <a:t>licensing cost —
open-source throughout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9421977" y="5340096"/>
            <a:ext cx="221833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/>
              </a:rPr>
              <a:t>&lt; 1 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A677D"/>
                </a:solidFill>
                <a:latin typeface="Calibri"/>
              </a:rPr>
              <a:t>to trace a leak against
1,000 recipients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3864"/>
                </a:solidFill>
                <a:latin typeface="Calibri"/>
              </a:rPr>
              <a:t>NOX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84048" y="1188720"/>
            <a:ext cx="36758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Standards and specifications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84048" y="1499616"/>
            <a:ext cx="3675887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860" b="1">
                <a:solidFill>
                  <a:srgbClr val="1F3864"/>
                </a:solidFill>
                <a:latin typeface="Calibri"/>
              </a:rPr>
              <a:t>FIPS 203 (2024)  </a:t>
            </a:r>
            <a:r>
              <a:rPr sz="860" b="0">
                <a:solidFill>
                  <a:srgbClr val="5A677D"/>
                </a:solidFill>
                <a:latin typeface="Calibri"/>
              </a:rPr>
              <a:t>Module-Lattice-Based Key-Encapsulation Mechanism — ML-KEM. NIST.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860" b="1">
                <a:solidFill>
                  <a:srgbClr val="1F3864"/>
                </a:solidFill>
                <a:latin typeface="Calibri"/>
              </a:rPr>
              <a:t>FIPS 204 (2024)  </a:t>
            </a:r>
            <a:r>
              <a:rPr sz="860" b="0">
                <a:solidFill>
                  <a:srgbClr val="5A677D"/>
                </a:solidFill>
                <a:latin typeface="Calibri"/>
              </a:rPr>
              <a:t>Module-Lattice-Based Digital Signature Standard — ML-DSA. NIST.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860" b="1">
                <a:solidFill>
                  <a:srgbClr val="1F3864"/>
                </a:solidFill>
                <a:latin typeface="Calibri"/>
              </a:rPr>
              <a:t>FIPS 202  </a:t>
            </a:r>
            <a:r>
              <a:rPr sz="860" b="0">
                <a:solidFill>
                  <a:srgbClr val="5A677D"/>
                </a:solidFill>
                <a:latin typeface="Calibri"/>
              </a:rPr>
              <a:t>SHA-3 permutation-based hash and extendable-output functions.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860" b="1">
                <a:solidFill>
                  <a:srgbClr val="1F3864"/>
                </a:solidFill>
                <a:latin typeface="Calibri"/>
              </a:rPr>
              <a:t>NIST SP 800-38D  </a:t>
            </a:r>
            <a:r>
              <a:rPr sz="860" b="0">
                <a:solidFill>
                  <a:srgbClr val="5A677D"/>
                </a:solidFill>
                <a:latin typeface="Calibri"/>
              </a:rPr>
              <a:t>Galois/Counter Mode for AES, used for every ciphertext here.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270248" y="1188720"/>
            <a:ext cx="36758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Methods and literature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270248" y="1499616"/>
            <a:ext cx="3675887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50"/>
              </a:spcAft>
            </a:pPr>
            <a:r>
              <a:rPr sz="860" b="1">
                <a:solidFill>
                  <a:srgbClr val="1F3864"/>
                </a:solidFill>
                <a:latin typeface="Calibri"/>
              </a:rPr>
              <a:t>Tardos (2003)  </a:t>
            </a:r>
            <a:r>
              <a:rPr sz="860" b="0">
                <a:solidFill>
                  <a:srgbClr val="5A677D"/>
                </a:solidFill>
                <a:latin typeface="Calibri"/>
              </a:rPr>
              <a:t>Optimal probabilistic fingerprint codes. STOC.</a:t>
            </a:r>
          </a:p>
          <a:p>
            <a:pPr algn="l">
              <a:spcBef>
                <a:spcPts val="0"/>
              </a:spcBef>
              <a:spcAft>
                <a:spcPts val="550"/>
              </a:spcAft>
            </a:pPr>
            <a:r>
              <a:rPr sz="860" b="1">
                <a:solidFill>
                  <a:srgbClr val="1F3864"/>
                </a:solidFill>
                <a:latin typeface="Calibri"/>
              </a:rPr>
              <a:t>Škorić et al. (2008)  </a:t>
            </a:r>
            <a:r>
              <a:rPr sz="860" b="0">
                <a:solidFill>
                  <a:srgbClr val="5A677D"/>
                </a:solidFill>
                <a:latin typeface="Calibri"/>
              </a:rPr>
              <a:t>Symmetric Tardos fingerprinting codes for arbitrary alphabet sizes. Designs, Codes and Cryptography.</a:t>
            </a:r>
          </a:p>
          <a:p>
            <a:pPr algn="l">
              <a:spcBef>
                <a:spcPts val="0"/>
              </a:spcBef>
              <a:spcAft>
                <a:spcPts val="550"/>
              </a:spcAft>
            </a:pPr>
            <a:r>
              <a:rPr sz="860" b="1">
                <a:solidFill>
                  <a:srgbClr val="1F3864"/>
                </a:solidFill>
                <a:latin typeface="Calibri"/>
              </a:rPr>
              <a:t>Boneh &amp; Shaw (1998)  </a:t>
            </a:r>
            <a:r>
              <a:rPr sz="860" b="0">
                <a:solidFill>
                  <a:srgbClr val="5A677D"/>
                </a:solidFill>
                <a:latin typeface="Calibri"/>
              </a:rPr>
              <a:t>Collusion-secure fingerprinting for digital data. IEEE Trans. Information Theory.</a:t>
            </a:r>
          </a:p>
          <a:p>
            <a:pPr algn="l">
              <a:spcBef>
                <a:spcPts val="0"/>
              </a:spcBef>
              <a:spcAft>
                <a:spcPts val="550"/>
              </a:spcAft>
            </a:pPr>
            <a:r>
              <a:rPr sz="860" b="1">
                <a:solidFill>
                  <a:srgbClr val="1F3864"/>
                </a:solidFill>
                <a:latin typeface="Calibri"/>
              </a:rPr>
              <a:t>Open Quantum Safe  </a:t>
            </a:r>
            <a:r>
              <a:rPr sz="860" b="0">
                <a:solidFill>
                  <a:srgbClr val="5A677D"/>
                </a:solidFill>
                <a:latin typeface="Calibri"/>
              </a:rPr>
              <a:t>liboqs — the C library providing both mechanisms used here.</a:t>
            </a:r>
          </a:p>
          <a:p>
            <a:pPr algn="l">
              <a:spcBef>
                <a:spcPts val="0"/>
              </a:spcBef>
              <a:spcAft>
                <a:spcPts val="550"/>
              </a:spcAft>
            </a:pPr>
            <a:r>
              <a:rPr sz="860" b="1">
                <a:solidFill>
                  <a:srgbClr val="1F3864"/>
                </a:solidFill>
                <a:latin typeface="Calibri"/>
              </a:rPr>
              <a:t>Brakerski–Fan–Vercauteren  </a:t>
            </a:r>
            <a:r>
              <a:rPr sz="860" b="0">
                <a:solidFill>
                  <a:srgbClr val="5A677D"/>
                </a:solidFill>
                <a:latin typeface="Calibri"/>
              </a:rPr>
              <a:t>Somewhat-homomorphic encryption; the route to post-quantum asymmetric fingerprinting. Future work.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8156448" y="1188720"/>
            <a:ext cx="36758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Our work — live and inspectable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8156448" y="1499616"/>
            <a:ext cx="3675887" cy="1060704"/>
          </a:xfrm>
          <a:prstGeom prst="roundRect">
            <a:avLst>
              <a:gd name="adj" fmla="val 7000"/>
            </a:avLst>
          </a:prstGeom>
          <a:solidFill>
            <a:srgbClr val="E8F4EE"/>
          </a:solidFill>
          <a:ln w="9525">
            <a:solidFill>
              <a:srgbClr val="A8D3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8293608" y="1600200"/>
            <a:ext cx="3401568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1B7F5E"/>
                </a:solidFill>
                <a:latin typeface="Calibri"/>
              </a:rPr>
              <a:t>WORKING PROTOTYPE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F3864"/>
                </a:solidFill>
                <a:latin typeface="Calibri"/>
              </a:rPr>
              <a:t>pqfw.onrender.com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77D"/>
                </a:solidFill>
                <a:latin typeface="Calibri"/>
              </a:rPr>
              <a:t>Five guided steps, real post-quantum cryptography computed server-side.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8156448" y="2670048"/>
            <a:ext cx="3675887" cy="1024128"/>
          </a:xfrm>
          <a:prstGeom prst="roundRect">
            <a:avLst>
              <a:gd name="adj" fmla="val 7000"/>
            </a:avLst>
          </a:prstGeom>
          <a:solidFill>
            <a:srgbClr val="EEF3FA"/>
          </a:solidFill>
          <a:ln w="9525">
            <a:solidFill>
              <a:srgbClr val="C3D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8293608" y="2761488"/>
            <a:ext cx="3401568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1F3864"/>
                </a:solidFill>
                <a:latin typeface="Calibri"/>
              </a:rPr>
              <a:t>EVALUATION AND ATTACK RESULTS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1F3864"/>
                </a:solidFill>
                <a:latin typeface="Calibri"/>
              </a:rPr>
              <a:t>evildeity-pqfw-post-quantum-watermarking.static.hf.space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77D"/>
                </a:solidFill>
                <a:latin typeface="Calibri"/>
              </a:rPr>
              <a:t>Every figure produced by executing the library, with the commit recorded.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84048" y="3877056"/>
            <a:ext cx="11420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Compliance with the problem statement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84048" y="4206240"/>
            <a:ext cx="11420856" cy="1481328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 w="9525">
            <a:solidFill>
              <a:srgbClr val="C3D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566928" y="4334256"/>
            <a:ext cx="54361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B7F5E"/>
                </a:solidFill>
                <a:latin typeface="Calibri"/>
              </a:rPr>
              <a:t>✓  </a:t>
            </a:r>
            <a:r>
              <a:rPr sz="860" b="0">
                <a:solidFill>
                  <a:srgbClr val="202838"/>
                </a:solidFill>
                <a:latin typeface="Calibri"/>
              </a:rPr>
              <a:t>Invisible watermark generated at decryption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566928" y="4590288"/>
            <a:ext cx="54361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B7F5E"/>
                </a:solidFill>
                <a:latin typeface="Calibri"/>
              </a:rPr>
              <a:t>✓  </a:t>
            </a:r>
            <a:r>
              <a:rPr sz="860" b="0">
                <a:solidFill>
                  <a:srgbClr val="202838"/>
                </a:solidFill>
                <a:latin typeface="Calibri"/>
              </a:rPr>
              <a:t>Unique per recipient and per decryption session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566928" y="4846320"/>
            <a:ext cx="54361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B7F5E"/>
                </a:solidFill>
                <a:latin typeface="Calibri"/>
              </a:rPr>
              <a:t>✓  </a:t>
            </a:r>
            <a:r>
              <a:rPr sz="860" b="0">
                <a:solidFill>
                  <a:srgbClr val="202838"/>
                </a:solidFill>
                <a:latin typeface="Calibri"/>
              </a:rPr>
              <a:t>Visually identical, forensically distinct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566928" y="5102352"/>
            <a:ext cx="54361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B7F5E"/>
                </a:solidFill>
                <a:latin typeface="Calibri"/>
              </a:rPr>
              <a:t>✓  </a:t>
            </a:r>
            <a:r>
              <a:rPr sz="860" b="0">
                <a:solidFill>
                  <a:srgbClr val="202838"/>
                </a:solidFill>
                <a:latin typeface="Calibri"/>
              </a:rPr>
              <a:t>Decryption bound to identity, signed with the recipient's own key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566928" y="5358384"/>
            <a:ext cx="54361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B7F5E"/>
                </a:solidFill>
                <a:latin typeface="Calibri"/>
              </a:rPr>
              <a:t>✓  </a:t>
            </a:r>
            <a:r>
              <a:rPr sz="860" b="0">
                <a:solidFill>
                  <a:srgbClr val="202838"/>
                </a:solidFill>
                <a:latin typeface="Calibri"/>
              </a:rPr>
              <a:t>NIST post-quantum algorithms for key exchange and signature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6094476" y="4334256"/>
            <a:ext cx="54361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B7F5E"/>
                </a:solidFill>
                <a:latin typeface="Calibri"/>
              </a:rPr>
              <a:t>✓  </a:t>
            </a:r>
            <a:r>
              <a:rPr sz="860" b="0">
                <a:solidFill>
                  <a:srgbClr val="202838"/>
                </a:solidFill>
                <a:latin typeface="Calibri"/>
              </a:rPr>
              <a:t>Immutable audit layer on a distributed ledger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6094476" y="4590288"/>
            <a:ext cx="54361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B7F5E"/>
                </a:solidFill>
                <a:latin typeface="Calibri"/>
              </a:rPr>
              <a:t>✓  </a:t>
            </a:r>
            <a:r>
              <a:rPr sz="860" b="0">
                <a:solidFill>
                  <a:srgbClr val="202838"/>
                </a:solidFill>
                <a:latin typeface="Calibri"/>
              </a:rPr>
              <a:t>No single admin or compromised account can alter records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6094476" y="4846320"/>
            <a:ext cx="54361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B7F5E"/>
                </a:solidFill>
                <a:latin typeface="Calibri"/>
              </a:rPr>
              <a:t>✓  </a:t>
            </a:r>
            <a:r>
              <a:rPr sz="860" b="0">
                <a:solidFill>
                  <a:srgbClr val="202838"/>
                </a:solidFill>
                <a:latin typeface="Calibri"/>
              </a:rPr>
              <a:t>Extract watermark, look up the ledger, return a verifiable record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6094476" y="5102352"/>
            <a:ext cx="54361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B7F5E"/>
                </a:solidFill>
                <a:latin typeface="Calibri"/>
              </a:rPr>
              <a:t>✓  </a:t>
            </a:r>
            <a:r>
              <a:rPr sz="860" b="0">
                <a:solidFill>
                  <a:srgbClr val="202838"/>
                </a:solidFill>
                <a:latin typeface="Calibri"/>
              </a:rPr>
              <a:t>Operates fully offline and air-gapped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6094476" y="5358384"/>
            <a:ext cx="54361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B7F5E"/>
                </a:solidFill>
                <a:latin typeface="Calibri"/>
              </a:rPr>
              <a:t>✓  </a:t>
            </a:r>
            <a:r>
              <a:rPr sz="860" b="0">
                <a:solidFill>
                  <a:srgbClr val="202838"/>
                </a:solidFill>
                <a:latin typeface="Calibri"/>
              </a:rPr>
              <a:t>No cloud KMS and no public blockchain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