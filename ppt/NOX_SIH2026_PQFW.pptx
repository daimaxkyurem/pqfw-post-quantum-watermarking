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core idea in one sentence: the fingerprint is a consequence of which decryption keys you hold, not of software choosing to add a watermark. Each mark slot is written two ways that look identical and encrypted under different keys; you get one key per slot. The other rendering is an AES-GCM tag failure for you. There is no unmarked copy anywhere — not even on our own disk. Bottom left is a real verdict from the running system.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Three stages, all offline. Distribute: one ciphertext for everybody plus a 14 KB key bundle each. Decrypt: the recipient spends one credential, gets a uniquely marked copy, and signs an ML-DSA-65 receipt with their own key — that is the non-repudiation. Record: three validators independently verify that receipt and commit it 2-of-3. Trace: extract the marks, score them, check the ledger. No cloud KMS, no public chain, no network call at any point.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We are honest about what breaks it. Two attacks still win — stripping invisible characters, and retyping — and both are measured and published rather than hidden. It was four until we anchored slot addresses to the text before them instead of to a position; prepending or deleting one word went from 51% bit error to zero. What is left cannot be fixed by addressing: those two delete the marks rather than move them. The point is the failure mode: when an attack wins the system fails to identify anybody. Both curves are drawn straight from the evaluation CSVs. The left one is the whole argument in one picture: as you destroy the marks the green line falls, and the orange line — naming the wrong person — stays flat on zero the entire way. The bottom row is the actual next four steps, not an aspiration.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Ministry of Defence context: service HQ, procurement, DRDO and partners, inter-agency sharing. The real product is deterrence — when every holder knows their copy is individually accountable, most leaks never happen. And it protects the accused as much as it exposes the leaker: a stated error probability and a refusal to guess are what stop an innocent officer being named.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 requirement in the problem statement, and every one is exercised by an automated test and by a step of the live demo — 170 tests. Two things we do not claim: this proves traceability, not unframeability, because the distributor knows the codewords; and post-quantum asymmetric fingerprinting has no drop-in construction yet, so we say so rather than pretending. Scan the code and try to break 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SIH26237, Ministry of Defence. One document goes to many cleared recipients; it leaks; today every one of them is an equally plausible suspect. We built PQFW, and it is running right now at the address on this slide — scan the code and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4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5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Relationship Id="rId24" Type="http://schemas.openxmlformats.org/officeDocument/2006/relationships/image" Target="../media/image26.png"/><Relationship Id="rId25" Type="http://schemas.openxmlformats.org/officeDocument/2006/relationships/image" Target="../media/image27.png"/><Relationship Id="rId26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0" y="914400"/>
            <a:ext cx="6510528" cy="5943600"/>
          </a:xfrm>
          <a:prstGeom prst="roundRect">
            <a:avLst>
              <a:gd name="adj" fmla="val 0"/>
            </a:avLst>
          </a:prstGeom>
          <a:solidFill>
            <a:srgbClr val="0E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30352" y="1133856"/>
            <a:ext cx="5486400" cy="932688"/>
          </a:xfrm>
        </p:spPr>
        <p:txBody>
          <a:bodyPr lIns="0" r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PQFW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2790D"/>
                </a:solidFill>
                <a:latin typeface="Calibri"/>
              </a:rPr>
              <a:t>Post-Quantum Forensic Watermarking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304288"/>
            <a:ext cx="1645920" cy="841248"/>
          </a:xfrm>
          <a:prstGeom prst="roundRect">
            <a:avLst>
              <a:gd name="adj" fmla="val 8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596896"/>
            <a:ext cx="256032" cy="2560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87552" y="2423160"/>
            <a:ext cx="10789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One ciphertext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A9BEDF"/>
                </a:solidFill>
                <a:latin typeface="Calibri"/>
              </a:rPr>
              <a:t>broadcast to every cleared recipient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21991" y="2724912"/>
            <a:ext cx="182881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50592" y="2304288"/>
            <a:ext cx="1645920" cy="841248"/>
          </a:xfrm>
          <a:prstGeom prst="roundRect">
            <a:avLst>
              <a:gd name="adj" fmla="val 8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ngerpr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2596896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907792" y="2423160"/>
            <a:ext cx="10789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N distinct copies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A9BEDF"/>
                </a:solidFill>
                <a:latin typeface="Calibri"/>
              </a:rPr>
              <a:t>each keyed to one person and one session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42232" y="2724912"/>
            <a:ext cx="182880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370832" y="2304288"/>
            <a:ext cx="1645920" cy="841248"/>
          </a:xfrm>
          <a:prstGeom prst="roundRect">
            <a:avLst>
              <a:gd name="adj" fmla="val 8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verdi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2596896"/>
            <a:ext cx="256032" cy="2560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828032" y="2423160"/>
            <a:ext cx="10789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One name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A9BEDF"/>
                </a:solidFill>
                <a:latin typeface="Calibri"/>
              </a:rPr>
              <a:t>a leak traced, with a provable error bound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3401568"/>
            <a:ext cx="239572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860" b="0">
                <a:solidFill>
                  <a:srgbClr val="A9BEDF"/>
                </a:solidFill>
                <a:latin typeface="Calibri"/>
              </a:rPr>
              <a:t>Problem Statement ID   </a:t>
            </a:r>
            <a:r>
              <a:rPr sz="860" b="1">
                <a:solidFill>
                  <a:srgbClr val="FFFFFF"/>
                </a:solidFill>
                <a:latin typeface="Calibri"/>
              </a:rPr>
              <a:t>SIH26237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860" b="0">
                <a:solidFill>
                  <a:srgbClr val="A9BEDF"/>
                </a:solidFill>
                <a:latin typeface="Calibri"/>
              </a:rPr>
              <a:t>Organisation   </a:t>
            </a:r>
            <a:r>
              <a:rPr sz="860" b="1">
                <a:solidFill>
                  <a:srgbClr val="FFFFFF"/>
                </a:solidFill>
                <a:latin typeface="Calibri"/>
              </a:rPr>
              <a:t>Ministry of Defence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860" b="0">
                <a:solidFill>
                  <a:srgbClr val="A9BEDF"/>
                </a:solidFill>
                <a:latin typeface="Calibri"/>
              </a:rPr>
              <a:t>Team ID   </a:t>
            </a:r>
            <a:r>
              <a:rPr sz="860" b="1">
                <a:solidFill>
                  <a:srgbClr val="FFFFFF"/>
                </a:solidFill>
                <a:latin typeface="Calibri"/>
              </a:rPr>
              <a:t>—  (to be assigned on the portal)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54096" y="3401568"/>
            <a:ext cx="239572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860" b="0">
                <a:solidFill>
                  <a:srgbClr val="A9BEDF"/>
                </a:solidFill>
                <a:latin typeface="Calibri"/>
              </a:rPr>
              <a:t>PS Category   </a:t>
            </a:r>
            <a:r>
              <a:rPr sz="860" b="1">
                <a:solidFill>
                  <a:srgbClr val="FFFFFF"/>
                </a:solidFill>
                <a:latin typeface="Calibri"/>
              </a:rPr>
              <a:t>Software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860" b="0">
                <a:solidFill>
                  <a:srgbClr val="A9BEDF"/>
                </a:solidFill>
                <a:latin typeface="Calibri"/>
              </a:rPr>
              <a:t>Theme   </a:t>
            </a:r>
            <a:r>
              <a:rPr sz="860" b="1">
                <a:solidFill>
                  <a:srgbClr val="FFFFFF"/>
                </a:solidFill>
                <a:latin typeface="Calibri"/>
              </a:rPr>
              <a:t>Blockchain &amp; Cybersecurity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860" b="0">
                <a:solidFill>
                  <a:srgbClr val="A9BEDF"/>
                </a:solidFill>
                <a:latin typeface="Calibri"/>
              </a:rPr>
              <a:t>Team Name   </a:t>
            </a:r>
            <a:r>
              <a:rPr sz="860" b="1">
                <a:solidFill>
                  <a:srgbClr val="FFFFFF"/>
                </a:solidFill>
                <a:latin typeface="Calibri"/>
              </a:rPr>
              <a:t>NOX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4114800"/>
            <a:ext cx="54864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700" b="1" i="0" spc="140">
                <a:solidFill>
                  <a:srgbClr val="A9BEDF"/>
                </a:solidFill>
                <a:latin typeface="Calibri"/>
              </a:rPr>
              <a:t>PROBLEM STATEMENT TITLE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Calibri"/>
              </a:rPr>
              <a:t>Cryptographic Attribution and Immutable Decryption Provenance for Multi-Recipient Encrypted Document Distribution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809744"/>
            <a:ext cx="54864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27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qr_li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983480"/>
            <a:ext cx="877824" cy="87782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82496" y="4992624"/>
            <a:ext cx="420624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00" b="1" i="0" spc="120">
                <a:solidFill>
                  <a:srgbClr val="158A5A"/>
                </a:solidFill>
                <a:latin typeface="Calibri"/>
              </a:rPr>
              <a:t>LIVE WORKING PROTOTYPE  ·  SCAN IT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400" b="1" i="0">
                <a:solidFill>
                  <a:srgbClr val="0E1F42"/>
                </a:solidFill>
                <a:latin typeface="Calibri"/>
              </a:rPr>
              <a:t>pqfw.onrender.com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4627A"/>
                </a:solidFill>
                <a:latin typeface="Calibri"/>
              </a:rPr>
              <a:t>Real ML-KEM-768 / ML-DSA-65 computed server-side.  Evaluation and attack results: evildeity-pqfw-post-quantum-watermarking.static.hf.space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618134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700" b="1" i="0" spc="140">
                <a:solidFill>
                  <a:srgbClr val="A9BEDF"/>
                </a:solidFill>
                <a:latin typeface="Calibri"/>
              </a:rPr>
              <a:t>TEAM NOX  ·  INTERNATIONAL INSTITUTE OF INFORMATION TECHNOLOGY, BHUBANESWAR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alibri"/>
              </a:rPr>
              <a:t>Alok Ranjan Tripathy  ·  Subhashree Dash  ·  Krishna Mohanty  ·  Tanisth Das  ·  Bineet Lenka  ·  Shreyas Changder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5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PQFW — A LEAK THAT NAMES ITSELF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E1F42"/>
          </a:solidFill>
          <a:ln w="19050">
            <a:solidFill>
              <a:srgbClr val="F2790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Hexagon 15361"/>
          <p:cNvSpPr/>
          <p:nvPr/>
        </p:nvSpPr>
        <p:spPr>
          <a:xfrm rot="5400000">
            <a:off x="3657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749808" y="1143000"/>
            <a:ext cx="6839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1554480"/>
            <a:ext cx="7223760" cy="2157984"/>
          </a:xfrm>
          <a:prstGeom prst="roundRect">
            <a:avLst>
              <a:gd name="adj" fmla="val 3500"/>
            </a:avLst>
          </a:prstGeom>
          <a:solidFill>
            <a:srgbClr val="0E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85216" y="1645920"/>
            <a:ext cx="4937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120">
                <a:solidFill>
                  <a:srgbClr val="A9BEDF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585216" y="1883664"/>
            <a:ext cx="1490472" cy="1188720"/>
          </a:xfrm>
          <a:prstGeom prst="roundRect">
            <a:avLst>
              <a:gd name="adj" fmla="val 9000"/>
            </a:avLst>
          </a:prstGeom>
          <a:solidFill>
            <a:srgbClr val="0E1F42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7" name="Picture 15366" descr="docu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2020824"/>
            <a:ext cx="274320" cy="274320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649224" y="2386584"/>
            <a:ext cx="136245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A9BEDF"/>
                </a:solidFill>
                <a:latin typeface="Calibri"/>
              </a:rPr>
              <a:t>Split the document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7A92BB"/>
                </a:solidFill>
                <a:latin typeface="Calibri"/>
              </a:rPr>
              <a:t>base body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7A92BB"/>
                </a:solidFill>
                <a:latin typeface="Calibri"/>
              </a:rPr>
              <a:t>+ m invisible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7A92BB"/>
                </a:solidFill>
                <a:latin typeface="Calibri"/>
              </a:rPr>
              <a:t>mark slots</a:t>
            </a:r>
          </a:p>
        </p:txBody>
      </p:sp>
      <p:cxnSp>
        <p:nvCxnSpPr>
          <p:cNvPr id="15369" name="Connector 15368"/>
          <p:cNvCxnSpPr/>
          <p:nvPr/>
        </p:nvCxnSpPr>
        <p:spPr>
          <a:xfrm>
            <a:off x="2103120" y="2478024"/>
            <a:ext cx="219456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Rounded Rectangle 15369"/>
          <p:cNvSpPr/>
          <p:nvPr/>
        </p:nvSpPr>
        <p:spPr>
          <a:xfrm>
            <a:off x="2350008" y="1883664"/>
            <a:ext cx="1490472" cy="1188720"/>
          </a:xfrm>
          <a:prstGeom prst="roundRect">
            <a:avLst>
              <a:gd name="adj" fmla="val 9000"/>
            </a:avLst>
          </a:prstGeom>
          <a:solidFill>
            <a:srgbClr val="C25B02"/>
          </a:solidFill>
          <a:ln w="15875">
            <a:solidFill>
              <a:srgbClr val="F27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1" name="Picture 15370" descr="twocop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084" y="2020824"/>
            <a:ext cx="274320" cy="274320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2414015" y="2386584"/>
            <a:ext cx="136245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Two renderings, two keys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identical to read,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encrypted under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different keys</a:t>
            </a:r>
          </a:p>
        </p:txBody>
      </p:sp>
      <p:cxnSp>
        <p:nvCxnSpPr>
          <p:cNvPr id="15373" name="Connector 15372"/>
          <p:cNvCxnSpPr/>
          <p:nvPr/>
        </p:nvCxnSpPr>
        <p:spPr>
          <a:xfrm>
            <a:off x="3867911" y="2478024"/>
            <a:ext cx="219457" cy="0"/>
          </a:xfrm>
          <a:prstGeom prst="line">
            <a:avLst/>
          </a:prstGeom>
          <a:ln w="28575">
            <a:solidFill>
              <a:srgbClr val="3D66A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4114800" y="1883664"/>
            <a:ext cx="1490472" cy="1188720"/>
          </a:xfrm>
          <a:prstGeom prst="roundRect">
            <a:avLst>
              <a:gd name="adj" fmla="val 9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5" name="Picture 15374" descr="cipher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2875" y="2020824"/>
            <a:ext cx="274320" cy="274320"/>
          </a:xfrm>
          <a:prstGeom prst="rect">
            <a:avLst/>
          </a:prstGeom>
        </p:spPr>
      </p:pic>
      <p:sp>
        <p:nvSpPr>
          <p:cNvPr id="15376" name="TextBox 15375"/>
          <p:cNvSpPr txBox="1"/>
          <p:nvPr/>
        </p:nvSpPr>
        <p:spPr>
          <a:xfrm>
            <a:off x="4178808" y="2386584"/>
            <a:ext cx="136245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One ciphertext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broadcast to all N,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byte-identical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for everybody</a:t>
            </a:r>
          </a:p>
        </p:txBody>
      </p:sp>
      <p:cxnSp>
        <p:nvCxnSpPr>
          <p:cNvPr id="15377" name="Connector 15376"/>
          <p:cNvCxnSpPr/>
          <p:nvPr/>
        </p:nvCxnSpPr>
        <p:spPr>
          <a:xfrm>
            <a:off x="5632704" y="2478024"/>
            <a:ext cx="219456" cy="0"/>
          </a:xfrm>
          <a:prstGeom prst="line">
            <a:avLst/>
          </a:prstGeom>
          <a:ln w="28575">
            <a:solidFill>
              <a:srgbClr val="22B1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Rounded Rectangle 15377"/>
          <p:cNvSpPr/>
          <p:nvPr/>
        </p:nvSpPr>
        <p:spPr>
          <a:xfrm>
            <a:off x="5879592" y="1883664"/>
            <a:ext cx="1490472" cy="1188720"/>
          </a:xfrm>
          <a:prstGeom prst="roundRect">
            <a:avLst>
              <a:gd name="adj" fmla="val 9000"/>
            </a:avLst>
          </a:prstGeom>
          <a:solidFill>
            <a:srgbClr val="158A5A"/>
          </a:solidFill>
          <a:ln w="15875">
            <a:solidFill>
              <a:srgbClr val="22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9" name="Picture 15378" descr="key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667" y="2020824"/>
            <a:ext cx="274320" cy="274320"/>
          </a:xfrm>
          <a:prstGeom prst="rect">
            <a:avLst/>
          </a:prstGeom>
        </p:spPr>
      </p:pic>
      <p:sp>
        <p:nvSpPr>
          <p:cNvPr id="15380" name="TextBox 15379"/>
          <p:cNvSpPr txBox="1"/>
          <p:nvPr/>
        </p:nvSpPr>
        <p:spPr>
          <a:xfrm>
            <a:off x="5943600" y="2386584"/>
            <a:ext cx="1362455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One key each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recipient holds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1 of the 2 keys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per slot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585216" y="3182112"/>
            <a:ext cx="678484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9BEDF"/>
                </a:solidFill>
                <a:latin typeface="Calibri"/>
              </a:rPr>
              <a:t>The fingerprint is not something their software chose to add — it is a consequence of </a:t>
            </a:r>
            <a:r>
              <a:rPr sz="900" b="1">
                <a:solidFill>
                  <a:srgbClr val="FFFFFF"/>
                </a:solidFill>
                <a:latin typeface="Calibri"/>
              </a:rPr>
              <a:t>which keys they hold</a:t>
            </a:r>
            <a:r>
              <a:rPr sz="900" b="0">
                <a:solidFill>
                  <a:srgbClr val="A9BEDF"/>
                </a:solidFill>
                <a:latin typeface="Calibri"/>
              </a:rPr>
              <a:t>. The other rendering is an AES-GCM tag failure for them, and </a:t>
            </a:r>
            <a:r>
              <a:rPr sz="900" b="1">
                <a:solidFill>
                  <a:srgbClr val="FFFFFF"/>
                </a:solidFill>
                <a:latin typeface="Calibri"/>
              </a:rPr>
              <a:t>no unmarked copy exists anywhere</a:t>
            </a:r>
            <a:r>
              <a:rPr sz="900" b="0">
                <a:solidFill>
                  <a:srgbClr val="A9BEDF"/>
                </a:solidFill>
                <a:latin typeface="Calibri"/>
              </a:rPr>
              <a:t> — not in the package, not in transit, not on the sender's disk.</a:t>
            </a:r>
          </a:p>
        </p:txBody>
      </p:sp>
      <p:sp>
        <p:nvSpPr>
          <p:cNvPr id="15382" name="Hexagon 15381"/>
          <p:cNvSpPr/>
          <p:nvPr/>
        </p:nvSpPr>
        <p:spPr>
          <a:xfrm rot="5400000">
            <a:off x="365760" y="3849624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749808" y="3831335"/>
            <a:ext cx="6839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384048" y="4242816"/>
            <a:ext cx="72054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30" b="0" i="0">
                <a:solidFill>
                  <a:srgbClr val="161D2B"/>
                </a:solidFill>
                <a:latin typeface="Calibri"/>
              </a:rPr>
              <a:t>▪  Today every cleared recipient is an equally plausible suspect — the decrypted bytes are identical for all of them.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30" b="0" i="0">
                <a:solidFill>
                  <a:srgbClr val="161D2B"/>
                </a:solidFill>
                <a:latin typeface="Calibri"/>
              </a:rPr>
              <a:t>▪  PQFW makes each copy forensically distinct while visually identical: a leak resolves to one recipient and one decryption session.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30" b="0" i="0">
                <a:solidFill>
                  <a:srgbClr val="161D2B"/>
                </a:solidFill>
                <a:latin typeface="Calibri"/>
              </a:rPr>
              <a:t>▪  Access logs can be edited by an administrator; a static watermark is the same for everyone. Both are replaced, not patched.</a:t>
            </a:r>
          </a:p>
        </p:txBody>
      </p:sp>
      <p:sp>
        <p:nvSpPr>
          <p:cNvPr id="15385" name="Hexagon 15384"/>
          <p:cNvSpPr/>
          <p:nvPr/>
        </p:nvSpPr>
        <p:spPr>
          <a:xfrm rot="5400000">
            <a:off x="365760" y="4983480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749808" y="4965192"/>
            <a:ext cx="68397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What the system actually returns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65760" y="5358384"/>
            <a:ext cx="7223760" cy="841248"/>
          </a:xfrm>
          <a:prstGeom prst="roundRect">
            <a:avLst>
              <a:gd name="adj" fmla="val 6000"/>
            </a:avLst>
          </a:prstGeom>
          <a:solidFill>
            <a:srgbClr val="0E1F42"/>
          </a:solidFill>
          <a:ln w="22225">
            <a:solidFill>
              <a:srgbClr val="22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88" name="Picture 15387" descr="verdi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5541264"/>
            <a:ext cx="384048" cy="384048"/>
          </a:xfrm>
          <a:prstGeom prst="rect">
            <a:avLst/>
          </a:prstGeom>
        </p:spPr>
      </p:pic>
      <p:sp>
        <p:nvSpPr>
          <p:cNvPr id="15389" name="TextBox 15388"/>
          <p:cNvSpPr txBox="1"/>
          <p:nvPr/>
        </p:nvSpPr>
        <p:spPr>
          <a:xfrm>
            <a:off x="1115568" y="5468112"/>
            <a:ext cx="3566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2B173"/>
                </a:solidFill>
                <a:latin typeface="Calibri"/>
              </a:rPr>
              <a:t>IDENTIFIED</a:t>
            </a:r>
            <a:r>
              <a:rPr sz="1400" b="1">
                <a:solidFill>
                  <a:srgbClr val="FFFFFF"/>
                </a:solidFill>
                <a:latin typeface="Calibri"/>
              </a:rPr>
              <a:t>    r07, session #0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A9BEDF"/>
                </a:solidFill>
                <a:latin typeface="Calibri"/>
              </a:rPr>
              <a:t>false-accusation probability at most 2.8 × 10⁻⁵⁹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A9BEDF"/>
                </a:solidFill>
                <a:latin typeface="Calibri"/>
              </a:rPr>
              <a:t>2 KB memo · 20 recipients · 301 mark slots · next suspect 10σ behind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864608" y="5468112"/>
            <a:ext cx="301752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730" b="1">
                <a:solidFill>
                  <a:srgbClr val="22B173"/>
                </a:solidFill>
                <a:latin typeface="Calibri"/>
              </a:rPr>
              <a:t>✓  </a:t>
            </a:r>
            <a:r>
              <a:rPr sz="730" b="0">
                <a:solidFill>
                  <a:srgbClr val="A9BEDF"/>
                </a:solidFill>
                <a:latin typeface="Calibri"/>
              </a:rPr>
              <a:t>statistical significance (provable bound &lt; α)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730" b="1">
                <a:solidFill>
                  <a:srgbClr val="22B173"/>
                </a:solidFill>
                <a:latin typeface="Calibri"/>
              </a:rPr>
              <a:t>✓  </a:t>
            </a:r>
            <a:r>
              <a:rPr sz="730" b="0">
                <a:solidFill>
                  <a:srgbClr val="A9BEDF"/>
                </a:solidFill>
                <a:latin typeface="Calibri"/>
              </a:rPr>
              <a:t>the accused's own ML-DSA-65 receipt verifies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730" b="1">
                <a:solidFill>
                  <a:srgbClr val="22B173"/>
                </a:solidFill>
                <a:latin typeface="Calibri"/>
              </a:rPr>
              <a:t>✓  </a:t>
            </a:r>
            <a:r>
              <a:rPr sz="730" b="0">
                <a:solidFill>
                  <a:srgbClr val="A9BEDF"/>
                </a:solidFill>
                <a:latin typeface="Calibri"/>
              </a:rPr>
              <a:t>ledger hash chain intact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730" b="1">
                <a:solidFill>
                  <a:srgbClr val="22B173"/>
                </a:solidFill>
                <a:latin typeface="Calibri"/>
              </a:rPr>
              <a:t>✓  </a:t>
            </a:r>
            <a:r>
              <a:rPr sz="730" b="0">
                <a:solidFill>
                  <a:srgbClr val="A9BEDF"/>
                </a:solidFill>
                <a:latin typeface="Calibri"/>
              </a:rPr>
              <a:t>block committed by 2 of 3 validators</a:t>
            </a:r>
          </a:p>
          <a:p>
            <a:pPr algn="l">
              <a:spcBef>
                <a:spcPts val="0"/>
              </a:spcBef>
              <a:spcAft>
                <a:spcPts val="140"/>
              </a:spcAft>
            </a:pPr>
            <a:r>
              <a:rPr sz="730" b="1">
                <a:solidFill>
                  <a:srgbClr val="22B173"/>
                </a:solidFill>
                <a:latin typeface="Calibri"/>
              </a:rPr>
              <a:t>✓  </a:t>
            </a:r>
            <a:r>
              <a:rPr sz="730" b="0">
                <a:solidFill>
                  <a:srgbClr val="A9BEDF"/>
                </a:solidFill>
                <a:latin typeface="Calibri"/>
              </a:rPr>
              <a:t>Merkle inclusion proof to the signed root</a:t>
            </a:r>
          </a:p>
        </p:txBody>
      </p:sp>
      <p:sp>
        <p:nvSpPr>
          <p:cNvPr id="15391" name="Hexagon 15390"/>
          <p:cNvSpPr/>
          <p:nvPr/>
        </p:nvSpPr>
        <p:spPr>
          <a:xfrm rot="5400000">
            <a:off x="781812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8202168" y="1143000"/>
            <a:ext cx="36210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7818120" y="1554480"/>
            <a:ext cx="4005072" cy="84124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Hexagon 15393"/>
          <p:cNvSpPr/>
          <p:nvPr/>
        </p:nvSpPr>
        <p:spPr>
          <a:xfrm rot="5400000">
            <a:off x="7973568" y="1828800"/>
            <a:ext cx="237744" cy="209214"/>
          </a:xfrm>
          <a:prstGeom prst="hexagon">
            <a:avLst/>
          </a:prstGeom>
          <a:solidFill>
            <a:srgbClr val="1B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366760" y="1682495"/>
            <a:ext cx="329183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B335E"/>
                </a:solidFill>
                <a:latin typeface="Calibri"/>
              </a:rPr>
              <a:t>Enforced by keys, not software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27A"/>
                </a:solidFill>
                <a:latin typeface="Calibri"/>
              </a:rPr>
              <a:t>Patching the client does not help. There is no code path around a tag check.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7818120" y="2487168"/>
            <a:ext cx="4005072" cy="84124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Hexagon 15396"/>
          <p:cNvSpPr/>
          <p:nvPr/>
        </p:nvSpPr>
        <p:spPr>
          <a:xfrm rot="5400000">
            <a:off x="7973568" y="2761487"/>
            <a:ext cx="237744" cy="209214"/>
          </a:xfrm>
          <a:prstGeom prst="hexagon">
            <a:avLst/>
          </a:prstGeom>
          <a:solidFill>
            <a:srgbClr val="1B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8366760" y="2615184"/>
            <a:ext cx="329183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B335E"/>
                </a:solidFill>
                <a:latin typeface="Calibri"/>
              </a:rPr>
              <a:t>A provable error bound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27A"/>
                </a:solidFill>
                <a:latin typeface="Calibri"/>
              </a:rPr>
              <a:t>Chernoff bound from the code's own biases — not the Gaussian p-value, which we measured as anti-conservative.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7818120" y="3419856"/>
            <a:ext cx="4005072" cy="84124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0" name="Hexagon 15399"/>
          <p:cNvSpPr/>
          <p:nvPr/>
        </p:nvSpPr>
        <p:spPr>
          <a:xfrm rot="5400000">
            <a:off x="7973568" y="3694176"/>
            <a:ext cx="237744" cy="209214"/>
          </a:xfrm>
          <a:prstGeom prst="hexagon">
            <a:avLst/>
          </a:prstGeom>
          <a:solidFill>
            <a:srgbClr val="1B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8366760" y="3547872"/>
            <a:ext cx="329183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B335E"/>
                </a:solidFill>
                <a:latin typeface="Calibri"/>
              </a:rPr>
              <a:t>It refuses to guess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27A"/>
                </a:solidFill>
                <a:latin typeface="Calibri"/>
              </a:rPr>
              <a:t>When evidence is thin the verdict is NO IDENTIFICATION — never the wrong person.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7818120" y="4352544"/>
            <a:ext cx="4005072" cy="84124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Hexagon 15402"/>
          <p:cNvSpPr/>
          <p:nvPr/>
        </p:nvSpPr>
        <p:spPr>
          <a:xfrm rot="5400000">
            <a:off x="7973568" y="4626864"/>
            <a:ext cx="237744" cy="209214"/>
          </a:xfrm>
          <a:prstGeom prst="hexagon">
            <a:avLst/>
          </a:prstGeom>
          <a:solidFill>
            <a:srgbClr val="1B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8366760" y="4480559"/>
            <a:ext cx="329183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B335E"/>
                </a:solidFill>
                <a:latin typeface="Calibri"/>
              </a:rPr>
              <a:t>Session-level attribution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4627A"/>
                </a:solidFill>
                <a:latin typeface="Calibri"/>
              </a:rPr>
              <a:t>Two opens by one person give two fingerprints and two ledger records.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7818120" y="5376671"/>
            <a:ext cx="4005072" cy="786384"/>
          </a:xfrm>
          <a:prstGeom prst="roundRect">
            <a:avLst>
              <a:gd name="adj" fmla="val 7000"/>
            </a:avLst>
          </a:prstGeom>
          <a:solidFill>
            <a:srgbClr val="0E1F42"/>
          </a:solidFill>
          <a:ln w="19050">
            <a:solidFill>
              <a:srgbClr val="F27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6" name="TextBox 15405"/>
          <p:cNvSpPr txBox="1"/>
          <p:nvPr/>
        </p:nvSpPr>
        <p:spPr>
          <a:xfrm>
            <a:off x="8001000" y="5486399"/>
            <a:ext cx="363931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40" b="1" i="0" spc="120">
                <a:solidFill>
                  <a:srgbClr val="F2790D"/>
                </a:solidFill>
                <a:latin typeface="Calibri"/>
              </a:rPr>
              <a:t>NOT A CONCEPT — IT IS RUNNING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pqfw.onrender.com</a:t>
            </a:r>
            <a:r>
              <a:rPr sz="1050" b="0">
                <a:solidFill>
                  <a:srgbClr val="A9BEDF"/>
                </a:solidFill>
                <a:latin typeface="Calibri"/>
              </a:rPr>
              <a:t>     170 automated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E1F42"/>
          </a:solidFill>
          <a:ln w="19050">
            <a:solidFill>
              <a:srgbClr val="F2790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70432"/>
            <a:ext cx="7918704" cy="5047488"/>
          </a:xfrm>
          <a:prstGeom prst="roundRect">
            <a:avLst>
              <a:gd name="adj" fmla="val 3500"/>
            </a:avLst>
          </a:prstGeom>
          <a:solidFill>
            <a:srgbClr val="0E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1298448"/>
            <a:ext cx="5486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End-to-end flow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A9BEDF"/>
                </a:solidFill>
                <a:latin typeface="Calibri"/>
              </a:rPr>
              <a:t>distribute · decrypt &amp; record · trace — every stage runs offline</a:t>
            </a:r>
          </a:p>
        </p:txBody>
      </p:sp>
      <p:sp>
        <p:nvSpPr>
          <p:cNvPr id="17412" name="Hexagon 17411"/>
          <p:cNvSpPr/>
          <p:nvPr/>
        </p:nvSpPr>
        <p:spPr>
          <a:xfrm rot="5400000">
            <a:off x="640080" y="1655064"/>
            <a:ext cx="256032" cy="225308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08" y="1708830"/>
            <a:ext cx="117774" cy="11777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87552" y="167335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spc="140">
                <a:solidFill>
                  <a:srgbClr val="F2790D"/>
                </a:solidFill>
                <a:latin typeface="Calibri"/>
              </a:rPr>
              <a:t>DISTRIBUTE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0080" y="1956816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0E1F42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docu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093976"/>
            <a:ext cx="274320" cy="2743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704088" y="2459736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A9BEDF"/>
                </a:solidFill>
                <a:latin typeface="Calibri"/>
              </a:rPr>
              <a:t>Sender's document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7A92BB"/>
                </a:solidFill>
                <a:latin typeface="Calibri"/>
              </a:rPr>
              <a:t>split into base +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7A92BB"/>
                </a:solidFill>
                <a:latin typeface="Calibri"/>
              </a:rPr>
              <a:t>m mark slots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2304288" y="2459736"/>
            <a:ext cx="228600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2551176" y="1956816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C25B02"/>
          </a:solidFill>
          <a:ln w="15875">
            <a:solidFill>
              <a:srgbClr val="F27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2093976"/>
            <a:ext cx="274320" cy="27432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2615184" y="2459736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Variant encryption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AES-256-GCM, a different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key per rendering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4215383" y="2459736"/>
            <a:ext cx="228600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4462272" y="1956816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key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2093976"/>
            <a:ext cx="274320" cy="27432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4526280" y="2459736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Key bundles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wrapped with ML-KEM-768,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one key per slot each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6126479" y="2459736"/>
            <a:ext cx="228600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6373368" y="1956816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8" name="Picture 17427" descr="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2093976"/>
            <a:ext cx="274320" cy="274320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6437376" y="2459736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One package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identical ciphertext for all N,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116 KB shared + 34 KB each</a:t>
            </a:r>
          </a:p>
        </p:txBody>
      </p:sp>
      <p:sp>
        <p:nvSpPr>
          <p:cNvPr id="17430" name="Hexagon 17429"/>
          <p:cNvSpPr/>
          <p:nvPr/>
        </p:nvSpPr>
        <p:spPr>
          <a:xfrm rot="5400000">
            <a:off x="640080" y="3081528"/>
            <a:ext cx="256032" cy="225308"/>
          </a:xfrm>
          <a:prstGeom prst="hexagon">
            <a:avLst/>
          </a:prstGeom>
          <a:solidFill>
            <a:srgbClr val="22B1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1" name="Picture 17430" descr="recei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208" y="3135294"/>
            <a:ext cx="117774" cy="117774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987552" y="309981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spc="140">
                <a:solidFill>
                  <a:srgbClr val="22B173"/>
                </a:solidFill>
                <a:latin typeface="Calibri"/>
              </a:rPr>
              <a:t>DECRYPT &amp; RECORD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40080" y="3383280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4" name="Picture 17433" descr="un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" y="3520440"/>
            <a:ext cx="274320" cy="274320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704088" y="3886200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Recipient decrypts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unwraps bundle,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spends one session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2304288" y="3886200"/>
            <a:ext cx="228600" cy="0"/>
          </a:xfrm>
          <a:prstGeom prst="line">
            <a:avLst/>
          </a:prstGeom>
          <a:ln w="28575">
            <a:solidFill>
              <a:srgbClr val="22B1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2551176" y="3383280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158A5A"/>
          </a:solidFill>
          <a:ln w="15875">
            <a:solidFill>
              <a:srgbClr val="22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8" name="Picture 17437" descr="fingerpr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6976" y="3520440"/>
            <a:ext cx="274320" cy="274320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2615184" y="3886200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Uniquely marked copy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one rendering per slot;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the other is a tag failure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4215383" y="3886200"/>
            <a:ext cx="228600" cy="0"/>
          </a:xfrm>
          <a:prstGeom prst="line">
            <a:avLst/>
          </a:prstGeom>
          <a:ln w="28575">
            <a:solidFill>
              <a:srgbClr val="22B1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4462272" y="3383280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158A5A"/>
          </a:solidFill>
          <a:ln w="15875">
            <a:solidFill>
              <a:srgbClr val="22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2" name="Picture 17441" descr="recei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72" y="3520440"/>
            <a:ext cx="274320" cy="27432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4526280" y="3886200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Signed receipt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ML-DSA-65, the recipient's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own private key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6126479" y="3886200"/>
            <a:ext cx="228600" cy="0"/>
          </a:xfrm>
          <a:prstGeom prst="line">
            <a:avLst/>
          </a:prstGeom>
          <a:ln w="28575">
            <a:solidFill>
              <a:srgbClr val="22B1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6373368" y="3383280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158A5A"/>
          </a:solidFill>
          <a:ln w="15875">
            <a:solidFill>
              <a:srgbClr val="22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6" name="Picture 17445" descr="ledg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168" y="3520440"/>
            <a:ext cx="274320" cy="274320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6437376" y="3886200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Distributed ledger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3 validator replicas,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CCF0DF"/>
                </a:solidFill>
                <a:latin typeface="Calibri"/>
              </a:rPr>
              <a:t>2-of-3 block commit</a:t>
            </a:r>
          </a:p>
        </p:txBody>
      </p:sp>
      <p:sp>
        <p:nvSpPr>
          <p:cNvPr id="17448" name="Hexagon 17447"/>
          <p:cNvSpPr/>
          <p:nvPr/>
        </p:nvSpPr>
        <p:spPr>
          <a:xfrm rot="5400000">
            <a:off x="640080" y="4507992"/>
            <a:ext cx="256032" cy="225308"/>
          </a:xfrm>
          <a:prstGeom prst="hexagon">
            <a:avLst/>
          </a:prstGeom>
          <a:solidFill>
            <a:srgbClr val="1C9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9" name="Picture 17448" descr="looku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9208" y="4561758"/>
            <a:ext cx="117774" cy="117774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987552" y="4526280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spc="140">
                <a:solidFill>
                  <a:srgbClr val="1C9EB8"/>
                </a:solidFill>
                <a:latin typeface="Calibri"/>
              </a:rPr>
              <a:t>TRACE A LEAK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640080" y="4809744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0E1F42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2" name="Picture 17451" descr="lea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5880" y="4946904"/>
            <a:ext cx="274320" cy="274320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704088" y="5312664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A9BEDF"/>
                </a:solidFill>
                <a:latin typeface="Calibri"/>
              </a:rPr>
              <a:t>Leaked copy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7A92BB"/>
                </a:solidFill>
                <a:latin typeface="Calibri"/>
              </a:rPr>
              <a:t>extract the slot bits</a:t>
            </a:r>
          </a:p>
        </p:txBody>
      </p:sp>
      <p:cxnSp>
        <p:nvCxnSpPr>
          <p:cNvPr id="17454" name="Connector 17453"/>
          <p:cNvCxnSpPr/>
          <p:nvPr/>
        </p:nvCxnSpPr>
        <p:spPr>
          <a:xfrm>
            <a:off x="2304288" y="5312664"/>
            <a:ext cx="228600" cy="0"/>
          </a:xfrm>
          <a:prstGeom prst="line">
            <a:avLst/>
          </a:prstGeom>
          <a:ln w="28575">
            <a:solidFill>
              <a:srgbClr val="1C9E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Rounded Rectangle 17454"/>
          <p:cNvSpPr/>
          <p:nvPr/>
        </p:nvSpPr>
        <p:spPr>
          <a:xfrm>
            <a:off x="2551176" y="4809744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6" name="Picture 17455" descr="sco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6976" y="4946904"/>
            <a:ext cx="274320" cy="274320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2615184" y="5312664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Tardos scoring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score against every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issued codeword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4215383" y="5312664"/>
            <a:ext cx="228600" cy="0"/>
          </a:xfrm>
          <a:prstGeom prst="line">
            <a:avLst/>
          </a:prstGeom>
          <a:ln w="28575">
            <a:solidFill>
              <a:srgbClr val="1C9E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Rounded Rectangle 17458"/>
          <p:cNvSpPr/>
          <p:nvPr/>
        </p:nvSpPr>
        <p:spPr>
          <a:xfrm>
            <a:off x="4462272" y="4809744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234276"/>
          </a:solidFill>
          <a:ln w="15875">
            <a:solidFill>
              <a:srgbClr val="3D66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0" name="Picture 17459" descr="looku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8072" y="4946904"/>
            <a:ext cx="274320" cy="274320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4526280" y="5312664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Ledger lookup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commitment → receipt,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A9BEDF"/>
                </a:solidFill>
                <a:latin typeface="Calibri"/>
              </a:rPr>
              <a:t>signature + quorum checked</a:t>
            </a:r>
          </a:p>
        </p:txBody>
      </p:sp>
      <p:cxnSp>
        <p:nvCxnSpPr>
          <p:cNvPr id="17462" name="Connector 17461"/>
          <p:cNvCxnSpPr/>
          <p:nvPr/>
        </p:nvCxnSpPr>
        <p:spPr>
          <a:xfrm>
            <a:off x="6126479" y="5312664"/>
            <a:ext cx="228600" cy="0"/>
          </a:xfrm>
          <a:prstGeom prst="line">
            <a:avLst/>
          </a:prstGeom>
          <a:ln w="28575">
            <a:solidFill>
              <a:srgbClr val="F2790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3" name="Rounded Rectangle 17462"/>
          <p:cNvSpPr/>
          <p:nvPr/>
        </p:nvSpPr>
        <p:spPr>
          <a:xfrm>
            <a:off x="6373368" y="4809744"/>
            <a:ext cx="1645920" cy="1005840"/>
          </a:xfrm>
          <a:prstGeom prst="roundRect">
            <a:avLst>
              <a:gd name="adj" fmla="val 9000"/>
            </a:avLst>
          </a:prstGeom>
          <a:solidFill>
            <a:srgbClr val="C25B02"/>
          </a:solidFill>
          <a:ln w="15875">
            <a:solidFill>
              <a:srgbClr val="F27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4" name="Picture 17463" descr="verdic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9168" y="4946904"/>
            <a:ext cx="274320" cy="274320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6437376" y="5312664"/>
            <a:ext cx="151790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80" b="1" i="0">
                <a:solidFill>
                  <a:srgbClr val="FFFFFF"/>
                </a:solidFill>
                <a:latin typeface="Calibri"/>
              </a:rPr>
              <a:t>Verifiable verdict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recipient + session</a:t>
            </a:r>
          </a:p>
          <a:p>
            <a:pPr algn="ctr">
              <a:spcBef>
                <a:spcPts val="0"/>
              </a:spcBef>
              <a:spcAft>
                <a:spcPts val="50"/>
              </a:spcAft>
            </a:pPr>
            <a:r>
              <a:rPr sz="700" b="0" i="0">
                <a:solidFill>
                  <a:srgbClr val="FFE1C2"/>
                </a:solidFill>
                <a:latin typeface="Calibri"/>
              </a:rPr>
              <a:t>+ provable error bound</a:t>
            </a:r>
          </a:p>
        </p:txBody>
      </p:sp>
      <p:pic>
        <p:nvPicPr>
          <p:cNvPr id="17466" name="Picture 17465" descr="offlin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5952744"/>
            <a:ext cx="182880" cy="182880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896112" y="5952744"/>
            <a:ext cx="70957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2790D"/>
                </a:solidFill>
                <a:latin typeface="Calibri"/>
              </a:rPr>
              <a:t>Offline and air-gapped throughout — </a:t>
            </a:r>
            <a:r>
              <a:rPr sz="800" b="0">
                <a:solidFill>
                  <a:srgbClr val="A9BEDF"/>
                </a:solidFill>
                <a:latin typeface="Calibri"/>
              </a:rPr>
              <a:t>no cloud KMS, no public blockchain, no network call at any stage, asserted by a test that refuses every socket operation.</a:t>
            </a:r>
          </a:p>
        </p:txBody>
      </p:sp>
      <p:sp>
        <p:nvSpPr>
          <p:cNvPr id="17468" name="Hexagon 17467"/>
          <p:cNvSpPr/>
          <p:nvPr/>
        </p:nvSpPr>
        <p:spPr>
          <a:xfrm rot="5400000">
            <a:off x="8522208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906256" y="1143000"/>
            <a:ext cx="2916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8522208" y="1572768"/>
            <a:ext cx="3300984" cy="2999232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71" name="Picture 17470" descr="python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9952" y="1700784"/>
            <a:ext cx="347472" cy="347472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8622792" y="2093975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Python</a:t>
            </a:r>
          </a:p>
        </p:txBody>
      </p:sp>
      <p:pic>
        <p:nvPicPr>
          <p:cNvPr id="17473" name="Picture 17472" descr="fastap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81744" y="1700784"/>
            <a:ext cx="347472" cy="347472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9244584" y="2093975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FastAPI</a:t>
            </a:r>
          </a:p>
        </p:txBody>
      </p:sp>
      <p:pic>
        <p:nvPicPr>
          <p:cNvPr id="17475" name="Picture 17474" descr="numpy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03536" y="1700784"/>
            <a:ext cx="347472" cy="347472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9866376" y="2093975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NumPy</a:t>
            </a:r>
          </a:p>
        </p:txBody>
      </p:sp>
      <p:pic>
        <p:nvPicPr>
          <p:cNvPr id="17477" name="Picture 17476" descr="dock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25328" y="1700784"/>
            <a:ext cx="347472" cy="347472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10488167" y="2093975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Docker</a:t>
            </a:r>
          </a:p>
        </p:txBody>
      </p:sp>
      <p:pic>
        <p:nvPicPr>
          <p:cNvPr id="17479" name="Picture 17478" descr="linux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47119" y="1700784"/>
            <a:ext cx="347472" cy="347472"/>
          </a:xfrm>
          <a:prstGeom prst="rect">
            <a:avLst/>
          </a:prstGeom>
        </p:spPr>
      </p:pic>
      <p:sp>
        <p:nvSpPr>
          <p:cNvPr id="17480" name="TextBox 17479"/>
          <p:cNvSpPr txBox="1"/>
          <p:nvPr/>
        </p:nvSpPr>
        <p:spPr>
          <a:xfrm>
            <a:off x="11109959" y="2093975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Linux</a:t>
            </a:r>
          </a:p>
        </p:txBody>
      </p:sp>
      <p:pic>
        <p:nvPicPr>
          <p:cNvPr id="17481" name="Picture 17480" descr="pytes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59952" y="2340864"/>
            <a:ext cx="347472" cy="347472"/>
          </a:xfrm>
          <a:prstGeom prst="rect">
            <a:avLst/>
          </a:prstGeom>
        </p:spPr>
      </p:pic>
      <p:sp>
        <p:nvSpPr>
          <p:cNvPr id="17482" name="TextBox 17481"/>
          <p:cNvSpPr txBox="1"/>
          <p:nvPr/>
        </p:nvSpPr>
        <p:spPr>
          <a:xfrm>
            <a:off x="8622792" y="2734056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pytest</a:t>
            </a:r>
          </a:p>
        </p:txBody>
      </p:sp>
      <p:pic>
        <p:nvPicPr>
          <p:cNvPr id="17483" name="Picture 17482" descr="github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81744" y="2340864"/>
            <a:ext cx="347472" cy="347472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9244584" y="2734056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GitHub</a:t>
            </a:r>
          </a:p>
        </p:txBody>
      </p:sp>
      <p:pic>
        <p:nvPicPr>
          <p:cNvPr id="17485" name="Picture 17484" descr="rend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03536" y="2340864"/>
            <a:ext cx="347472" cy="347472"/>
          </a:xfrm>
          <a:prstGeom prst="rect">
            <a:avLst/>
          </a:prstGeom>
        </p:spPr>
      </p:pic>
      <p:sp>
        <p:nvSpPr>
          <p:cNvPr id="17486" name="TextBox 17485"/>
          <p:cNvSpPr txBox="1"/>
          <p:nvPr/>
        </p:nvSpPr>
        <p:spPr>
          <a:xfrm>
            <a:off x="9866376" y="2734056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Render</a:t>
            </a:r>
          </a:p>
        </p:txBody>
      </p:sp>
      <p:pic>
        <p:nvPicPr>
          <p:cNvPr id="17487" name="Picture 17486" descr="huggingfac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25328" y="2340864"/>
            <a:ext cx="347472" cy="347472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10488167" y="2734056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HF</a:t>
            </a:r>
          </a:p>
        </p:txBody>
      </p:sp>
      <p:pic>
        <p:nvPicPr>
          <p:cNvPr id="17489" name="Picture 17488" descr="bash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247119" y="2340864"/>
            <a:ext cx="347472" cy="347472"/>
          </a:xfrm>
          <a:prstGeom prst="rect">
            <a:avLst/>
          </a:prstGeom>
        </p:spPr>
      </p:pic>
      <p:sp>
        <p:nvSpPr>
          <p:cNvPr id="17490" name="TextBox 17489"/>
          <p:cNvSpPr txBox="1"/>
          <p:nvPr/>
        </p:nvSpPr>
        <p:spPr>
          <a:xfrm>
            <a:off x="11109959" y="2734056"/>
            <a:ext cx="621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C8AA3"/>
                </a:solidFill>
                <a:latin typeface="Calibri"/>
              </a:rPr>
              <a:t>Bash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8686800" y="3054096"/>
            <a:ext cx="29718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Key exchange   </a:t>
            </a:r>
            <a:r>
              <a:rPr sz="860" b="0">
                <a:solidFill>
                  <a:srgbClr val="161D2B"/>
                </a:solidFill>
                <a:latin typeface="Calibri"/>
              </a:rPr>
              <a:t>ML-KEM-768  ·  FIPS 203</a:t>
            </a:r>
          </a:p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Signatures   </a:t>
            </a:r>
            <a:r>
              <a:rPr sz="860" b="0">
                <a:solidFill>
                  <a:srgbClr val="161D2B"/>
                </a:solidFill>
                <a:latin typeface="Calibri"/>
              </a:rPr>
              <a:t>ML-DSA-65  ·  FIPS 204</a:t>
            </a:r>
          </a:p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PQC library   </a:t>
            </a:r>
            <a:r>
              <a:rPr sz="860" b="0">
                <a:solidFill>
                  <a:srgbClr val="161D2B"/>
                </a:solidFill>
                <a:latin typeface="Calibri"/>
              </a:rPr>
              <a:t>liboqs 0.16.0 (Open Quantum Safe)</a:t>
            </a:r>
          </a:p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Content   </a:t>
            </a:r>
            <a:r>
              <a:rPr sz="860" b="0">
                <a:solidFill>
                  <a:srgbClr val="161D2B"/>
                </a:solidFill>
                <a:latin typeface="Calibri"/>
              </a:rPr>
              <a:t>AES-256-GCM  ·  HKDF-SHA3-256</a:t>
            </a:r>
          </a:p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Fingerprint   </a:t>
            </a:r>
            <a:r>
              <a:rPr sz="860" b="0">
                <a:solidFill>
                  <a:srgbClr val="161D2B"/>
                </a:solidFill>
                <a:latin typeface="Calibri"/>
              </a:rPr>
              <a:t>symmetric Tardos code (Škorić)</a:t>
            </a:r>
          </a:p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Ledger   </a:t>
            </a:r>
            <a:r>
              <a:rPr sz="860" b="0">
                <a:solidFill>
                  <a:srgbClr val="161D2B"/>
                </a:solidFill>
                <a:latin typeface="Calibri"/>
              </a:rPr>
              <a:t>hash chain + Merkle blocks, 2-of-3</a:t>
            </a:r>
          </a:p>
          <a:p>
            <a:pPr algn="l">
              <a:spcBef>
                <a:spcPts val="0"/>
              </a:spcBef>
              <a:spcAft>
                <a:spcPts val="360"/>
              </a:spcAft>
            </a:pPr>
            <a:r>
              <a:rPr sz="860" b="1">
                <a:solidFill>
                  <a:srgbClr val="1B335E"/>
                </a:solidFill>
                <a:latin typeface="Calibri"/>
              </a:rPr>
              <a:t>Carriers   </a:t>
            </a:r>
            <a:r>
              <a:rPr sz="860" b="0">
                <a:solidFill>
                  <a:srgbClr val="161D2B"/>
                </a:solidFill>
                <a:latin typeface="Calibri"/>
              </a:rPr>
              <a:t>zero-width space  ·  PDF kerning</a:t>
            </a:r>
          </a:p>
        </p:txBody>
      </p:sp>
      <p:sp>
        <p:nvSpPr>
          <p:cNvPr id="17492" name="Hexagon 17491"/>
          <p:cNvSpPr/>
          <p:nvPr/>
        </p:nvSpPr>
        <p:spPr>
          <a:xfrm rot="5400000">
            <a:off x="8522208" y="4709160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8906256" y="4690872"/>
            <a:ext cx="29169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8522208" y="5102352"/>
            <a:ext cx="33009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40" b="0" i="0">
                <a:solidFill>
                  <a:srgbClr val="161D2B"/>
                </a:solidFill>
                <a:latin typeface="Calibri"/>
              </a:rPr>
              <a:t>▪  Safety and audit layers built and tested before any tracing existed.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40" b="0" i="0">
                <a:solidFill>
                  <a:srgbClr val="161D2B"/>
                </a:solidFill>
                <a:latin typeface="Calibri"/>
              </a:rPr>
              <a:t>▪  Test-first: 170 tests, including the central claim that a recipient cannot decrypt the other variant.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40" b="0" i="0">
                <a:solidFill>
                  <a:srgbClr val="161D2B"/>
                </a:solidFill>
                <a:latin typeface="Calibri"/>
              </a:rPr>
              <a:t>▪  Every attack on the carrier measured and published — including the two that still defeat it.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40" b="0" i="0">
                <a:solidFill>
                  <a:srgbClr val="161D2B"/>
                </a:solidFill>
                <a:latin typeface="Calibri"/>
              </a:rPr>
              <a:t>▪  Shipped, not staged: one container on a free tier, no GPU and no HSM.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E1F42"/>
          </a:solidFill>
          <a:ln w="19050">
            <a:solidFill>
              <a:srgbClr val="F2790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 rot="5400000">
            <a:off x="3657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49808" y="1143000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572768"/>
            <a:ext cx="3685032" cy="1645920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12064" y="1682496"/>
            <a:ext cx="33924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B335E"/>
                </a:solidFill>
                <a:latin typeface="Calibri"/>
              </a:rPr>
              <a:t>Already built and running. </a:t>
            </a:r>
            <a:r>
              <a:rPr sz="840" b="0">
                <a:solidFill>
                  <a:srgbClr val="54627A"/>
                </a:solidFill>
                <a:latin typeface="Calibri"/>
              </a:rPr>
              <a:t>Not a concept — a working deployment anyone can open right now.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B335E"/>
                </a:solidFill>
                <a:latin typeface="Calibri"/>
              </a:rPr>
              <a:t>Runs on commodity CPU. </a:t>
            </a:r>
            <a:r>
              <a:rPr sz="840" b="0">
                <a:solidFill>
                  <a:srgbClr val="54627A"/>
                </a:solidFill>
                <a:latin typeface="Calibri"/>
              </a:rPr>
              <a:t>No GPU, no HSM. The whole demo fits a free 0.1-vCPU tier.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B335E"/>
                </a:solidFill>
                <a:latin typeface="Calibri"/>
              </a:rPr>
              <a:t>Zero licensing cost. </a:t>
            </a:r>
            <a:r>
              <a:rPr sz="840" b="0">
                <a:solidFill>
                  <a:srgbClr val="54627A"/>
                </a:solidFill>
                <a:latin typeface="Calibri"/>
              </a:rPr>
              <a:t>Open-source primitives end to end; NIST-standardised, not bespoke.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B335E"/>
                </a:solidFill>
                <a:latin typeface="Calibri"/>
              </a:rPr>
              <a:t>Deploys air-gapped. </a:t>
            </a:r>
            <a:r>
              <a:rPr sz="840" b="0">
                <a:solidFill>
                  <a:srgbClr val="54627A"/>
                </a:solidFill>
                <a:latin typeface="Calibri"/>
              </a:rPr>
              <a:t>No cloud KMS, no public chain, no outbound call.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B335E"/>
                </a:solidFill>
                <a:latin typeface="Calibri"/>
              </a:rPr>
              <a:t>Drops in beside existing flows. </a:t>
            </a:r>
            <a:r>
              <a:rPr sz="840" b="0">
                <a:solidFill>
                  <a:srgbClr val="54627A"/>
                </a:solidFill>
                <a:latin typeface="Calibri"/>
              </a:rPr>
              <a:t>The sender already encrypts once for many; this replaces that step.</a:t>
            </a:r>
          </a:p>
        </p:txBody>
      </p:sp>
      <p:sp>
        <p:nvSpPr>
          <p:cNvPr id="17414" name="Hexagon 17413"/>
          <p:cNvSpPr/>
          <p:nvPr/>
        </p:nvSpPr>
        <p:spPr>
          <a:xfrm rot="5400000">
            <a:off x="42519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636008" y="1143000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51960" y="1572768"/>
            <a:ext cx="3685032" cy="1645920"/>
          </a:xfrm>
          <a:prstGeom prst="roundRect">
            <a:avLst>
              <a:gd name="adj" fmla="val 6000"/>
            </a:avLst>
          </a:prstGeom>
          <a:solidFill>
            <a:srgbClr val="FEF4E4"/>
          </a:solidFill>
          <a:ln w="15875">
            <a:solidFill>
              <a:srgbClr val="E9C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398264" y="1682496"/>
            <a:ext cx="33924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A86A08"/>
                </a:solidFill>
                <a:latin typeface="Calibri"/>
              </a:rPr>
              <a:t>Carrier fragility. </a:t>
            </a:r>
            <a:r>
              <a:rPr sz="840" b="0">
                <a:solidFill>
                  <a:srgbClr val="54627A"/>
                </a:solidFill>
                <a:latin typeface="Calibri"/>
              </a:rPr>
              <a:t>Retyping, OCR or stripping invisible characters destroys a text watermark.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A86A08"/>
                </a:solidFill>
                <a:latin typeface="Calibri"/>
              </a:rPr>
              <a:t>Repeated boilerplate. </a:t>
            </a:r>
            <a:r>
              <a:rPr sz="840" b="0">
                <a:solidFill>
                  <a:srgbClr val="54627A"/>
                </a:solidFill>
                <a:latin typeface="Calibri"/>
              </a:rPr>
              <a:t>A slot anchored to identical text is ambiguous; the tie-break is bounded, so it refuses rather than guesses.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A86A08"/>
                </a:solidFill>
                <a:latin typeface="Calibri"/>
              </a:rPr>
              <a:t>Short documents, weaker codes. </a:t>
            </a:r>
            <a:r>
              <a:rPr sz="840" b="0">
                <a:solidFill>
                  <a:srgbClr val="54627A"/>
                </a:solidFill>
                <a:latin typeface="Calibri"/>
              </a:rPr>
              <a:t>A memo holds ~300 slots; the Tardos bound asks for far more.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A86A08"/>
                </a:solidFill>
                <a:latin typeface="Calibri"/>
              </a:rPr>
              <a:t>Unframeability. </a:t>
            </a:r>
            <a:r>
              <a:rPr sz="840" b="0">
                <a:solidFill>
                  <a:srgbClr val="54627A"/>
                </a:solidFill>
                <a:latin typeface="Calibri"/>
              </a:rPr>
              <a:t>The sender knows every codeword, so this proves traceability, not non-framing.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A86A08"/>
                </a:solidFill>
                <a:latin typeface="Calibri"/>
              </a:rPr>
              <a:t>Collusion. </a:t>
            </a:r>
            <a:r>
              <a:rPr sz="840" b="0">
                <a:solidFill>
                  <a:srgbClr val="54627A"/>
                </a:solidFill>
                <a:latin typeface="Calibri"/>
              </a:rPr>
              <a:t>Recipients can compare copies and splice them together.</a:t>
            </a:r>
          </a:p>
        </p:txBody>
      </p:sp>
      <p:sp>
        <p:nvSpPr>
          <p:cNvPr id="17418" name="Hexagon 17417"/>
          <p:cNvSpPr/>
          <p:nvPr/>
        </p:nvSpPr>
        <p:spPr>
          <a:xfrm rot="5400000">
            <a:off x="81381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522208" y="1143000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38160" y="1572768"/>
            <a:ext cx="3685032" cy="1645920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 w="15875">
            <a:solidFill>
              <a:srgbClr val="94CE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284464" y="1682496"/>
            <a:ext cx="3392424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58A5A"/>
                </a:solidFill>
                <a:latin typeface="Calibri"/>
              </a:rPr>
              <a:t>Publish the attacks that win. </a:t>
            </a:r>
            <a:r>
              <a:rPr sz="840" b="0">
                <a:solidFill>
                  <a:srgbClr val="54627A"/>
                </a:solidFill>
                <a:latin typeface="Calibri"/>
              </a:rPr>
              <a:t>Each measured with its bit error rate, beside the ones survived.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58A5A"/>
                </a:solidFill>
                <a:latin typeface="Calibri"/>
              </a:rPr>
              <a:t>Fail safe, not loud. </a:t>
            </a:r>
            <a:r>
              <a:rPr sz="840" b="0">
                <a:solidFill>
                  <a:srgbClr val="54627A"/>
                </a:solidFill>
                <a:latin typeface="Calibri"/>
              </a:rPr>
              <a:t>When an attack wins the result is a failure to identify — misidentification stayed at 0.0%.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58A5A"/>
                </a:solidFill>
                <a:latin typeface="Calibri"/>
              </a:rPr>
              <a:t>Report the reachable bound. </a:t>
            </a:r>
            <a:r>
              <a:rPr sz="840" b="0">
                <a:solidFill>
                  <a:srgbClr val="54627A"/>
                </a:solidFill>
                <a:latin typeface="Calibri"/>
              </a:rPr>
              <a:t>protect states the best error probability the document supports, before sending.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58A5A"/>
                </a:solidFill>
                <a:latin typeface="Calibri"/>
              </a:rPr>
              <a:t>Tardos codes for collusion. </a:t>
            </a:r>
            <a:r>
              <a:rPr sz="840" b="0">
                <a:solidFill>
                  <a:srgbClr val="54627A"/>
                </a:solidFill>
                <a:latin typeface="Calibri"/>
              </a:rPr>
              <a:t>Where colluders agree they are stuck — no one holds the other key.</a:t>
            </a:r>
          </a:p>
          <a:p>
            <a:pPr algn="l">
              <a:spcBef>
                <a:spcPts val="0"/>
              </a:spcBef>
              <a:spcAft>
                <a:spcPts val="459"/>
              </a:spcAft>
            </a:pPr>
            <a:r>
              <a:rPr sz="840" b="1">
                <a:solidFill>
                  <a:srgbClr val="158A5A"/>
                </a:solidFill>
                <a:latin typeface="Calibri"/>
              </a:rPr>
              <a:t>Content-anchored slots. </a:t>
            </a:r>
            <a:r>
              <a:rPr sz="840" b="0">
                <a:solidFill>
                  <a:srgbClr val="54627A"/>
                </a:solidFill>
                <a:latin typeface="Calibri"/>
              </a:rPr>
              <a:t>Shipped. Addressed by the text before the slot, so an edit elsewhere cannot move it.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3383280"/>
            <a:ext cx="11457432" cy="1700784"/>
          </a:xfrm>
          <a:prstGeom prst="roundRect">
            <a:avLst>
              <a:gd name="adj" fmla="val 3500"/>
            </a:avLst>
          </a:prstGeom>
          <a:solidFill>
            <a:srgbClr val="0E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3474720"/>
            <a:ext cx="3950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2790D"/>
                </a:solidFill>
                <a:latin typeface="Calibri"/>
              </a:rPr>
              <a:t>Destroy the marks and it goes quiet, never wrong</a:t>
            </a:r>
          </a:p>
        </p:txBody>
      </p:sp>
      <p:pic>
        <p:nvPicPr>
          <p:cNvPr id="17424" name="Picture 17423" descr="era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639312"/>
            <a:ext cx="3950208" cy="1298448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4663440" y="3474720"/>
            <a:ext cx="39502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2790D"/>
                </a:solidFill>
                <a:latin typeface="Calibri"/>
              </a:rPr>
              <a:t>Colluders splicing copies, against the theory's own bound</a:t>
            </a:r>
          </a:p>
        </p:txBody>
      </p:sp>
      <p:pic>
        <p:nvPicPr>
          <p:cNvPr id="17426" name="Picture 17425" descr="coll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639312"/>
            <a:ext cx="3950208" cy="1298448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8869680" y="3474720"/>
            <a:ext cx="2834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spc="120">
                <a:solidFill>
                  <a:srgbClr val="F2790D"/>
                </a:solidFill>
                <a:latin typeface="Calibri"/>
              </a:rPr>
              <a:t>MEASURED, NOT ASSERTED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869680" y="3694176"/>
            <a:ext cx="2834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2.8 × 10⁻⁵⁹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9BEDF"/>
                </a:solidFill>
                <a:latin typeface="Calibri"/>
              </a:rPr>
              <a:t>provable false-accusation bound on the live demo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869680" y="4114800"/>
            <a:ext cx="2834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790D"/>
                </a:solidFill>
                <a:latin typeface="Calibri"/>
              </a:rPr>
              <a:t>2 of 13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9BEDF"/>
                </a:solidFill>
                <a:latin typeface="Calibri"/>
              </a:rPr>
              <a:t>attacks still defeat the carrier — was 4, both published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869680" y="4535424"/>
            <a:ext cx="28346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B173"/>
                </a:solidFill>
                <a:latin typeface="Calibri"/>
              </a:rPr>
              <a:t>170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A9BEDF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17431" name="Hexagon 17430"/>
          <p:cNvSpPr/>
          <p:nvPr/>
        </p:nvSpPr>
        <p:spPr>
          <a:xfrm rot="5400000">
            <a:off x="365760" y="5202936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49808" y="5184648"/>
            <a:ext cx="11073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Path to deployment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65760" y="5522976"/>
            <a:ext cx="2631186" cy="749808"/>
          </a:xfrm>
          <a:prstGeom prst="roundRect">
            <a:avLst>
              <a:gd name="adj" fmla="val 7000"/>
            </a:avLst>
          </a:prstGeom>
          <a:solidFill>
            <a:srgbClr val="E7F6EE"/>
          </a:solidFill>
          <a:ln w="15875">
            <a:solidFill>
              <a:srgbClr val="94CE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512064" y="5614416"/>
            <a:ext cx="233857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80" b="1" i="0" spc="140">
                <a:solidFill>
                  <a:srgbClr val="158A5A"/>
                </a:solidFill>
                <a:latin typeface="Calibri"/>
              </a:rPr>
              <a:t>NOW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40" b="1" i="0">
                <a:solidFill>
                  <a:srgbClr val="1B335E"/>
                </a:solidFill>
                <a:latin typeface="Calibri"/>
              </a:rPr>
              <a:t>Working prototype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4627A"/>
                </a:solidFill>
                <a:latin typeface="Calibri"/>
              </a:rPr>
              <a:t>content-anchored carriers, 3-validator ledger, live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3042665" y="5897880"/>
            <a:ext cx="219457" cy="0"/>
          </a:xfrm>
          <a:prstGeom prst="line">
            <a:avLst/>
          </a:prstGeom>
          <a:ln w="28575">
            <a:solidFill>
              <a:srgbClr val="1B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3307841" y="5522976"/>
            <a:ext cx="2631186" cy="74980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454146" y="5614416"/>
            <a:ext cx="233857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80" b="1" i="0" spc="140">
                <a:solidFill>
                  <a:srgbClr val="7C8AA3"/>
                </a:solidFill>
                <a:latin typeface="Calibri"/>
              </a:rPr>
              <a:t>NEXT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40" b="1" i="0">
                <a:solidFill>
                  <a:srgbClr val="1B335E"/>
                </a:solidFill>
                <a:latin typeface="Calibri"/>
              </a:rPr>
              <a:t>Lexical carrier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4627A"/>
                </a:solidFill>
                <a:latin typeface="Calibri"/>
              </a:rPr>
              <a:t>marks in word choice, to survive OCR and retyping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5984747" y="5897880"/>
            <a:ext cx="219456" cy="0"/>
          </a:xfrm>
          <a:prstGeom prst="line">
            <a:avLst/>
          </a:prstGeom>
          <a:ln w="28575">
            <a:solidFill>
              <a:srgbClr val="1B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6249923" y="5522976"/>
            <a:ext cx="2631186" cy="74980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396227" y="5614416"/>
            <a:ext cx="233857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80" b="1" i="0" spc="140">
                <a:solidFill>
                  <a:srgbClr val="7C8AA3"/>
                </a:solidFill>
                <a:latin typeface="Calibri"/>
              </a:rPr>
              <a:t>THEN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40" b="1" i="0">
                <a:solidFill>
                  <a:srgbClr val="1B335E"/>
                </a:solidFill>
                <a:latin typeface="Calibri"/>
              </a:rPr>
              <a:t>Departmental pilot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4627A"/>
                </a:solidFill>
                <a:latin typeface="Calibri"/>
              </a:rPr>
              <a:t>validators held by three separate offices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8926830" y="5897880"/>
            <a:ext cx="219456" cy="0"/>
          </a:xfrm>
          <a:prstGeom prst="line">
            <a:avLst/>
          </a:prstGeom>
          <a:ln w="28575">
            <a:solidFill>
              <a:srgbClr val="1B33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9192005" y="5522976"/>
            <a:ext cx="2631186" cy="749808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9338309" y="5614416"/>
            <a:ext cx="233857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80" b="1" i="0" spc="140">
                <a:solidFill>
                  <a:srgbClr val="7C8AA3"/>
                </a:solidFill>
                <a:latin typeface="Calibri"/>
              </a:rPr>
              <a:t>SCALE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40" b="1" i="0">
                <a:solidFill>
                  <a:srgbClr val="1B335E"/>
                </a:solidFill>
                <a:latin typeface="Calibri"/>
              </a:rPr>
              <a:t>Cross-organisation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4627A"/>
                </a:solidFill>
                <a:latin typeface="Calibri"/>
              </a:rPr>
              <a:t>one validator per participating body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E1F42"/>
          </a:solidFill>
          <a:ln w="19050">
            <a:solidFill>
              <a:srgbClr val="F2790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 rot="5400000">
            <a:off x="3657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49808" y="1143000"/>
            <a:ext cx="5321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572768"/>
            <a:ext cx="5705856" cy="1700784"/>
          </a:xfrm>
          <a:prstGeom prst="roundRect">
            <a:avLst>
              <a:gd name="adj" fmla="val 6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30352" y="1682496"/>
            <a:ext cx="5376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40" b="1">
                <a:solidFill>
                  <a:srgbClr val="1B335E"/>
                </a:solidFill>
                <a:latin typeface="Calibri"/>
              </a:rPr>
              <a:t>Service headquarters. </a:t>
            </a:r>
            <a:r>
              <a:rPr sz="940" b="0">
                <a:solidFill>
                  <a:srgbClr val="54627A"/>
                </a:solidFill>
                <a:latin typeface="Calibri"/>
              </a:rPr>
              <a:t>Operational orders and classified assessments become individually accountable, not collectively deniable.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40" b="1">
                <a:solidFill>
                  <a:srgbClr val="1B335E"/>
                </a:solidFill>
                <a:latin typeface="Calibri"/>
              </a:rPr>
              <a:t>Defence procurement. </a:t>
            </a:r>
            <a:r>
              <a:rPr sz="940" b="0">
                <a:solidFill>
                  <a:srgbClr val="54627A"/>
                </a:solidFill>
                <a:latin typeface="Calibri"/>
              </a:rPr>
              <a:t>Tender documents and technical specifications reach vendors traceably; a pre-bid leak has an owner.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40" b="1">
                <a:solidFill>
                  <a:srgbClr val="1B335E"/>
                </a:solidFill>
                <a:latin typeface="Calibri"/>
              </a:rPr>
              <a:t>DRDO and defence PSUs. </a:t>
            </a:r>
            <a:r>
              <a:rPr sz="940" b="0">
                <a:solidFill>
                  <a:srgbClr val="54627A"/>
                </a:solidFill>
                <a:latin typeface="Calibri"/>
              </a:rPr>
              <a:t>Design data shared with partners and contractors carries a non-repudiable receipt per recipient.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40" b="1">
                <a:solidFill>
                  <a:srgbClr val="1B335E"/>
                </a:solidFill>
                <a:latin typeface="Calibri"/>
              </a:rPr>
              <a:t>Inter-agency sharing. </a:t>
            </a:r>
            <a:r>
              <a:rPr sz="940" b="0">
                <a:solidFill>
                  <a:srgbClr val="54627A"/>
                </a:solidFill>
                <a:latin typeface="Calibri"/>
              </a:rPr>
              <a:t>Intelligence keeps its provenance without a central authority anyone has to trust.</a:t>
            </a:r>
          </a:p>
        </p:txBody>
      </p:sp>
      <p:sp>
        <p:nvSpPr>
          <p:cNvPr id="17414" name="Hexagon 17413"/>
          <p:cNvSpPr/>
          <p:nvPr/>
        </p:nvSpPr>
        <p:spPr>
          <a:xfrm rot="5400000">
            <a:off x="6336792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720840" y="1143000"/>
            <a:ext cx="5321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Benefits of the solution (social, economic, environmental)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336792" y="1572768"/>
            <a:ext cx="5705856" cy="1700784"/>
          </a:xfrm>
          <a:prstGeom prst="roundRect">
            <a:avLst>
              <a:gd name="adj" fmla="val 6000"/>
            </a:avLst>
          </a:prstGeom>
          <a:solidFill>
            <a:srgbClr val="E7F6EE"/>
          </a:solidFill>
          <a:ln w="15875">
            <a:solidFill>
              <a:srgbClr val="94CE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501384" y="1682496"/>
            <a:ext cx="5376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00" b="1">
                <a:solidFill>
                  <a:srgbClr val="158A5A"/>
                </a:solidFill>
                <a:latin typeface="Calibri"/>
              </a:rPr>
              <a:t>Deterrence is the real product. </a:t>
            </a:r>
            <a:r>
              <a:rPr sz="900" b="0">
                <a:solidFill>
                  <a:srgbClr val="54627A"/>
                </a:solidFill>
                <a:latin typeface="Calibri"/>
              </a:rPr>
              <a:t>When every holder knows their copy is individually accountable, most leaks never happen.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00" b="1">
                <a:solidFill>
                  <a:srgbClr val="158A5A"/>
                </a:solidFill>
                <a:latin typeface="Calibri"/>
              </a:rPr>
              <a:t>Protects the accused too. </a:t>
            </a:r>
            <a:r>
              <a:rPr sz="900" b="0">
                <a:solidFill>
                  <a:srgbClr val="54627A"/>
                </a:solidFill>
                <a:latin typeface="Calibri"/>
              </a:rPr>
              <a:t>A stated error probability and a refusal to guess are what stop an innocent officer being named.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00" b="1">
                <a:solidFill>
                  <a:srgbClr val="158A5A"/>
                </a:solidFill>
                <a:latin typeface="Calibri"/>
              </a:rPr>
              <a:t>Zero licensing cost. </a:t>
            </a:r>
            <a:r>
              <a:rPr sz="900" b="0">
                <a:solidFill>
                  <a:srgbClr val="54627A"/>
                </a:solidFill>
                <a:latin typeface="Calibri"/>
              </a:rPr>
              <a:t>Open-source and free-tier; per-department rollout cost is effectively nil.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00" b="1">
                <a:solidFill>
                  <a:srgbClr val="158A5A"/>
                </a:solidFill>
                <a:latin typeface="Calibri"/>
              </a:rPr>
              <a:t>Quantum-durable. </a:t>
            </a:r>
            <a:r>
              <a:rPr sz="900" b="0">
                <a:solidFill>
                  <a:srgbClr val="54627A"/>
                </a:solidFill>
                <a:latin typeface="Calibri"/>
              </a:rPr>
              <a:t>A defence assessment stays sensitive for decades; FIPS 203/204 resist harvest-now-decrypt-later.</a:t>
            </a:r>
          </a:p>
          <a:p>
            <a:pPr algn="l">
              <a:spcBef>
                <a:spcPts val="0"/>
              </a:spcBef>
              <a:spcAft>
                <a:spcPts val="450"/>
              </a:spcAft>
            </a:pPr>
            <a:r>
              <a:rPr sz="900" b="1">
                <a:solidFill>
                  <a:srgbClr val="158A5A"/>
                </a:solidFill>
                <a:latin typeface="Calibri"/>
              </a:rPr>
              <a:t>Scales unchanged. </a:t>
            </a:r>
            <a:r>
              <a:rPr sz="900" b="0">
                <a:solidFill>
                  <a:srgbClr val="54627A"/>
                </a:solidFill>
                <a:latin typeface="Calibri"/>
              </a:rPr>
              <a:t>Any organisation distributing to a named list — only the list changes.</a:t>
            </a:r>
          </a:p>
        </p:txBody>
      </p:sp>
      <p:sp>
        <p:nvSpPr>
          <p:cNvPr id="17418" name="Hexagon 17417"/>
          <p:cNvSpPr/>
          <p:nvPr/>
        </p:nvSpPr>
        <p:spPr>
          <a:xfrm rot="5400000">
            <a:off x="365760" y="3410712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49808" y="3392424"/>
            <a:ext cx="11073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What changes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3785615"/>
            <a:ext cx="5705856" cy="768096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5875">
            <a:solidFill>
              <a:srgbClr val="E3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48640" y="3904487"/>
            <a:ext cx="5340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19" b="1" i="0" spc="140">
                <a:solidFill>
                  <a:srgbClr val="B3222C"/>
                </a:solidFill>
                <a:latin typeface="Calibri"/>
              </a:rPr>
              <a:t>TODAY</a:t>
            </a:r>
            <a:r>
              <a:rPr sz="860" b="0" i="0">
                <a:solidFill>
                  <a:srgbClr val="54627A"/>
                </a:solidFill>
                <a:latin typeface="Calibri"/>
              </a:rPr>
              <a:t>▪  Every cleared recipient is an equally plausible suspect.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54627A"/>
                </a:solidFill>
                <a:latin typeface="Calibri"/>
              </a:rPr>
              <a:t>▪  Access logs can be edited by the administrator who holds them.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54627A"/>
                </a:solidFill>
                <a:latin typeface="Calibri"/>
              </a:rPr>
              <a:t>▪  One identical watermark for all recipients attributes nothing.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336792" y="3785615"/>
            <a:ext cx="5705856" cy="768096"/>
          </a:xfrm>
          <a:prstGeom prst="roundRect">
            <a:avLst>
              <a:gd name="adj" fmla="val 6000"/>
            </a:avLst>
          </a:prstGeom>
          <a:solidFill>
            <a:srgbClr val="0E1F42"/>
          </a:solidFill>
          <a:ln w="19050">
            <a:solidFill>
              <a:srgbClr val="22B1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6519672" y="3904487"/>
            <a:ext cx="534009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19" b="1" i="0" spc="140">
                <a:solidFill>
                  <a:srgbClr val="22B173"/>
                </a:solidFill>
                <a:latin typeface="Calibri"/>
              </a:rPr>
              <a:t>WITH PQFW</a:t>
            </a:r>
            <a:r>
              <a:rPr sz="860" b="0" i="0">
                <a:solidFill>
                  <a:srgbClr val="A9BEDF"/>
                </a:solidFill>
                <a:latin typeface="Calibri"/>
              </a:rPr>
              <a:t>▪  A leaked copy names one recipient and one decryption session.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A9BEDF"/>
                </a:solidFill>
                <a:latin typeface="Calibri"/>
              </a:rPr>
              <a:t>▪  Records replicated 3 ways; one compromised admin is out-voted.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 b="0" i="0">
                <a:solidFill>
                  <a:srgbClr val="A9BEDF"/>
                </a:solidFill>
                <a:latin typeface="Calibri"/>
              </a:rPr>
              <a:t>▪  Every copy distinct, and the accusation carries a provable bound.</a:t>
            </a:r>
          </a:p>
        </p:txBody>
      </p:sp>
      <p:sp>
        <p:nvSpPr>
          <p:cNvPr id="17424" name="Hexagon 17423"/>
          <p:cNvSpPr/>
          <p:nvPr/>
        </p:nvSpPr>
        <p:spPr>
          <a:xfrm rot="5400000">
            <a:off x="365760" y="472744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49808" y="4709159"/>
            <a:ext cx="11073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Cost of running 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7C8AA3"/>
                </a:solidFill>
                <a:latin typeface="Calibri"/>
              </a:rPr>
              <a:t>measured on the running prototype, not projected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65760" y="5157216"/>
            <a:ext cx="11457432" cy="1024128"/>
          </a:xfrm>
          <a:prstGeom prst="roundRect">
            <a:avLst>
              <a:gd name="adj" fmla="val 3500"/>
            </a:avLst>
          </a:prstGeom>
          <a:solidFill>
            <a:srgbClr val="0E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548640" y="5413248"/>
            <a:ext cx="221833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116 KB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A9BEDF"/>
                </a:solidFill>
                <a:latin typeface="Calibri"/>
              </a:rPr>
              <a:t>shared ciphertext —
the same bytes for everyone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766974" y="5413248"/>
            <a:ext cx="221833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34 KB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A9BEDF"/>
                </a:solidFill>
                <a:latin typeface="Calibri"/>
              </a:rPr>
              <a:t>per recipient, and
independent of 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985308" y="5413248"/>
            <a:ext cx="221833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2B173"/>
                </a:solidFill>
                <a:latin typeface="Calibr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A9BEDF"/>
                </a:solidFill>
                <a:latin typeface="Calibri"/>
              </a:rPr>
              <a:t>GPUs, HSMs and
cloud services required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203643" y="5413248"/>
            <a:ext cx="221833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22B173"/>
                </a:solidFill>
                <a:latin typeface="Calibri"/>
              </a:rPr>
              <a:t>₹0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A9BEDF"/>
                </a:solidFill>
                <a:latin typeface="Calibri"/>
              </a:rPr>
              <a:t>licensing cost —
open-source throughout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421977" y="5413248"/>
            <a:ext cx="221833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2790D"/>
                </a:solidFill>
                <a:latin typeface="Calibri"/>
              </a:rPr>
              <a:t>&lt; 1 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A9BEDF"/>
                </a:solidFill>
                <a:latin typeface="Calibri"/>
              </a:rPr>
              <a:t>to trace a leak against
1,000 recipients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E1F42"/>
          </a:solidFill>
          <a:ln w="19050">
            <a:solidFill>
              <a:srgbClr val="F2790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Hexagon 17409"/>
          <p:cNvSpPr/>
          <p:nvPr/>
        </p:nvSpPr>
        <p:spPr>
          <a:xfrm rot="5400000">
            <a:off x="3657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49808" y="1143000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Standards and specifications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572768"/>
            <a:ext cx="368503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FIPS 203 (2024)  </a:t>
            </a:r>
            <a:r>
              <a:rPr sz="919" b="0">
                <a:solidFill>
                  <a:srgbClr val="54627A"/>
                </a:solidFill>
                <a:latin typeface="Calibri"/>
              </a:rPr>
              <a:t>Module-Lattice-Based Key-Encapsulation Mechanism — ML-KEM. NIST.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FIPS 204 (2024)  </a:t>
            </a:r>
            <a:r>
              <a:rPr sz="919" b="0">
                <a:solidFill>
                  <a:srgbClr val="54627A"/>
                </a:solidFill>
                <a:latin typeface="Calibri"/>
              </a:rPr>
              <a:t>Module-Lattice-Based Digital Signature Standard — ML-DSA. NIST.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FIPS 202  </a:t>
            </a:r>
            <a:r>
              <a:rPr sz="919" b="0">
                <a:solidFill>
                  <a:srgbClr val="54627A"/>
                </a:solidFill>
                <a:latin typeface="Calibri"/>
              </a:rPr>
              <a:t>SHA-3 permutation-based hash and extendable-output functions.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NIST SP 800-38D  </a:t>
            </a:r>
            <a:r>
              <a:rPr sz="919" b="0">
                <a:solidFill>
                  <a:srgbClr val="54627A"/>
                </a:solidFill>
                <a:latin typeface="Calibri"/>
              </a:rPr>
              <a:t>Galois/Counter Mode for AES, used for every ciphertext here.</a:t>
            </a:r>
          </a:p>
        </p:txBody>
      </p:sp>
      <p:sp>
        <p:nvSpPr>
          <p:cNvPr id="17413" name="Hexagon 17412"/>
          <p:cNvSpPr/>
          <p:nvPr/>
        </p:nvSpPr>
        <p:spPr>
          <a:xfrm rot="5400000">
            <a:off x="42519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636008" y="1143000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Methods and literature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251960" y="1572768"/>
            <a:ext cx="368503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Tardos (2003)  </a:t>
            </a:r>
            <a:r>
              <a:rPr sz="919" b="0">
                <a:solidFill>
                  <a:srgbClr val="54627A"/>
                </a:solidFill>
                <a:latin typeface="Calibri"/>
              </a:rPr>
              <a:t>Optimal probabilistic fingerprint codes. STOC.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Škorić et al. (2008)  </a:t>
            </a:r>
            <a:r>
              <a:rPr sz="919" b="0">
                <a:solidFill>
                  <a:srgbClr val="54627A"/>
                </a:solidFill>
                <a:latin typeface="Calibri"/>
              </a:rPr>
              <a:t>Symmetric Tardos fingerprinting codes. Designs, Codes and Cryptography.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Boneh &amp; Shaw (1998)  </a:t>
            </a:r>
            <a:r>
              <a:rPr sz="919" b="0">
                <a:solidFill>
                  <a:srgbClr val="54627A"/>
                </a:solidFill>
                <a:latin typeface="Calibri"/>
              </a:rPr>
              <a:t>Collusion-secure fingerprinting for digital data. IEEE Trans. Inf. Theory.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Open Quantum Safe  </a:t>
            </a:r>
            <a:r>
              <a:rPr sz="919" b="0">
                <a:solidFill>
                  <a:srgbClr val="54627A"/>
                </a:solidFill>
                <a:latin typeface="Calibri"/>
              </a:rPr>
              <a:t>liboqs — the C library providing both mechanisms used here.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19" b="1">
                <a:solidFill>
                  <a:srgbClr val="1B335E"/>
                </a:solidFill>
                <a:latin typeface="Calibri"/>
              </a:rPr>
              <a:t>Brakerski–Fan–Vercauteren  </a:t>
            </a:r>
            <a:r>
              <a:rPr sz="919" b="0">
                <a:solidFill>
                  <a:srgbClr val="54627A"/>
                </a:solidFill>
                <a:latin typeface="Calibri"/>
              </a:rPr>
              <a:t>Somewhat-homomorphic encryption; the route to post-quantum asymmetric fingerprinting. Future work.</a:t>
            </a:r>
          </a:p>
        </p:txBody>
      </p:sp>
      <p:sp>
        <p:nvSpPr>
          <p:cNvPr id="17416" name="Hexagon 17415"/>
          <p:cNvSpPr/>
          <p:nvPr/>
        </p:nvSpPr>
        <p:spPr>
          <a:xfrm rot="5400000">
            <a:off x="8138160" y="1161288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522208" y="1143000"/>
            <a:ext cx="33009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Our work — live and inspectable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38160" y="1572768"/>
            <a:ext cx="3685032" cy="1005840"/>
          </a:xfrm>
          <a:prstGeom prst="roundRect">
            <a:avLst>
              <a:gd name="adj" fmla="val 7000"/>
            </a:avLst>
          </a:prstGeom>
          <a:solidFill>
            <a:srgbClr val="0E1F42"/>
          </a:solidFill>
          <a:ln w="19050">
            <a:solidFill>
              <a:srgbClr val="F279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qr_l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1700784"/>
            <a:ext cx="749808" cy="74980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125712" y="1719072"/>
            <a:ext cx="255117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00" b="1" i="0" spc="120">
                <a:solidFill>
                  <a:srgbClr val="F2790D"/>
                </a:solidFill>
                <a:latin typeface="Calibri"/>
              </a:rPr>
              <a:t>WORKING PROTOTYPE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pqfw.onrender.com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A9BEDF"/>
                </a:solidFill>
                <a:latin typeface="Calibri"/>
              </a:rPr>
              <a:t>Five guided steps, real post-quantum cryptography server-side.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138160" y="2688336"/>
            <a:ext cx="3685032" cy="877824"/>
          </a:xfrm>
          <a:prstGeom prst="roundRect">
            <a:avLst>
              <a:gd name="adj" fmla="val 7000"/>
            </a:avLst>
          </a:prstGeom>
          <a:solidFill>
            <a:srgbClr val="F3F6FC"/>
          </a:solidFill>
          <a:ln w="15875">
            <a:solidFill>
              <a:srgbClr val="B6C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8284464" y="2779776"/>
            <a:ext cx="3392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00" b="1" i="0" spc="120">
                <a:solidFill>
                  <a:srgbClr val="1B335E"/>
                </a:solidFill>
                <a:latin typeface="Calibri"/>
              </a:rPr>
              <a:t>EVALUATION AND ATTACK RESULTS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730" b="1" i="0">
                <a:solidFill>
                  <a:srgbClr val="1B335E"/>
                </a:solidFill>
                <a:latin typeface="Calibri"/>
              </a:rPr>
              <a:t>evildeity-pqfw-post-quantum-watermarking.static.hf.space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54627A"/>
                </a:solidFill>
                <a:latin typeface="Calibri"/>
              </a:rPr>
              <a:t>Every figure produced by executing the library, commit recorded.</a:t>
            </a:r>
          </a:p>
        </p:txBody>
      </p:sp>
      <p:sp>
        <p:nvSpPr>
          <p:cNvPr id="17423" name="Hexagon 17422"/>
          <p:cNvSpPr/>
          <p:nvPr/>
        </p:nvSpPr>
        <p:spPr>
          <a:xfrm rot="5400000">
            <a:off x="365760" y="3941064"/>
            <a:ext cx="274320" cy="241401"/>
          </a:xfrm>
          <a:prstGeom prst="hexagon">
            <a:avLst/>
          </a:prstGeom>
          <a:solidFill>
            <a:srgbClr val="F27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rot="-5400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749808" y="3922776"/>
            <a:ext cx="110733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35E"/>
                </a:solidFill>
                <a:latin typeface="Calibri"/>
              </a:rPr>
              <a:t>Every requirement in SIH26237, and where it is met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7C8AA3"/>
                </a:solidFill>
                <a:latin typeface="Calibri"/>
              </a:rPr>
              <a:t>each one exercised by an automated test and by a step of the live demo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65760" y="4370832"/>
            <a:ext cx="11457432" cy="1847088"/>
          </a:xfrm>
          <a:prstGeom prst="roundRect">
            <a:avLst>
              <a:gd name="adj" fmla="val 3500"/>
            </a:avLst>
          </a:prstGeom>
          <a:solidFill>
            <a:srgbClr val="0E1F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85216" y="453542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Unique invisible forensic watermark at the moment of decryption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85216" y="480974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Specific to each recipient and each decryption session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85216" y="508406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Every copy visually identical, forensically distinct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585216" y="5358383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Each decryption cryptographically bound to the recipient's identity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85216" y="563270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Signature generated with the recipient's own private key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85216" y="590702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NIST-standardised PQC for key exchange and digital signatures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112764" y="453542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Immutable audit layer implemented as a distributed ledger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112764" y="480974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No single administrator or compromised account can alter records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112764" y="508406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Extract the watermark, match it against the ledger, verify it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112764" y="5358383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Complete operation offline and air-gapped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12764" y="563270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No dependency on external cloud KMS services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112764" y="5907024"/>
            <a:ext cx="54361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2B173"/>
                </a:solidFill>
                <a:latin typeface="Calibri"/>
              </a:rPr>
              <a:t>✓  </a:t>
            </a:r>
            <a:r>
              <a:rPr sz="880" b="0">
                <a:solidFill>
                  <a:srgbClr val="A9BEDF"/>
                </a:solidFill>
                <a:latin typeface="Calibri"/>
              </a:rPr>
              <a:t>No dependency on public blockchain networks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