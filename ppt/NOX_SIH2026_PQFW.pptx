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The core idea in one sentence: the fingerprint is a consequence of which decryption keys you hold, not of software choosing to add a watermark. Each mark slot is written two ways that look identical and encrypted under different keys; you get one key per slot. The other rendering is an AES-GCM tag failure for you. There is no unmarked copy anywhere — not even on our own disk. Bottom left is a real verdict from the running system.</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Three stages, all offline. Distribute: one ciphertext for everybody, plus a 14 KB key bundle each. Decrypt: the recipient spends one credential, gets a uniquely marked copy, and signs an ML-DSA-65 receipt with their own key — that is the non-repudiation. Record: three validators independently verify that receipt and commit it 2-of-3. Trace: extract the marks, score them, and check the ledger. No cloud KMS, no public chain, no network call at any point.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are honest about what breaks it. Retyping, OCR and stripping invisible characters defeat the text carrier, and inserting a word desynchronises the slots — all four are measured and published rather than hidden. The point is the failure mode: when an attack wins the system fails to identify anybody. Misidentification stayed at zero across the whole erasure sweep. The bottom row is the actual next four steps, not an aspiration.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Ministry of Defence context: service HQ, procurement, DRDO and partners, inter-agency sharing. The real product is deterrence — when every holder knows their copy is individually accountable, most leaks never happen. And it protects the accused as much as it exposes the leaker: a stated error probability and a refusal to guess are what stop an innocent officer being named. Costs nothing to run.</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 requirement in the problem statement, and every one is exercised by an automated test and by a step of the live demo — 163 tests. Two things we do not claim: this proves traceability, not unframeability, because the distributor knows the codewords; post-quantum asymmetric fingerprinting has no drop-in construction yet and we say so rather than pretending. Scan the code and try to break it.</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statement SIH26237, Ministry of Defence. One document goes to many cleared recipients; it leaks; today every one of them is an equally plausible suspect. We built PQFW, and it is running right now at the address on this slide — scan the code and follow along.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384048" y="1060704"/>
            <a:ext cx="6126480" cy="932688"/>
          </a:xfrm>
        </p:spPr>
        <p:txBody>
          <a:bodyPr lIns="0" rIns="0"/>
          <a:lstStyle/>
          <a:p>
            <a:pPr algn="l">
              <a:spcBef>
                <a:spcPts val="0"/>
              </a:spcBef>
              <a:spcAft>
                <a:spcPts val="0"/>
              </a:spcAft>
            </a:pPr>
            <a:r>
              <a:rPr sz="3800" b="1" i="0">
                <a:solidFill>
                  <a:srgbClr val="1F3864"/>
                </a:solidFill>
                <a:latin typeface="Calibri"/>
              </a:rPr>
              <a:t>PQFW</a:t>
            </a:r>
            <a:endParaRPr lang="en-US" b="1" dirty="0">
              <a:solidFill>
                <a:schemeClr val="tx1"/>
              </a:solidFill>
              <a:latin typeface="Times New Roman" panose="02020603050405020304" pitchFamily="18" charset="0"/>
              <a:cs typeface="Times New Roman" panose="02020603050405020304" pitchFamily="18" charset="0"/>
            </a:endParaRPr>
          </a:p>
          <a:p>
            <a:pPr algn="l">
              <a:spcBef>
                <a:spcPts val="0"/>
              </a:spcBef>
              <a:spcAft>
                <a:spcPts val="0"/>
              </a:spcAft>
            </a:pPr>
            <a:r>
              <a:rPr sz="1450" b="1" i="0">
                <a:solidFill>
                  <a:srgbClr val="E06C18"/>
                </a:solidFill>
                <a:latin typeface="Calibri"/>
              </a:rPr>
              <a:t>Post-Quantum Forensic Watermarking</a:t>
            </a: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TextBox 37"/>
          <p:cNvSpPr txBox="1"/>
          <p:nvPr/>
        </p:nvSpPr>
        <p:spPr>
          <a:xfrm>
            <a:off x="384048" y="2157984"/>
            <a:ext cx="6035040" cy="3017520"/>
          </a:xfrm>
          <a:prstGeom prst="rect">
            <a:avLst/>
          </a:prstGeom>
          <a:noFill/>
        </p:spPr>
        <p:txBody>
          <a:bodyPr wrap="square" anchor="t" lIns="0" rIns="0" tIns="0" bIns="0">
            <a:spAutoFit/>
          </a:bodyPr>
          <a:lstStyle/>
          <a:p>
            <a:pPr algn="l">
              <a:spcBef>
                <a:spcPts val="0"/>
              </a:spcBef>
              <a:spcAft>
                <a:spcPts val="600"/>
              </a:spcAft>
            </a:pPr>
            <a:r>
              <a:rPr sz="1050" b="1">
                <a:solidFill>
                  <a:srgbClr val="5A677D"/>
                </a:solidFill>
                <a:latin typeface="Calibri"/>
              </a:rPr>
              <a:t>Problem Statement ID  </a:t>
            </a:r>
            <a:r>
              <a:rPr sz="1050" b="1">
                <a:solidFill>
                  <a:srgbClr val="1F3864"/>
                </a:solidFill>
                <a:latin typeface="Calibri"/>
              </a:rPr>
              <a:t>SIH26237</a:t>
            </a:r>
          </a:p>
          <a:p>
            <a:pPr algn="l">
              <a:spcBef>
                <a:spcPts val="0"/>
              </a:spcBef>
              <a:spcAft>
                <a:spcPts val="600"/>
              </a:spcAft>
            </a:pPr>
            <a:r>
              <a:rPr sz="1050" b="1">
                <a:solidFill>
                  <a:srgbClr val="5A677D"/>
                </a:solidFill>
                <a:latin typeface="Calibri"/>
              </a:rPr>
              <a:t>Problem Statement Title  </a:t>
            </a:r>
            <a:r>
              <a:rPr sz="1050" b="1">
                <a:solidFill>
                  <a:srgbClr val="1F3864"/>
                </a:solidFill>
                <a:latin typeface="Calibri"/>
              </a:rPr>
              <a:t>Cryptographic Attribution and Immutable Decryption Provenance for Multi-Recipient Encrypted Document Distribution</a:t>
            </a:r>
          </a:p>
          <a:p>
            <a:pPr algn="l">
              <a:spcBef>
                <a:spcPts val="0"/>
              </a:spcBef>
              <a:spcAft>
                <a:spcPts val="600"/>
              </a:spcAft>
            </a:pPr>
            <a:r>
              <a:rPr sz="1050" b="1">
                <a:solidFill>
                  <a:srgbClr val="5A677D"/>
                </a:solidFill>
                <a:latin typeface="Calibri"/>
              </a:rPr>
              <a:t>Organisation  </a:t>
            </a:r>
            <a:r>
              <a:rPr sz="1050" b="1">
                <a:solidFill>
                  <a:srgbClr val="1F3864"/>
                </a:solidFill>
                <a:latin typeface="Calibri"/>
              </a:rPr>
              <a:t>Ministry of Defence</a:t>
            </a:r>
          </a:p>
          <a:p>
            <a:pPr algn="l">
              <a:spcBef>
                <a:spcPts val="0"/>
              </a:spcBef>
              <a:spcAft>
                <a:spcPts val="600"/>
              </a:spcAft>
            </a:pPr>
            <a:r>
              <a:rPr sz="1050" b="1">
                <a:solidFill>
                  <a:srgbClr val="5A677D"/>
                </a:solidFill>
                <a:latin typeface="Calibri"/>
              </a:rPr>
              <a:t>Theme  </a:t>
            </a:r>
            <a:r>
              <a:rPr sz="1050" b="1">
                <a:solidFill>
                  <a:srgbClr val="1F3864"/>
                </a:solidFill>
                <a:latin typeface="Calibri"/>
              </a:rPr>
              <a:t>Blockchain &amp; Cybersecurity</a:t>
            </a:r>
          </a:p>
          <a:p>
            <a:pPr algn="l">
              <a:spcBef>
                <a:spcPts val="0"/>
              </a:spcBef>
              <a:spcAft>
                <a:spcPts val="600"/>
              </a:spcAft>
            </a:pPr>
            <a:r>
              <a:rPr sz="1050" b="1">
                <a:solidFill>
                  <a:srgbClr val="5A677D"/>
                </a:solidFill>
                <a:latin typeface="Calibri"/>
              </a:rPr>
              <a:t>PS Category  </a:t>
            </a:r>
            <a:r>
              <a:rPr sz="1050" b="1">
                <a:solidFill>
                  <a:srgbClr val="1F3864"/>
                </a:solidFill>
                <a:latin typeface="Calibri"/>
              </a:rPr>
              <a:t>Software</a:t>
            </a:r>
          </a:p>
          <a:p>
            <a:pPr algn="l">
              <a:spcBef>
                <a:spcPts val="0"/>
              </a:spcBef>
              <a:spcAft>
                <a:spcPts val="600"/>
              </a:spcAft>
            </a:pPr>
            <a:r>
              <a:rPr sz="1050" b="1">
                <a:solidFill>
                  <a:srgbClr val="5A677D"/>
                </a:solidFill>
                <a:latin typeface="Calibri"/>
              </a:rPr>
              <a:t>Team ID  </a:t>
            </a:r>
            <a:r>
              <a:rPr sz="1050" b="1">
                <a:solidFill>
                  <a:srgbClr val="1F3864"/>
                </a:solidFill>
                <a:latin typeface="Calibri"/>
              </a:rPr>
              <a:t>—  (to be assigned on the portal)</a:t>
            </a:r>
          </a:p>
          <a:p>
            <a:pPr algn="l">
              <a:spcBef>
                <a:spcPts val="0"/>
              </a:spcBef>
              <a:spcAft>
                <a:spcPts val="600"/>
              </a:spcAft>
            </a:pPr>
            <a:r>
              <a:rPr sz="1050" b="1">
                <a:solidFill>
                  <a:srgbClr val="5A677D"/>
                </a:solidFill>
                <a:latin typeface="Calibri"/>
              </a:rPr>
              <a:t>Team Name  </a:t>
            </a:r>
            <a:r>
              <a:rPr sz="1050" b="1">
                <a:solidFill>
                  <a:srgbClr val="1F3864"/>
                </a:solidFill>
                <a:latin typeface="Calibri"/>
              </a:rPr>
              <a:t>NOX  ·  International Institute of Information Technology, Bhubaneswar</a:t>
            </a:r>
          </a:p>
        </p:txBody>
      </p:sp>
      <p:sp>
        <p:nvSpPr>
          <p:cNvPr id="39" name="Rounded Rectangle 38"/>
          <p:cNvSpPr/>
          <p:nvPr/>
        </p:nvSpPr>
        <p:spPr>
          <a:xfrm>
            <a:off x="384048" y="5047488"/>
            <a:ext cx="6035040" cy="1115568"/>
          </a:xfrm>
          <a:prstGeom prst="roundRect">
            <a:avLst>
              <a:gd name="adj" fmla="val 9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qr_live.png"/>
          <p:cNvPicPr>
            <a:picLocks noChangeAspect="1"/>
          </p:cNvPicPr>
          <p:nvPr/>
        </p:nvPicPr>
        <p:blipFill>
          <a:blip r:embed="rId4"/>
          <a:stretch>
            <a:fillRect/>
          </a:stretch>
        </p:blipFill>
        <p:spPr>
          <a:xfrm>
            <a:off x="530352" y="5175504"/>
            <a:ext cx="859536" cy="859536"/>
          </a:xfrm>
          <a:prstGeom prst="rect">
            <a:avLst/>
          </a:prstGeom>
        </p:spPr>
      </p:pic>
      <p:sp>
        <p:nvSpPr>
          <p:cNvPr id="41" name="TextBox 40"/>
          <p:cNvSpPr txBox="1"/>
          <p:nvPr/>
        </p:nvSpPr>
        <p:spPr>
          <a:xfrm>
            <a:off x="1517904" y="5193792"/>
            <a:ext cx="4754880" cy="841248"/>
          </a:xfrm>
          <a:prstGeom prst="rect">
            <a:avLst/>
          </a:prstGeom>
          <a:noFill/>
        </p:spPr>
        <p:txBody>
          <a:bodyPr wrap="square" anchor="t" lIns="0" rIns="0" tIns="0" bIns="0">
            <a:spAutoFit/>
          </a:bodyPr>
          <a:lstStyle/>
          <a:p>
            <a:pPr algn="l">
              <a:spcBef>
                <a:spcPts val="0"/>
              </a:spcBef>
              <a:spcAft>
                <a:spcPts val="200"/>
              </a:spcAft>
            </a:pPr>
            <a:r>
              <a:rPr sz="860" b="1">
                <a:solidFill>
                  <a:srgbClr val="1B7F5E"/>
                </a:solidFill>
                <a:latin typeface="Calibri"/>
              </a:rPr>
              <a:t>LIVE WORKING PROTOTYPE   </a:t>
            </a:r>
            <a:r>
              <a:rPr sz="860" b="0">
                <a:solidFill>
                  <a:srgbClr val="5A677D"/>
                </a:solidFill>
                <a:latin typeface="Calibri"/>
              </a:rPr>
              <a:t>·  scan it</a:t>
            </a:r>
          </a:p>
          <a:p>
            <a:pPr algn="l">
              <a:spcBef>
                <a:spcPts val="0"/>
              </a:spcBef>
              <a:spcAft>
                <a:spcPts val="200"/>
              </a:spcAft>
            </a:pPr>
            <a:r>
              <a:rPr sz="1300" b="1" i="0">
                <a:solidFill>
                  <a:srgbClr val="1F3864"/>
                </a:solidFill>
                <a:latin typeface="Calibri"/>
              </a:rPr>
              <a:t>pqfw.onrender.com</a:t>
            </a:r>
          </a:p>
          <a:p>
            <a:pPr algn="l">
              <a:spcBef>
                <a:spcPts val="0"/>
              </a:spcBef>
              <a:spcAft>
                <a:spcPts val="0"/>
              </a:spcAft>
            </a:pPr>
            <a:r>
              <a:rPr sz="720" b="0" i="0">
                <a:solidFill>
                  <a:srgbClr val="5A677D"/>
                </a:solidFill>
                <a:latin typeface="Calibri"/>
              </a:rPr>
              <a:t>Real ML-KEM-768 / ML-DSA-65 computed server-side. Evaluation and attack results: evildeity-pqfw-post-quantum-watermarking.static.hf.space</a:t>
            </a:r>
          </a:p>
        </p:txBody>
      </p:sp>
      <p:sp>
        <p:nvSpPr>
          <p:cNvPr id="42" name="TextBox 41"/>
          <p:cNvSpPr txBox="1"/>
          <p:nvPr/>
        </p:nvSpPr>
        <p:spPr>
          <a:xfrm>
            <a:off x="384048" y="6291072"/>
            <a:ext cx="6035040" cy="457200"/>
          </a:xfrm>
          <a:prstGeom prst="rect">
            <a:avLst/>
          </a:prstGeom>
          <a:noFill/>
        </p:spPr>
        <p:txBody>
          <a:bodyPr wrap="square" anchor="t" lIns="0" rIns="0" tIns="0" bIns="0">
            <a:spAutoFit/>
          </a:bodyPr>
          <a:lstStyle/>
          <a:p>
            <a:pPr algn="l">
              <a:spcBef>
                <a:spcPts val="0"/>
              </a:spcBef>
              <a:spcAft>
                <a:spcPts val="250"/>
              </a:spcAft>
            </a:pPr>
            <a:r>
              <a:rPr sz="740" b="1" i="0">
                <a:solidFill>
                  <a:srgbClr val="5A677D"/>
                </a:solidFill>
                <a:latin typeface="Calibri"/>
              </a:rPr>
              <a:t>TEAM MEMBERS</a:t>
            </a:r>
          </a:p>
          <a:p>
            <a:pPr algn="l">
              <a:spcBef>
                <a:spcPts val="0"/>
              </a:spcBef>
              <a:spcAft>
                <a:spcPts val="0"/>
              </a:spcAft>
            </a:pPr>
            <a:r>
              <a:rPr sz="819" b="0" i="0">
                <a:solidFill>
                  <a:srgbClr val="202838"/>
                </a:solidFill>
                <a:latin typeface="Calibri"/>
              </a:rPr>
              <a:t>Alok Ranjan Tripathy  ·  Subhashree Dash  ·  Krishna Mohanty  ·  Tanisth Das  ·  Bineet Lenka  ·  Shreyas Changder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500" b="1" dirty="0">
                <a:latin typeface="Times New Roman" panose="02020603050405020304" pitchFamily="18" charset="0"/>
                <a:ea typeface="ＭＳ Ｐゴシック" pitchFamily="1" charset="-128"/>
                <a:cs typeface="Times New Roman" panose="02020603050405020304" pitchFamily="18" charset="0"/>
              </a:rPr>
              <a:t>PQFW — A LEAK THAT NAMES ITSELF</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1F3864"/>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384048" y="1188720"/>
            <a:ext cx="7223760"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Proposed Solution (Describe your Idea/Solution/Prototype)</a:t>
            </a:r>
          </a:p>
        </p:txBody>
      </p:sp>
      <p:sp>
        <p:nvSpPr>
          <p:cNvPr id="15363" name="Rounded Rectangle 15362"/>
          <p:cNvSpPr/>
          <p:nvPr/>
        </p:nvSpPr>
        <p:spPr>
          <a:xfrm>
            <a:off x="384048" y="1499616"/>
            <a:ext cx="7223760" cy="1572768"/>
          </a:xfrm>
          <a:prstGeom prst="roundRect">
            <a:avLst>
              <a:gd name="adj" fmla="val 5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4" name="TextBox 15363"/>
          <p:cNvSpPr txBox="1"/>
          <p:nvPr/>
        </p:nvSpPr>
        <p:spPr>
          <a:xfrm>
            <a:off x="512064" y="1572768"/>
            <a:ext cx="6967728" cy="237744"/>
          </a:xfrm>
          <a:prstGeom prst="rect">
            <a:avLst/>
          </a:prstGeom>
          <a:noFill/>
        </p:spPr>
        <p:txBody>
          <a:bodyPr wrap="square" anchor="t" lIns="0" rIns="0" tIns="0" bIns="0">
            <a:spAutoFit/>
          </a:bodyPr>
          <a:lstStyle/>
          <a:p>
            <a:pPr algn="l">
              <a:spcBef>
                <a:spcPts val="0"/>
              </a:spcBef>
              <a:spcAft>
                <a:spcPts val="0"/>
              </a:spcAft>
            </a:pPr>
            <a:r>
              <a:rPr sz="960" b="1" i="0">
                <a:solidFill>
                  <a:srgbClr val="1F3864"/>
                </a:solidFill>
                <a:latin typeface="Calibri"/>
              </a:rPr>
              <a:t>Detailed explanation of the proposed solution</a:t>
            </a:r>
          </a:p>
        </p:txBody>
      </p:sp>
      <p:sp>
        <p:nvSpPr>
          <p:cNvPr id="15365" name="Rounded Rectangle 15364"/>
          <p:cNvSpPr/>
          <p:nvPr/>
        </p:nvSpPr>
        <p:spPr>
          <a:xfrm>
            <a:off x="512064" y="1883664"/>
            <a:ext cx="1572768" cy="1042415"/>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6" name="TextBox 15365"/>
          <p:cNvSpPr txBox="1"/>
          <p:nvPr/>
        </p:nvSpPr>
        <p:spPr>
          <a:xfrm>
            <a:off x="576072" y="1947672"/>
            <a:ext cx="1444752" cy="914399"/>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Split the document</a:t>
            </a:r>
          </a:p>
          <a:p>
            <a:pPr algn="ctr">
              <a:spcBef>
                <a:spcPts val="0"/>
              </a:spcBef>
              <a:spcAft>
                <a:spcPts val="50"/>
              </a:spcAft>
            </a:pPr>
            <a:r>
              <a:rPr sz="700" b="0" i="0">
                <a:solidFill>
                  <a:srgbClr val="5A677D"/>
                </a:solidFill>
                <a:latin typeface="Calibri"/>
              </a:rPr>
              <a:t>base body +</a:t>
            </a:r>
          </a:p>
          <a:p>
            <a:pPr algn="ctr">
              <a:spcBef>
                <a:spcPts val="0"/>
              </a:spcBef>
              <a:spcAft>
                <a:spcPts val="50"/>
              </a:spcAft>
            </a:pPr>
            <a:r>
              <a:rPr sz="700" b="0" i="0">
                <a:solidFill>
                  <a:srgbClr val="5A677D"/>
                </a:solidFill>
                <a:latin typeface="Calibri"/>
              </a:rPr>
              <a:t>m invisible</a:t>
            </a:r>
          </a:p>
          <a:p>
            <a:pPr algn="ctr">
              <a:spcBef>
                <a:spcPts val="0"/>
              </a:spcBef>
              <a:spcAft>
                <a:spcPts val="50"/>
              </a:spcAft>
            </a:pPr>
            <a:r>
              <a:rPr sz="700" b="0" i="0">
                <a:solidFill>
                  <a:srgbClr val="5A677D"/>
                </a:solidFill>
                <a:latin typeface="Calibri"/>
              </a:rPr>
              <a:t>mark slots</a:t>
            </a:r>
          </a:p>
        </p:txBody>
      </p:sp>
      <p:sp>
        <p:nvSpPr>
          <p:cNvPr id="15367" name="Right Arrow 15366"/>
          <p:cNvSpPr/>
          <p:nvPr/>
        </p:nvSpPr>
        <p:spPr>
          <a:xfrm>
            <a:off x="2139696" y="2354579"/>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8" name="Rounded Rectangle 15367"/>
          <p:cNvSpPr/>
          <p:nvPr/>
        </p:nvSpPr>
        <p:spPr>
          <a:xfrm>
            <a:off x="2395728" y="1883664"/>
            <a:ext cx="1810512" cy="1042415"/>
          </a:xfrm>
          <a:prstGeom prst="roundRect">
            <a:avLst>
              <a:gd name="adj" fmla="val 8000"/>
            </a:avLst>
          </a:prstGeom>
          <a:solidFill>
            <a:srgbClr val="FDF3E2"/>
          </a:solidFill>
          <a:ln w="9525">
            <a:solidFill>
              <a:srgbClr val="E8C9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9" name="TextBox 15368"/>
          <p:cNvSpPr txBox="1"/>
          <p:nvPr/>
        </p:nvSpPr>
        <p:spPr>
          <a:xfrm>
            <a:off x="2459736" y="1947672"/>
            <a:ext cx="1682495" cy="914399"/>
          </a:xfrm>
          <a:prstGeom prst="rect">
            <a:avLst/>
          </a:prstGeom>
          <a:noFill/>
        </p:spPr>
        <p:txBody>
          <a:bodyPr wrap="square" anchor="ctr" lIns="0" rIns="0" tIns="0" bIns="0">
            <a:spAutoFit/>
          </a:bodyPr>
          <a:lstStyle/>
          <a:p>
            <a:pPr algn="ctr">
              <a:spcBef>
                <a:spcPts val="0"/>
              </a:spcBef>
              <a:spcAft>
                <a:spcPts val="150"/>
              </a:spcAft>
            </a:pPr>
            <a:r>
              <a:rPr sz="860" b="1" i="0">
                <a:solidFill>
                  <a:srgbClr val="E06C18"/>
                </a:solidFill>
                <a:latin typeface="Calibri"/>
              </a:rPr>
              <a:t>Two renderings, two keys</a:t>
            </a:r>
          </a:p>
          <a:p>
            <a:pPr algn="ctr">
              <a:spcBef>
                <a:spcPts val="0"/>
              </a:spcBef>
              <a:spcAft>
                <a:spcPts val="50"/>
              </a:spcAft>
            </a:pPr>
            <a:r>
              <a:rPr sz="700" b="0" i="0">
                <a:solidFill>
                  <a:srgbClr val="5A677D"/>
                </a:solidFill>
                <a:latin typeface="Calibri"/>
              </a:rPr>
              <a:t>each slot written</a:t>
            </a:r>
          </a:p>
          <a:p>
            <a:pPr algn="ctr">
              <a:spcBef>
                <a:spcPts val="0"/>
              </a:spcBef>
              <a:spcAft>
                <a:spcPts val="50"/>
              </a:spcAft>
            </a:pPr>
            <a:r>
              <a:rPr sz="700" b="0" i="0">
                <a:solidFill>
                  <a:srgbClr val="5A677D"/>
                </a:solidFill>
                <a:latin typeface="Calibri"/>
              </a:rPr>
              <a:t>2 ways that look</a:t>
            </a:r>
          </a:p>
          <a:p>
            <a:pPr algn="ctr">
              <a:spcBef>
                <a:spcPts val="0"/>
              </a:spcBef>
              <a:spcAft>
                <a:spcPts val="50"/>
              </a:spcAft>
            </a:pPr>
            <a:r>
              <a:rPr sz="700" b="0" i="0">
                <a:solidFill>
                  <a:srgbClr val="5A677D"/>
                </a:solidFill>
                <a:latin typeface="Calibri"/>
              </a:rPr>
              <a:t>identical — encrypted</a:t>
            </a:r>
          </a:p>
          <a:p>
            <a:pPr algn="ctr">
              <a:spcBef>
                <a:spcPts val="0"/>
              </a:spcBef>
              <a:spcAft>
                <a:spcPts val="50"/>
              </a:spcAft>
            </a:pPr>
            <a:r>
              <a:rPr sz="700" b="0" i="0">
                <a:solidFill>
                  <a:srgbClr val="5A677D"/>
                </a:solidFill>
                <a:latin typeface="Calibri"/>
              </a:rPr>
              <a:t>under different keys</a:t>
            </a:r>
          </a:p>
        </p:txBody>
      </p:sp>
      <p:sp>
        <p:nvSpPr>
          <p:cNvPr id="15370" name="Right Arrow 15369"/>
          <p:cNvSpPr/>
          <p:nvPr/>
        </p:nvSpPr>
        <p:spPr>
          <a:xfrm>
            <a:off x="4261104" y="2354579"/>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Rounded Rectangle 15370"/>
          <p:cNvSpPr/>
          <p:nvPr/>
        </p:nvSpPr>
        <p:spPr>
          <a:xfrm>
            <a:off x="4517136" y="1883664"/>
            <a:ext cx="1481328" cy="1042415"/>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2" name="TextBox 15371"/>
          <p:cNvSpPr txBox="1"/>
          <p:nvPr/>
        </p:nvSpPr>
        <p:spPr>
          <a:xfrm>
            <a:off x="4581144" y="1947672"/>
            <a:ext cx="1353312" cy="914399"/>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One ciphertext</a:t>
            </a:r>
          </a:p>
          <a:p>
            <a:pPr algn="ctr">
              <a:spcBef>
                <a:spcPts val="0"/>
              </a:spcBef>
              <a:spcAft>
                <a:spcPts val="50"/>
              </a:spcAft>
            </a:pPr>
            <a:r>
              <a:rPr sz="700" b="0" i="0">
                <a:solidFill>
                  <a:srgbClr val="5A677D"/>
                </a:solidFill>
                <a:latin typeface="Calibri"/>
              </a:rPr>
              <a:t>broadcast to all N</a:t>
            </a:r>
          </a:p>
          <a:p>
            <a:pPr algn="ctr">
              <a:spcBef>
                <a:spcPts val="0"/>
              </a:spcBef>
              <a:spcAft>
                <a:spcPts val="50"/>
              </a:spcAft>
            </a:pPr>
            <a:r>
              <a:rPr sz="700" b="0" i="0">
                <a:solidFill>
                  <a:srgbClr val="5A677D"/>
                </a:solidFill>
                <a:latin typeface="Calibri"/>
              </a:rPr>
              <a:t>— byte-identical</a:t>
            </a:r>
          </a:p>
          <a:p>
            <a:pPr algn="ctr">
              <a:spcBef>
                <a:spcPts val="0"/>
              </a:spcBef>
              <a:spcAft>
                <a:spcPts val="50"/>
              </a:spcAft>
            </a:pPr>
            <a:r>
              <a:rPr sz="700" b="0" i="0">
                <a:solidFill>
                  <a:srgbClr val="5A677D"/>
                </a:solidFill>
                <a:latin typeface="Calibri"/>
              </a:rPr>
              <a:t>for everybody</a:t>
            </a:r>
          </a:p>
        </p:txBody>
      </p:sp>
      <p:sp>
        <p:nvSpPr>
          <p:cNvPr id="15373" name="Right Arrow 15372"/>
          <p:cNvSpPr/>
          <p:nvPr/>
        </p:nvSpPr>
        <p:spPr>
          <a:xfrm>
            <a:off x="6053328" y="2354579"/>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4" name="Rounded Rectangle 15373"/>
          <p:cNvSpPr/>
          <p:nvPr/>
        </p:nvSpPr>
        <p:spPr>
          <a:xfrm>
            <a:off x="6309360" y="1883664"/>
            <a:ext cx="1298448" cy="1042415"/>
          </a:xfrm>
          <a:prstGeom prst="roundRect">
            <a:avLst>
              <a:gd name="adj" fmla="val 8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TextBox 15374"/>
          <p:cNvSpPr txBox="1"/>
          <p:nvPr/>
        </p:nvSpPr>
        <p:spPr>
          <a:xfrm>
            <a:off x="6373368" y="1947672"/>
            <a:ext cx="1170431" cy="914399"/>
          </a:xfrm>
          <a:prstGeom prst="rect">
            <a:avLst/>
          </a:prstGeom>
          <a:noFill/>
        </p:spPr>
        <p:txBody>
          <a:bodyPr wrap="square" anchor="ctr" lIns="0" rIns="0" tIns="0" bIns="0">
            <a:spAutoFit/>
          </a:bodyPr>
          <a:lstStyle/>
          <a:p>
            <a:pPr algn="ctr">
              <a:spcBef>
                <a:spcPts val="0"/>
              </a:spcBef>
              <a:spcAft>
                <a:spcPts val="150"/>
              </a:spcAft>
            </a:pPr>
            <a:r>
              <a:rPr sz="860" b="1" i="0">
                <a:solidFill>
                  <a:srgbClr val="1B7F5E"/>
                </a:solidFill>
                <a:latin typeface="Calibri"/>
              </a:rPr>
              <a:t>One key each</a:t>
            </a:r>
          </a:p>
          <a:p>
            <a:pPr algn="ctr">
              <a:spcBef>
                <a:spcPts val="0"/>
              </a:spcBef>
              <a:spcAft>
                <a:spcPts val="50"/>
              </a:spcAft>
            </a:pPr>
            <a:r>
              <a:rPr sz="700" b="0" i="0">
                <a:solidFill>
                  <a:srgbClr val="5A677D"/>
                </a:solidFill>
                <a:latin typeface="Calibri"/>
              </a:rPr>
              <a:t>recipient holds</a:t>
            </a:r>
          </a:p>
          <a:p>
            <a:pPr algn="ctr">
              <a:spcBef>
                <a:spcPts val="0"/>
              </a:spcBef>
              <a:spcAft>
                <a:spcPts val="50"/>
              </a:spcAft>
            </a:pPr>
            <a:r>
              <a:rPr sz="700" b="0" i="0">
                <a:solidFill>
                  <a:srgbClr val="5A677D"/>
                </a:solidFill>
                <a:latin typeface="Calibri"/>
              </a:rPr>
              <a:t>1 of the 2 keys</a:t>
            </a:r>
          </a:p>
          <a:p>
            <a:pPr algn="ctr">
              <a:spcBef>
                <a:spcPts val="0"/>
              </a:spcBef>
              <a:spcAft>
                <a:spcPts val="50"/>
              </a:spcAft>
            </a:pPr>
            <a:r>
              <a:rPr sz="700" b="0" i="0">
                <a:solidFill>
                  <a:srgbClr val="5A677D"/>
                </a:solidFill>
                <a:latin typeface="Calibri"/>
              </a:rPr>
              <a:t>per slot</a:t>
            </a:r>
          </a:p>
        </p:txBody>
      </p:sp>
      <p:sp>
        <p:nvSpPr>
          <p:cNvPr id="15376" name="TextBox 15375"/>
          <p:cNvSpPr txBox="1"/>
          <p:nvPr/>
        </p:nvSpPr>
        <p:spPr>
          <a:xfrm>
            <a:off x="384048" y="3163824"/>
            <a:ext cx="7223760" cy="420624"/>
          </a:xfrm>
          <a:prstGeom prst="rect">
            <a:avLst/>
          </a:prstGeom>
          <a:noFill/>
        </p:spPr>
        <p:txBody>
          <a:bodyPr wrap="square" anchor="t" lIns="0" rIns="0" tIns="0" bIns="0">
            <a:spAutoFit/>
          </a:bodyPr>
          <a:lstStyle/>
          <a:p>
            <a:pPr algn="l">
              <a:spcBef>
                <a:spcPts val="0"/>
              </a:spcBef>
              <a:spcAft>
                <a:spcPts val="0"/>
              </a:spcAft>
            </a:pPr>
            <a:r>
              <a:rPr sz="960" b="0">
                <a:solidFill>
                  <a:srgbClr val="202838"/>
                </a:solidFill>
                <a:latin typeface="Calibri"/>
              </a:rPr>
              <a:t>So the fingerprint is not something their software chose to add — it is a consequence of </a:t>
            </a:r>
            <a:r>
              <a:rPr sz="960" b="1">
                <a:solidFill>
                  <a:srgbClr val="1F3864"/>
                </a:solidFill>
                <a:latin typeface="Calibri"/>
              </a:rPr>
              <a:t>which keys they hold</a:t>
            </a:r>
            <a:r>
              <a:rPr sz="960" b="0">
                <a:solidFill>
                  <a:srgbClr val="202838"/>
                </a:solidFill>
                <a:latin typeface="Calibri"/>
              </a:rPr>
              <a:t>. The other rendering is an AES-GCM tag failure for them, and </a:t>
            </a:r>
            <a:r>
              <a:rPr sz="960" b="1">
                <a:solidFill>
                  <a:srgbClr val="1F3864"/>
                </a:solidFill>
                <a:latin typeface="Calibri"/>
              </a:rPr>
              <a:t>no unmarked copy exists anywhere</a:t>
            </a:r>
            <a:r>
              <a:rPr sz="960" b="0">
                <a:solidFill>
                  <a:srgbClr val="202838"/>
                </a:solidFill>
                <a:latin typeface="Calibri"/>
              </a:rPr>
              <a:t> — not in the package, not in transit, not on the sender's disk.</a:t>
            </a:r>
          </a:p>
        </p:txBody>
      </p:sp>
      <p:sp>
        <p:nvSpPr>
          <p:cNvPr id="15377" name="TextBox 15376"/>
          <p:cNvSpPr txBox="1"/>
          <p:nvPr/>
        </p:nvSpPr>
        <p:spPr>
          <a:xfrm>
            <a:off x="384048" y="3675888"/>
            <a:ext cx="7223760"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How it addresses the problem</a:t>
            </a:r>
          </a:p>
        </p:txBody>
      </p:sp>
      <p:sp>
        <p:nvSpPr>
          <p:cNvPr id="15378" name="TextBox 15377"/>
          <p:cNvSpPr txBox="1"/>
          <p:nvPr/>
        </p:nvSpPr>
        <p:spPr>
          <a:xfrm>
            <a:off x="384048" y="3986784"/>
            <a:ext cx="7223760" cy="1371600"/>
          </a:xfrm>
          <a:prstGeom prst="rect">
            <a:avLst/>
          </a:prstGeom>
          <a:noFill/>
        </p:spPr>
        <p:txBody>
          <a:bodyPr wrap="square" anchor="t" lIns="0" rIns="0" tIns="0" bIns="0">
            <a:spAutoFit/>
          </a:bodyPr>
          <a:lstStyle/>
          <a:p/>
          <a:p>
            <a:pPr algn="l">
              <a:spcBef>
                <a:spcPts val="0"/>
              </a:spcBef>
              <a:spcAft>
                <a:spcPts val="400"/>
              </a:spcAft>
            </a:pPr>
            <a:r>
              <a:rPr sz="960" b="0" i="0">
                <a:solidFill>
                  <a:srgbClr val="202838"/>
                </a:solidFill>
                <a:latin typeface="Calibri"/>
              </a:rPr>
              <a:t>▪  Today every recipient who could decrypt is an equally plausible suspect — the decrypted bytes are identical for all of them.</a:t>
            </a:r>
          </a:p>
          <a:p>
            <a:pPr algn="l">
              <a:spcBef>
                <a:spcPts val="0"/>
              </a:spcBef>
              <a:spcAft>
                <a:spcPts val="400"/>
              </a:spcAft>
            </a:pPr>
            <a:r>
              <a:rPr sz="960" b="0" i="0">
                <a:solidFill>
                  <a:srgbClr val="202838"/>
                </a:solidFill>
                <a:latin typeface="Calibri"/>
              </a:rPr>
              <a:t>▪  PQFW makes each copy forensically distinct while visually identical, so a leaked file resolves to one recipient and one decryption session.</a:t>
            </a:r>
          </a:p>
          <a:p>
            <a:pPr algn="l">
              <a:spcBef>
                <a:spcPts val="0"/>
              </a:spcBef>
              <a:spcAft>
                <a:spcPts val="400"/>
              </a:spcAft>
            </a:pPr>
            <a:r>
              <a:rPr sz="960" b="0" i="0">
                <a:solidFill>
                  <a:srgbClr val="202838"/>
                </a:solidFill>
                <a:latin typeface="Calibri"/>
              </a:rPr>
              <a:t>▪  Server-side access logs can be edited by an administrator; a static watermark is the same for everyone. Both are replaced, not patched.</a:t>
            </a:r>
          </a:p>
        </p:txBody>
      </p:sp>
      <p:sp>
        <p:nvSpPr>
          <p:cNvPr id="15379" name="TextBox 15378"/>
          <p:cNvSpPr txBox="1"/>
          <p:nvPr/>
        </p:nvSpPr>
        <p:spPr>
          <a:xfrm>
            <a:off x="7818120" y="1188720"/>
            <a:ext cx="3986784"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Innovation and uniqueness of the solution</a:t>
            </a:r>
          </a:p>
        </p:txBody>
      </p:sp>
      <p:sp>
        <p:nvSpPr>
          <p:cNvPr id="15380" name="Rounded Rectangle 15379"/>
          <p:cNvSpPr/>
          <p:nvPr/>
        </p:nvSpPr>
        <p:spPr>
          <a:xfrm>
            <a:off x="7818120" y="1499616"/>
            <a:ext cx="3986784" cy="786384"/>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1" name="TextBox 15380"/>
          <p:cNvSpPr txBox="1"/>
          <p:nvPr/>
        </p:nvSpPr>
        <p:spPr>
          <a:xfrm>
            <a:off x="7936992" y="1591056"/>
            <a:ext cx="3749039" cy="621792"/>
          </a:xfrm>
          <a:prstGeom prst="rect">
            <a:avLst/>
          </a:prstGeom>
          <a:noFill/>
        </p:spPr>
        <p:txBody>
          <a:bodyPr wrap="square" anchor="t" lIns="0" rIns="0" tIns="0" bIns="0">
            <a:spAutoFit/>
          </a:bodyPr>
          <a:lstStyle/>
          <a:p>
            <a:pPr algn="l">
              <a:spcBef>
                <a:spcPts val="0"/>
              </a:spcBef>
              <a:spcAft>
                <a:spcPts val="200"/>
              </a:spcAft>
            </a:pPr>
            <a:r>
              <a:rPr sz="940" b="1" i="0">
                <a:solidFill>
                  <a:srgbClr val="1F3864"/>
                </a:solidFill>
                <a:latin typeface="Calibri"/>
              </a:rPr>
              <a:t>Enforced by keys, not software</a:t>
            </a:r>
          </a:p>
          <a:p>
            <a:pPr algn="l">
              <a:spcBef>
                <a:spcPts val="0"/>
              </a:spcBef>
              <a:spcAft>
                <a:spcPts val="0"/>
              </a:spcAft>
            </a:pPr>
            <a:r>
              <a:rPr sz="819" b="0" i="0">
                <a:solidFill>
                  <a:srgbClr val="5A677D"/>
                </a:solidFill>
                <a:latin typeface="Calibri"/>
              </a:rPr>
              <a:t>Patching the client does not help. There is no code path around a tag check.</a:t>
            </a:r>
          </a:p>
        </p:txBody>
      </p:sp>
      <p:sp>
        <p:nvSpPr>
          <p:cNvPr id="15382" name="Rounded Rectangle 15381"/>
          <p:cNvSpPr/>
          <p:nvPr/>
        </p:nvSpPr>
        <p:spPr>
          <a:xfrm>
            <a:off x="7818120" y="2377440"/>
            <a:ext cx="3986784" cy="786384"/>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3" name="TextBox 15382"/>
          <p:cNvSpPr txBox="1"/>
          <p:nvPr/>
        </p:nvSpPr>
        <p:spPr>
          <a:xfrm>
            <a:off x="7936992" y="2468880"/>
            <a:ext cx="3749039" cy="621792"/>
          </a:xfrm>
          <a:prstGeom prst="rect">
            <a:avLst/>
          </a:prstGeom>
          <a:noFill/>
        </p:spPr>
        <p:txBody>
          <a:bodyPr wrap="square" anchor="t" lIns="0" rIns="0" tIns="0" bIns="0">
            <a:spAutoFit/>
          </a:bodyPr>
          <a:lstStyle/>
          <a:p>
            <a:pPr algn="l">
              <a:spcBef>
                <a:spcPts val="0"/>
              </a:spcBef>
              <a:spcAft>
                <a:spcPts val="200"/>
              </a:spcAft>
            </a:pPr>
            <a:r>
              <a:rPr sz="940" b="1" i="0">
                <a:solidFill>
                  <a:srgbClr val="1F3864"/>
                </a:solidFill>
                <a:latin typeface="Calibri"/>
              </a:rPr>
              <a:t>A provable error bound</a:t>
            </a:r>
          </a:p>
          <a:p>
            <a:pPr algn="l">
              <a:spcBef>
                <a:spcPts val="0"/>
              </a:spcBef>
              <a:spcAft>
                <a:spcPts val="0"/>
              </a:spcAft>
            </a:pPr>
            <a:r>
              <a:rPr sz="819" b="0" i="0">
                <a:solidFill>
                  <a:srgbClr val="5A677D"/>
                </a:solidFill>
                <a:latin typeface="Calibri"/>
              </a:rPr>
              <a:t>Chernoff bound from the code's own biases — not a Gaussian p-value, which we measured as anti-conservative.</a:t>
            </a:r>
          </a:p>
        </p:txBody>
      </p:sp>
      <p:sp>
        <p:nvSpPr>
          <p:cNvPr id="15384" name="Rounded Rectangle 15383"/>
          <p:cNvSpPr/>
          <p:nvPr/>
        </p:nvSpPr>
        <p:spPr>
          <a:xfrm>
            <a:off x="7818120" y="3255264"/>
            <a:ext cx="3986784" cy="786384"/>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5" name="TextBox 15384"/>
          <p:cNvSpPr txBox="1"/>
          <p:nvPr/>
        </p:nvSpPr>
        <p:spPr>
          <a:xfrm>
            <a:off x="7936992" y="3346704"/>
            <a:ext cx="3749039" cy="621792"/>
          </a:xfrm>
          <a:prstGeom prst="rect">
            <a:avLst/>
          </a:prstGeom>
          <a:noFill/>
        </p:spPr>
        <p:txBody>
          <a:bodyPr wrap="square" anchor="t" lIns="0" rIns="0" tIns="0" bIns="0">
            <a:spAutoFit/>
          </a:bodyPr>
          <a:lstStyle/>
          <a:p>
            <a:pPr algn="l">
              <a:spcBef>
                <a:spcPts val="0"/>
              </a:spcBef>
              <a:spcAft>
                <a:spcPts val="200"/>
              </a:spcAft>
            </a:pPr>
            <a:r>
              <a:rPr sz="940" b="1" i="0">
                <a:solidFill>
                  <a:srgbClr val="1F3864"/>
                </a:solidFill>
                <a:latin typeface="Calibri"/>
              </a:rPr>
              <a:t>It refuses to guess</a:t>
            </a:r>
          </a:p>
          <a:p>
            <a:pPr algn="l">
              <a:spcBef>
                <a:spcPts val="0"/>
              </a:spcBef>
              <a:spcAft>
                <a:spcPts val="0"/>
              </a:spcAft>
            </a:pPr>
            <a:r>
              <a:rPr sz="819" b="0" i="0">
                <a:solidFill>
                  <a:srgbClr val="5A677D"/>
                </a:solidFill>
                <a:latin typeface="Calibri"/>
              </a:rPr>
              <a:t>When evidence is thin the verdict is NO IDENTIFICATION — never the wrong person.</a:t>
            </a:r>
          </a:p>
        </p:txBody>
      </p:sp>
      <p:sp>
        <p:nvSpPr>
          <p:cNvPr id="15386" name="Rounded Rectangle 15385"/>
          <p:cNvSpPr/>
          <p:nvPr/>
        </p:nvSpPr>
        <p:spPr>
          <a:xfrm>
            <a:off x="7818120" y="4133087"/>
            <a:ext cx="3986784" cy="786384"/>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7" name="TextBox 15386"/>
          <p:cNvSpPr txBox="1"/>
          <p:nvPr/>
        </p:nvSpPr>
        <p:spPr>
          <a:xfrm>
            <a:off x="7936992" y="4224527"/>
            <a:ext cx="3749039" cy="621792"/>
          </a:xfrm>
          <a:prstGeom prst="rect">
            <a:avLst/>
          </a:prstGeom>
          <a:noFill/>
        </p:spPr>
        <p:txBody>
          <a:bodyPr wrap="square" anchor="t" lIns="0" rIns="0" tIns="0" bIns="0">
            <a:spAutoFit/>
          </a:bodyPr>
          <a:lstStyle/>
          <a:p>
            <a:pPr algn="l">
              <a:spcBef>
                <a:spcPts val="0"/>
              </a:spcBef>
              <a:spcAft>
                <a:spcPts val="200"/>
              </a:spcAft>
            </a:pPr>
            <a:r>
              <a:rPr sz="940" b="1" i="0">
                <a:solidFill>
                  <a:srgbClr val="1F3864"/>
                </a:solidFill>
                <a:latin typeface="Calibri"/>
              </a:rPr>
              <a:t>Session-level attribution</a:t>
            </a:r>
          </a:p>
          <a:p>
            <a:pPr algn="l">
              <a:spcBef>
                <a:spcPts val="0"/>
              </a:spcBef>
              <a:spcAft>
                <a:spcPts val="0"/>
              </a:spcAft>
            </a:pPr>
            <a:r>
              <a:rPr sz="819" b="0" i="0">
                <a:solidFill>
                  <a:srgbClr val="5A677D"/>
                </a:solidFill>
                <a:latin typeface="Calibri"/>
              </a:rPr>
              <a:t>Two opens by one person give two different fingerprints and two ledger records.</a:t>
            </a:r>
          </a:p>
        </p:txBody>
      </p:sp>
      <p:sp>
        <p:nvSpPr>
          <p:cNvPr id="15388" name="Rounded Rectangle 15387"/>
          <p:cNvSpPr/>
          <p:nvPr/>
        </p:nvSpPr>
        <p:spPr>
          <a:xfrm>
            <a:off x="7818120" y="5065775"/>
            <a:ext cx="3986784" cy="676656"/>
          </a:xfrm>
          <a:prstGeom prst="roundRect">
            <a:avLst>
              <a:gd name="adj" fmla="val 7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9" name="TextBox 15388"/>
          <p:cNvSpPr txBox="1"/>
          <p:nvPr/>
        </p:nvSpPr>
        <p:spPr>
          <a:xfrm>
            <a:off x="7936992" y="5166359"/>
            <a:ext cx="3749039" cy="512064"/>
          </a:xfrm>
          <a:prstGeom prst="rect">
            <a:avLst/>
          </a:prstGeom>
          <a:noFill/>
        </p:spPr>
        <p:txBody>
          <a:bodyPr wrap="square" anchor="t" lIns="0" rIns="0" tIns="0" bIns="0">
            <a:spAutoFit/>
          </a:bodyPr>
          <a:lstStyle/>
          <a:p>
            <a:pPr algn="l">
              <a:spcBef>
                <a:spcPts val="0"/>
              </a:spcBef>
              <a:spcAft>
                <a:spcPts val="250"/>
              </a:spcAft>
            </a:pPr>
            <a:r>
              <a:rPr sz="760" b="1" i="0">
                <a:solidFill>
                  <a:srgbClr val="1B7F5E"/>
                </a:solidFill>
                <a:latin typeface="Calibri"/>
              </a:rPr>
              <a:t>NOT A CONCEPT — IT IS RUNNING</a:t>
            </a:r>
          </a:p>
          <a:p>
            <a:pPr algn="l">
              <a:spcBef>
                <a:spcPts val="0"/>
              </a:spcBef>
              <a:spcAft>
                <a:spcPts val="0"/>
              </a:spcAft>
            </a:pPr>
            <a:r>
              <a:rPr sz="960" b="1" i="0">
                <a:solidFill>
                  <a:srgbClr val="1F3864"/>
                </a:solidFill>
                <a:latin typeface="Calibri"/>
              </a:rPr>
              <a:t>pqfw.onrender.com   ·   163 automated tests</a:t>
            </a:r>
          </a:p>
        </p:txBody>
      </p:sp>
      <p:sp>
        <p:nvSpPr>
          <p:cNvPr id="15390" name="TextBox 15389"/>
          <p:cNvSpPr txBox="1"/>
          <p:nvPr/>
        </p:nvSpPr>
        <p:spPr>
          <a:xfrm>
            <a:off x="384048" y="4791456"/>
            <a:ext cx="7223760"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What the system actually returns</a:t>
            </a:r>
          </a:p>
        </p:txBody>
      </p:sp>
      <p:sp>
        <p:nvSpPr>
          <p:cNvPr id="15391" name="Rounded Rectangle 15390"/>
          <p:cNvSpPr/>
          <p:nvPr/>
        </p:nvSpPr>
        <p:spPr>
          <a:xfrm>
            <a:off x="384048" y="5065776"/>
            <a:ext cx="7223760" cy="1152144"/>
          </a:xfrm>
          <a:prstGeom prst="roundRect">
            <a:avLst>
              <a:gd name="adj" fmla="val 6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2" name="TextBox 15391"/>
          <p:cNvSpPr txBox="1"/>
          <p:nvPr/>
        </p:nvSpPr>
        <p:spPr>
          <a:xfrm>
            <a:off x="566928" y="5166360"/>
            <a:ext cx="4114800" cy="457200"/>
          </a:xfrm>
          <a:prstGeom prst="rect">
            <a:avLst/>
          </a:prstGeom>
          <a:noFill/>
        </p:spPr>
        <p:txBody>
          <a:bodyPr wrap="square" anchor="t" lIns="0" rIns="0" tIns="0" bIns="0">
            <a:spAutoFit/>
          </a:bodyPr>
          <a:lstStyle/>
          <a:p>
            <a:pPr algn="l">
              <a:spcBef>
                <a:spcPts val="0"/>
              </a:spcBef>
              <a:spcAft>
                <a:spcPts val="200"/>
              </a:spcAft>
            </a:pPr>
            <a:r>
              <a:rPr sz="1300" b="1">
                <a:solidFill>
                  <a:srgbClr val="1B7F5E"/>
                </a:solidFill>
                <a:latin typeface="Calibri"/>
              </a:rPr>
              <a:t>IDENTIFIED</a:t>
            </a:r>
            <a:r>
              <a:rPr sz="1300" b="1">
                <a:solidFill>
                  <a:srgbClr val="1F3864"/>
                </a:solidFill>
                <a:latin typeface="Calibri"/>
              </a:rPr>
              <a:t>   r07, session #0</a:t>
            </a:r>
          </a:p>
          <a:p>
            <a:pPr algn="l">
              <a:spcBef>
                <a:spcPts val="0"/>
              </a:spcBef>
              <a:spcAft>
                <a:spcPts val="0"/>
              </a:spcAft>
            </a:pPr>
            <a:r>
              <a:rPr sz="860" b="0" i="0">
                <a:solidFill>
                  <a:srgbClr val="5A677D"/>
                </a:solidFill>
                <a:latin typeface="Calibri"/>
              </a:rPr>
              <a:t>false-accusation probability at most 2.8 × 10⁻⁵⁹</a:t>
            </a:r>
          </a:p>
        </p:txBody>
      </p:sp>
      <p:sp>
        <p:nvSpPr>
          <p:cNvPr id="15393" name="TextBox 15392"/>
          <p:cNvSpPr txBox="1"/>
          <p:nvPr/>
        </p:nvSpPr>
        <p:spPr>
          <a:xfrm>
            <a:off x="566928" y="5696712"/>
            <a:ext cx="4114800" cy="274320"/>
          </a:xfrm>
          <a:prstGeom prst="rect">
            <a:avLst/>
          </a:prstGeom>
          <a:noFill/>
        </p:spPr>
        <p:txBody>
          <a:bodyPr wrap="square" anchor="t" lIns="0" rIns="0" tIns="0" bIns="0">
            <a:spAutoFit/>
          </a:bodyPr>
          <a:lstStyle/>
          <a:p/>
          <a:p>
            <a:pPr algn="l">
              <a:spcBef>
                <a:spcPts val="0"/>
              </a:spcBef>
              <a:spcAft>
                <a:spcPts val="0"/>
              </a:spcAft>
            </a:pPr>
            <a:r>
              <a:rPr sz="780" b="0" i="0">
                <a:solidFill>
                  <a:srgbClr val="5A677D"/>
                </a:solidFill>
                <a:latin typeface="Calibri"/>
              </a:rPr>
              <a:t>2 KB memo · 20 recipients · 301 mark slots · next suspect 10σ behind</a:t>
            </a:r>
          </a:p>
        </p:txBody>
      </p:sp>
      <p:sp>
        <p:nvSpPr>
          <p:cNvPr id="15394" name="TextBox 15393"/>
          <p:cNvSpPr txBox="1"/>
          <p:nvPr/>
        </p:nvSpPr>
        <p:spPr>
          <a:xfrm>
            <a:off x="4882896" y="5157216"/>
            <a:ext cx="3017520" cy="1024128"/>
          </a:xfrm>
          <a:prstGeom prst="rect">
            <a:avLst/>
          </a:prstGeom>
          <a:noFill/>
        </p:spPr>
        <p:txBody>
          <a:bodyPr wrap="square" anchor="t" lIns="0" rIns="0" tIns="0" bIns="0">
            <a:spAutoFit/>
          </a:bodyPr>
          <a:lstStyle/>
          <a:p>
            <a:pPr algn="l">
              <a:spcBef>
                <a:spcPts val="0"/>
              </a:spcBef>
              <a:spcAft>
                <a:spcPts val="220"/>
              </a:spcAft>
            </a:pPr>
            <a:r>
              <a:rPr sz="780" b="1">
                <a:solidFill>
                  <a:srgbClr val="1B7F5E"/>
                </a:solidFill>
                <a:latin typeface="Calibri"/>
              </a:rPr>
              <a:t>✓  </a:t>
            </a:r>
            <a:r>
              <a:rPr sz="780" b="0">
                <a:solidFill>
                  <a:srgbClr val="202838"/>
                </a:solidFill>
                <a:latin typeface="Calibri"/>
              </a:rPr>
              <a:t>statistical significance (provable bound &lt; α)</a:t>
            </a:r>
          </a:p>
          <a:p>
            <a:pPr algn="l">
              <a:spcBef>
                <a:spcPts val="0"/>
              </a:spcBef>
              <a:spcAft>
                <a:spcPts val="220"/>
              </a:spcAft>
            </a:pPr>
            <a:r>
              <a:rPr sz="780" b="1">
                <a:solidFill>
                  <a:srgbClr val="1B7F5E"/>
                </a:solidFill>
                <a:latin typeface="Calibri"/>
              </a:rPr>
              <a:t>✓  </a:t>
            </a:r>
            <a:r>
              <a:rPr sz="780" b="0">
                <a:solidFill>
                  <a:srgbClr val="202838"/>
                </a:solidFill>
                <a:latin typeface="Calibri"/>
              </a:rPr>
              <a:t>the accused's own ML-DSA-65 receipt verifies</a:t>
            </a:r>
          </a:p>
          <a:p>
            <a:pPr algn="l">
              <a:spcBef>
                <a:spcPts val="0"/>
              </a:spcBef>
              <a:spcAft>
                <a:spcPts val="220"/>
              </a:spcAft>
            </a:pPr>
            <a:r>
              <a:rPr sz="780" b="1">
                <a:solidFill>
                  <a:srgbClr val="1B7F5E"/>
                </a:solidFill>
                <a:latin typeface="Calibri"/>
              </a:rPr>
              <a:t>✓  </a:t>
            </a:r>
            <a:r>
              <a:rPr sz="780" b="0">
                <a:solidFill>
                  <a:srgbClr val="202838"/>
                </a:solidFill>
                <a:latin typeface="Calibri"/>
              </a:rPr>
              <a:t>ledger hash chain intact</a:t>
            </a:r>
          </a:p>
          <a:p>
            <a:pPr algn="l">
              <a:spcBef>
                <a:spcPts val="0"/>
              </a:spcBef>
              <a:spcAft>
                <a:spcPts val="220"/>
              </a:spcAft>
            </a:pPr>
            <a:r>
              <a:rPr sz="780" b="1">
                <a:solidFill>
                  <a:srgbClr val="1B7F5E"/>
                </a:solidFill>
                <a:latin typeface="Calibri"/>
              </a:rPr>
              <a:t>✓  </a:t>
            </a:r>
            <a:r>
              <a:rPr sz="780" b="0">
                <a:solidFill>
                  <a:srgbClr val="202838"/>
                </a:solidFill>
                <a:latin typeface="Calibri"/>
              </a:rPr>
              <a:t>block committed by 2 of 3 validators</a:t>
            </a:r>
          </a:p>
          <a:p>
            <a:pPr algn="l">
              <a:spcBef>
                <a:spcPts val="0"/>
              </a:spcBef>
              <a:spcAft>
                <a:spcPts val="220"/>
              </a:spcAft>
            </a:pPr>
            <a:r>
              <a:rPr sz="780" b="1">
                <a:solidFill>
                  <a:srgbClr val="1B7F5E"/>
                </a:solidFill>
                <a:latin typeface="Calibri"/>
              </a:rPr>
              <a:t>✓  </a:t>
            </a:r>
            <a:r>
              <a:rPr sz="780" b="0">
                <a:solidFill>
                  <a:srgbClr val="202838"/>
                </a:solidFill>
                <a:latin typeface="Calibri"/>
              </a:rPr>
              <a:t>Merkle inclusion proof to the signed root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1F3864"/>
                </a:solidFill>
                <a:latin typeface="Calibri"/>
              </a:rPr>
              <a:t>NOX</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84048" y="1188720"/>
            <a:ext cx="788212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End-to-end flow</a:t>
            </a:r>
          </a:p>
          <a:p>
            <a:pPr algn="l">
              <a:spcBef>
                <a:spcPts val="0"/>
              </a:spcBef>
              <a:spcAft>
                <a:spcPts val="0"/>
              </a:spcAft>
            </a:pPr>
            <a:r>
              <a:rPr sz="850" b="0" i="1">
                <a:solidFill>
                  <a:srgbClr val="5A677D"/>
                </a:solidFill>
                <a:latin typeface="Calibri"/>
              </a:rPr>
              <a:t>distribute · decrypt &amp; record · trace — every stage runs offline</a:t>
            </a:r>
          </a:p>
        </p:txBody>
      </p:sp>
      <p:sp>
        <p:nvSpPr>
          <p:cNvPr id="17411" name="TextBox 17410"/>
          <p:cNvSpPr txBox="1"/>
          <p:nvPr/>
        </p:nvSpPr>
        <p:spPr>
          <a:xfrm>
            <a:off x="384048" y="1463040"/>
            <a:ext cx="7882127" cy="164592"/>
          </a:xfrm>
          <a:prstGeom prst="rect">
            <a:avLst/>
          </a:prstGeom>
          <a:noFill/>
        </p:spPr>
        <p:txBody>
          <a:bodyPr wrap="square" anchor="t" lIns="0" rIns="0" tIns="0" bIns="0">
            <a:spAutoFit/>
          </a:bodyPr>
          <a:lstStyle/>
          <a:p>
            <a:pPr algn="l">
              <a:spcBef>
                <a:spcPts val="0"/>
              </a:spcBef>
              <a:spcAft>
                <a:spcPts val="0"/>
              </a:spcAft>
            </a:pPr>
            <a:r>
              <a:rPr sz="740" b="1" i="0">
                <a:solidFill>
                  <a:srgbClr val="E06C18"/>
                </a:solidFill>
                <a:latin typeface="Calibri"/>
              </a:rPr>
              <a:t>1  DISTRIBUTE</a:t>
            </a:r>
          </a:p>
        </p:txBody>
      </p:sp>
      <p:sp>
        <p:nvSpPr>
          <p:cNvPr id="17412" name="Rounded Rectangle 17411"/>
          <p:cNvSpPr/>
          <p:nvPr/>
        </p:nvSpPr>
        <p:spPr>
          <a:xfrm>
            <a:off x="384048" y="1645920"/>
            <a:ext cx="1755648" cy="786384"/>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448056" y="170992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Sender's document</a:t>
            </a:r>
          </a:p>
          <a:p>
            <a:pPr algn="ctr">
              <a:spcBef>
                <a:spcPts val="0"/>
              </a:spcBef>
              <a:spcAft>
                <a:spcPts val="50"/>
              </a:spcAft>
            </a:pPr>
            <a:r>
              <a:rPr sz="700" b="0" i="0">
                <a:solidFill>
                  <a:srgbClr val="5A677D"/>
                </a:solidFill>
                <a:latin typeface="Calibri"/>
              </a:rPr>
              <a:t>split into base +</a:t>
            </a:r>
          </a:p>
          <a:p>
            <a:pPr algn="ctr">
              <a:spcBef>
                <a:spcPts val="0"/>
              </a:spcBef>
              <a:spcAft>
                <a:spcPts val="50"/>
              </a:spcAft>
            </a:pPr>
            <a:r>
              <a:rPr sz="700" b="0" i="0">
                <a:solidFill>
                  <a:srgbClr val="5A677D"/>
                </a:solidFill>
                <a:latin typeface="Calibri"/>
              </a:rPr>
              <a:t>m mark slots</a:t>
            </a:r>
          </a:p>
        </p:txBody>
      </p:sp>
      <p:sp>
        <p:nvSpPr>
          <p:cNvPr id="17414" name="Right Arrow 17413"/>
          <p:cNvSpPr/>
          <p:nvPr/>
        </p:nvSpPr>
        <p:spPr>
          <a:xfrm>
            <a:off x="2176272" y="1988819"/>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414015" y="1645920"/>
            <a:ext cx="1755648" cy="786384"/>
          </a:xfrm>
          <a:prstGeom prst="roundRect">
            <a:avLst>
              <a:gd name="adj" fmla="val 8000"/>
            </a:avLst>
          </a:prstGeom>
          <a:solidFill>
            <a:srgbClr val="FDF3E2"/>
          </a:solidFill>
          <a:ln w="9525">
            <a:solidFill>
              <a:srgbClr val="E8C9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2478023" y="170992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E06C18"/>
                </a:solidFill>
                <a:latin typeface="Calibri"/>
              </a:rPr>
              <a:t>Variant encryption</a:t>
            </a:r>
          </a:p>
          <a:p>
            <a:pPr algn="ctr">
              <a:spcBef>
                <a:spcPts val="0"/>
              </a:spcBef>
              <a:spcAft>
                <a:spcPts val="50"/>
              </a:spcAft>
            </a:pPr>
            <a:r>
              <a:rPr sz="700" b="0" i="0">
                <a:solidFill>
                  <a:srgbClr val="5A677D"/>
                </a:solidFill>
                <a:latin typeface="Calibri"/>
              </a:rPr>
              <a:t>AES-256-GCM,</a:t>
            </a:r>
          </a:p>
          <a:p>
            <a:pPr algn="ctr">
              <a:spcBef>
                <a:spcPts val="0"/>
              </a:spcBef>
              <a:spcAft>
                <a:spcPts val="50"/>
              </a:spcAft>
            </a:pPr>
            <a:r>
              <a:rPr sz="700" b="0" i="0">
                <a:solidFill>
                  <a:srgbClr val="5A677D"/>
                </a:solidFill>
                <a:latin typeface="Calibri"/>
              </a:rPr>
              <a:t>a different key per rendering</a:t>
            </a:r>
          </a:p>
        </p:txBody>
      </p:sp>
      <p:sp>
        <p:nvSpPr>
          <p:cNvPr id="17417" name="Right Arrow 17416"/>
          <p:cNvSpPr/>
          <p:nvPr/>
        </p:nvSpPr>
        <p:spPr>
          <a:xfrm>
            <a:off x="4206240" y="1988819"/>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443983" y="1645920"/>
            <a:ext cx="1755648" cy="786384"/>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4507992" y="170992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Key bundles</a:t>
            </a:r>
          </a:p>
          <a:p>
            <a:pPr algn="ctr">
              <a:spcBef>
                <a:spcPts val="0"/>
              </a:spcBef>
              <a:spcAft>
                <a:spcPts val="50"/>
              </a:spcAft>
            </a:pPr>
            <a:r>
              <a:rPr sz="700" b="0" i="0">
                <a:solidFill>
                  <a:srgbClr val="5A677D"/>
                </a:solidFill>
                <a:latin typeface="Calibri"/>
              </a:rPr>
              <a:t>wrapped with ML-KEM-768</a:t>
            </a:r>
          </a:p>
          <a:p>
            <a:pPr algn="ctr">
              <a:spcBef>
                <a:spcPts val="0"/>
              </a:spcBef>
              <a:spcAft>
                <a:spcPts val="50"/>
              </a:spcAft>
            </a:pPr>
            <a:r>
              <a:rPr sz="700" b="0" i="0">
                <a:solidFill>
                  <a:srgbClr val="5A677D"/>
                </a:solidFill>
                <a:latin typeface="Calibri"/>
              </a:rPr>
              <a:t>one key per slot each</a:t>
            </a:r>
          </a:p>
        </p:txBody>
      </p:sp>
      <p:sp>
        <p:nvSpPr>
          <p:cNvPr id="17420" name="Right Arrow 17419"/>
          <p:cNvSpPr/>
          <p:nvPr/>
        </p:nvSpPr>
        <p:spPr>
          <a:xfrm>
            <a:off x="6236207" y="1988819"/>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473951" y="1645920"/>
            <a:ext cx="1755648" cy="786384"/>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6537959" y="170992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One package</a:t>
            </a:r>
          </a:p>
          <a:p>
            <a:pPr algn="ctr">
              <a:spcBef>
                <a:spcPts val="0"/>
              </a:spcBef>
              <a:spcAft>
                <a:spcPts val="50"/>
              </a:spcAft>
            </a:pPr>
            <a:r>
              <a:rPr sz="700" b="0" i="0">
                <a:solidFill>
                  <a:srgbClr val="5A677D"/>
                </a:solidFill>
                <a:latin typeface="Calibri"/>
              </a:rPr>
              <a:t>identical ciphertext</a:t>
            </a:r>
          </a:p>
          <a:p>
            <a:pPr algn="ctr">
              <a:spcBef>
                <a:spcPts val="0"/>
              </a:spcBef>
              <a:spcAft>
                <a:spcPts val="50"/>
              </a:spcAft>
            </a:pPr>
            <a:r>
              <a:rPr sz="700" b="0" i="0">
                <a:solidFill>
                  <a:srgbClr val="5A677D"/>
                </a:solidFill>
                <a:latin typeface="Calibri"/>
              </a:rPr>
              <a:t>for all N recipients</a:t>
            </a:r>
          </a:p>
        </p:txBody>
      </p:sp>
      <p:sp>
        <p:nvSpPr>
          <p:cNvPr id="17423" name="Down Arrow 17422"/>
          <p:cNvSpPr/>
          <p:nvPr/>
        </p:nvSpPr>
        <p:spPr>
          <a:xfrm>
            <a:off x="4274820" y="2468880"/>
            <a:ext cx="100584" cy="201168"/>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384048" y="2651760"/>
            <a:ext cx="7882127" cy="164592"/>
          </a:xfrm>
          <a:prstGeom prst="rect">
            <a:avLst/>
          </a:prstGeom>
          <a:noFill/>
        </p:spPr>
        <p:txBody>
          <a:bodyPr wrap="square" anchor="t" lIns="0" rIns="0" tIns="0" bIns="0">
            <a:spAutoFit/>
          </a:bodyPr>
          <a:lstStyle/>
          <a:p>
            <a:pPr algn="l">
              <a:spcBef>
                <a:spcPts val="0"/>
              </a:spcBef>
              <a:spcAft>
                <a:spcPts val="0"/>
              </a:spcAft>
            </a:pPr>
            <a:r>
              <a:rPr sz="740" b="1" i="0">
                <a:solidFill>
                  <a:srgbClr val="1B7F5E"/>
                </a:solidFill>
                <a:latin typeface="Calibri"/>
              </a:rPr>
              <a:t>2  DECRYPT  &amp;  RECORD</a:t>
            </a:r>
          </a:p>
        </p:txBody>
      </p:sp>
      <p:sp>
        <p:nvSpPr>
          <p:cNvPr id="17425" name="Rounded Rectangle 17424"/>
          <p:cNvSpPr/>
          <p:nvPr/>
        </p:nvSpPr>
        <p:spPr>
          <a:xfrm>
            <a:off x="384048" y="2834640"/>
            <a:ext cx="1755648" cy="786384"/>
          </a:xfrm>
          <a:prstGeom prst="roundRect">
            <a:avLst>
              <a:gd name="adj" fmla="val 8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TextBox 17425"/>
          <p:cNvSpPr txBox="1"/>
          <p:nvPr/>
        </p:nvSpPr>
        <p:spPr>
          <a:xfrm>
            <a:off x="448056" y="289864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B7F5E"/>
                </a:solidFill>
                <a:latin typeface="Calibri"/>
              </a:rPr>
              <a:t>Recipient decrypts</a:t>
            </a:r>
          </a:p>
          <a:p>
            <a:pPr algn="ctr">
              <a:spcBef>
                <a:spcPts val="0"/>
              </a:spcBef>
              <a:spcAft>
                <a:spcPts val="50"/>
              </a:spcAft>
            </a:pPr>
            <a:r>
              <a:rPr sz="700" b="0" i="0">
                <a:solidFill>
                  <a:srgbClr val="5A677D"/>
                </a:solidFill>
                <a:latin typeface="Calibri"/>
              </a:rPr>
              <a:t>unwraps bundle,</a:t>
            </a:r>
          </a:p>
          <a:p>
            <a:pPr algn="ctr">
              <a:spcBef>
                <a:spcPts val="0"/>
              </a:spcBef>
              <a:spcAft>
                <a:spcPts val="50"/>
              </a:spcAft>
            </a:pPr>
            <a:r>
              <a:rPr sz="700" b="0" i="0">
                <a:solidFill>
                  <a:srgbClr val="5A677D"/>
                </a:solidFill>
                <a:latin typeface="Calibri"/>
              </a:rPr>
              <a:t>spends one session</a:t>
            </a:r>
          </a:p>
        </p:txBody>
      </p:sp>
      <p:sp>
        <p:nvSpPr>
          <p:cNvPr id="17427" name="Right Arrow 17426"/>
          <p:cNvSpPr/>
          <p:nvPr/>
        </p:nvSpPr>
        <p:spPr>
          <a:xfrm>
            <a:off x="2176272" y="3177540"/>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2414015" y="2834640"/>
            <a:ext cx="1755648" cy="786384"/>
          </a:xfrm>
          <a:prstGeom prst="roundRect">
            <a:avLst>
              <a:gd name="adj" fmla="val 8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2478023" y="289864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B7F5E"/>
                </a:solidFill>
                <a:latin typeface="Calibri"/>
              </a:rPr>
              <a:t>Uniquely marked copy</a:t>
            </a:r>
          </a:p>
          <a:p>
            <a:pPr algn="ctr">
              <a:spcBef>
                <a:spcPts val="0"/>
              </a:spcBef>
              <a:spcAft>
                <a:spcPts val="50"/>
              </a:spcAft>
            </a:pPr>
            <a:r>
              <a:rPr sz="700" b="0" i="0">
                <a:solidFill>
                  <a:srgbClr val="5A677D"/>
                </a:solidFill>
                <a:latin typeface="Calibri"/>
              </a:rPr>
              <a:t>one rendering per slot;</a:t>
            </a:r>
          </a:p>
          <a:p>
            <a:pPr algn="ctr">
              <a:spcBef>
                <a:spcPts val="0"/>
              </a:spcBef>
              <a:spcAft>
                <a:spcPts val="50"/>
              </a:spcAft>
            </a:pPr>
            <a:r>
              <a:rPr sz="700" b="0" i="0">
                <a:solidFill>
                  <a:srgbClr val="5A677D"/>
                </a:solidFill>
                <a:latin typeface="Calibri"/>
              </a:rPr>
              <a:t>the other is a tag failure</a:t>
            </a:r>
          </a:p>
        </p:txBody>
      </p:sp>
      <p:sp>
        <p:nvSpPr>
          <p:cNvPr id="17430" name="Right Arrow 17429"/>
          <p:cNvSpPr/>
          <p:nvPr/>
        </p:nvSpPr>
        <p:spPr>
          <a:xfrm>
            <a:off x="4206240" y="3177540"/>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443983" y="2834640"/>
            <a:ext cx="1755648" cy="786384"/>
          </a:xfrm>
          <a:prstGeom prst="roundRect">
            <a:avLst>
              <a:gd name="adj" fmla="val 8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4507992" y="289864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B7F5E"/>
                </a:solidFill>
                <a:latin typeface="Calibri"/>
              </a:rPr>
              <a:t>Signed receipt</a:t>
            </a:r>
          </a:p>
          <a:p>
            <a:pPr algn="ctr">
              <a:spcBef>
                <a:spcPts val="0"/>
              </a:spcBef>
              <a:spcAft>
                <a:spcPts val="50"/>
              </a:spcAft>
            </a:pPr>
            <a:r>
              <a:rPr sz="700" b="0" i="0">
                <a:solidFill>
                  <a:srgbClr val="5A677D"/>
                </a:solidFill>
                <a:latin typeface="Calibri"/>
              </a:rPr>
              <a:t>ML-DSA-65, recipient's</a:t>
            </a:r>
          </a:p>
          <a:p>
            <a:pPr algn="ctr">
              <a:spcBef>
                <a:spcPts val="0"/>
              </a:spcBef>
              <a:spcAft>
                <a:spcPts val="50"/>
              </a:spcAft>
            </a:pPr>
            <a:r>
              <a:rPr sz="700" b="0" i="0">
                <a:solidFill>
                  <a:srgbClr val="5A677D"/>
                </a:solidFill>
                <a:latin typeface="Calibri"/>
              </a:rPr>
              <a:t>own private key</a:t>
            </a:r>
          </a:p>
        </p:txBody>
      </p:sp>
      <p:sp>
        <p:nvSpPr>
          <p:cNvPr id="17433" name="Right Arrow 17432"/>
          <p:cNvSpPr/>
          <p:nvPr/>
        </p:nvSpPr>
        <p:spPr>
          <a:xfrm>
            <a:off x="6236207" y="3177540"/>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Rounded Rectangle 17433"/>
          <p:cNvSpPr/>
          <p:nvPr/>
        </p:nvSpPr>
        <p:spPr>
          <a:xfrm>
            <a:off x="6473951" y="2834640"/>
            <a:ext cx="1755648" cy="786384"/>
          </a:xfrm>
          <a:prstGeom prst="roundRect">
            <a:avLst>
              <a:gd name="adj" fmla="val 8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6537959" y="289864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B7F5E"/>
                </a:solidFill>
                <a:latin typeface="Calibri"/>
              </a:rPr>
              <a:t>Distributed ledger</a:t>
            </a:r>
          </a:p>
          <a:p>
            <a:pPr algn="ctr">
              <a:spcBef>
                <a:spcPts val="0"/>
              </a:spcBef>
              <a:spcAft>
                <a:spcPts val="50"/>
              </a:spcAft>
            </a:pPr>
            <a:r>
              <a:rPr sz="700" b="0" i="0">
                <a:solidFill>
                  <a:srgbClr val="5A677D"/>
                </a:solidFill>
                <a:latin typeface="Calibri"/>
              </a:rPr>
              <a:t>3 validator replicas,</a:t>
            </a:r>
          </a:p>
          <a:p>
            <a:pPr algn="ctr">
              <a:spcBef>
                <a:spcPts val="0"/>
              </a:spcBef>
              <a:spcAft>
                <a:spcPts val="50"/>
              </a:spcAft>
            </a:pPr>
            <a:r>
              <a:rPr sz="700" b="0" i="0">
                <a:solidFill>
                  <a:srgbClr val="5A677D"/>
                </a:solidFill>
                <a:latin typeface="Calibri"/>
              </a:rPr>
              <a:t>2-of-3 block commit</a:t>
            </a:r>
          </a:p>
        </p:txBody>
      </p:sp>
      <p:sp>
        <p:nvSpPr>
          <p:cNvPr id="17436" name="Down Arrow 17435"/>
          <p:cNvSpPr/>
          <p:nvPr/>
        </p:nvSpPr>
        <p:spPr>
          <a:xfrm>
            <a:off x="4274820" y="3657600"/>
            <a:ext cx="100584" cy="201168"/>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384048" y="3840480"/>
            <a:ext cx="7882127" cy="164592"/>
          </a:xfrm>
          <a:prstGeom prst="rect">
            <a:avLst/>
          </a:prstGeom>
          <a:noFill/>
        </p:spPr>
        <p:txBody>
          <a:bodyPr wrap="square" anchor="t" lIns="0" rIns="0" tIns="0" bIns="0">
            <a:spAutoFit/>
          </a:bodyPr>
          <a:lstStyle/>
          <a:p>
            <a:pPr algn="l">
              <a:spcBef>
                <a:spcPts val="0"/>
              </a:spcBef>
              <a:spcAft>
                <a:spcPts val="0"/>
              </a:spcAft>
            </a:pPr>
            <a:r>
              <a:rPr sz="740" b="1" i="0">
                <a:solidFill>
                  <a:srgbClr val="B42828"/>
                </a:solidFill>
                <a:latin typeface="Calibri"/>
              </a:rPr>
              <a:t>3  TRACE A LEAK</a:t>
            </a:r>
          </a:p>
        </p:txBody>
      </p:sp>
      <p:sp>
        <p:nvSpPr>
          <p:cNvPr id="17438" name="Rounded Rectangle 17437"/>
          <p:cNvSpPr/>
          <p:nvPr/>
        </p:nvSpPr>
        <p:spPr>
          <a:xfrm>
            <a:off x="384048" y="4023360"/>
            <a:ext cx="1755648" cy="786384"/>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448056" y="408736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Leaked copy</a:t>
            </a:r>
          </a:p>
          <a:p>
            <a:pPr algn="ctr">
              <a:spcBef>
                <a:spcPts val="0"/>
              </a:spcBef>
              <a:spcAft>
                <a:spcPts val="50"/>
              </a:spcAft>
            </a:pPr>
            <a:r>
              <a:rPr sz="700" b="0" i="0">
                <a:solidFill>
                  <a:srgbClr val="5A677D"/>
                </a:solidFill>
                <a:latin typeface="Calibri"/>
              </a:rPr>
              <a:t>extract the slot bits</a:t>
            </a:r>
          </a:p>
        </p:txBody>
      </p:sp>
      <p:sp>
        <p:nvSpPr>
          <p:cNvPr id="17440" name="Right Arrow 17439"/>
          <p:cNvSpPr/>
          <p:nvPr/>
        </p:nvSpPr>
        <p:spPr>
          <a:xfrm>
            <a:off x="2176272" y="4366260"/>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Rounded Rectangle 17440"/>
          <p:cNvSpPr/>
          <p:nvPr/>
        </p:nvSpPr>
        <p:spPr>
          <a:xfrm>
            <a:off x="2414015" y="4023360"/>
            <a:ext cx="1755648" cy="786384"/>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TextBox 17441"/>
          <p:cNvSpPr txBox="1"/>
          <p:nvPr/>
        </p:nvSpPr>
        <p:spPr>
          <a:xfrm>
            <a:off x="2478023" y="408736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Tardos scoring</a:t>
            </a:r>
          </a:p>
          <a:p>
            <a:pPr algn="ctr">
              <a:spcBef>
                <a:spcPts val="0"/>
              </a:spcBef>
              <a:spcAft>
                <a:spcPts val="50"/>
              </a:spcAft>
            </a:pPr>
            <a:r>
              <a:rPr sz="700" b="0" i="0">
                <a:solidFill>
                  <a:srgbClr val="5A677D"/>
                </a:solidFill>
                <a:latin typeface="Calibri"/>
              </a:rPr>
              <a:t>score against every</a:t>
            </a:r>
          </a:p>
          <a:p>
            <a:pPr algn="ctr">
              <a:spcBef>
                <a:spcPts val="0"/>
              </a:spcBef>
              <a:spcAft>
                <a:spcPts val="50"/>
              </a:spcAft>
            </a:pPr>
            <a:r>
              <a:rPr sz="700" b="0" i="0">
                <a:solidFill>
                  <a:srgbClr val="5A677D"/>
                </a:solidFill>
                <a:latin typeface="Calibri"/>
              </a:rPr>
              <a:t>issued codeword</a:t>
            </a:r>
          </a:p>
        </p:txBody>
      </p:sp>
      <p:sp>
        <p:nvSpPr>
          <p:cNvPr id="17443" name="Right Arrow 17442"/>
          <p:cNvSpPr/>
          <p:nvPr/>
        </p:nvSpPr>
        <p:spPr>
          <a:xfrm>
            <a:off x="4206240" y="4366260"/>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Rounded Rectangle 17443"/>
          <p:cNvSpPr/>
          <p:nvPr/>
        </p:nvSpPr>
        <p:spPr>
          <a:xfrm>
            <a:off x="4443983" y="4023360"/>
            <a:ext cx="1755648" cy="786384"/>
          </a:xfrm>
          <a:prstGeom prst="roundRect">
            <a:avLst>
              <a:gd name="adj" fmla="val 8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4507992" y="408736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1F3864"/>
                </a:solidFill>
                <a:latin typeface="Calibri"/>
              </a:rPr>
              <a:t>Ledger lookup</a:t>
            </a:r>
          </a:p>
          <a:p>
            <a:pPr algn="ctr">
              <a:spcBef>
                <a:spcPts val="0"/>
              </a:spcBef>
              <a:spcAft>
                <a:spcPts val="50"/>
              </a:spcAft>
            </a:pPr>
            <a:r>
              <a:rPr sz="700" b="0" i="0">
                <a:solidFill>
                  <a:srgbClr val="5A677D"/>
                </a:solidFill>
                <a:latin typeface="Calibri"/>
              </a:rPr>
              <a:t>commitment → receipt,</a:t>
            </a:r>
          </a:p>
          <a:p>
            <a:pPr algn="ctr">
              <a:spcBef>
                <a:spcPts val="0"/>
              </a:spcBef>
              <a:spcAft>
                <a:spcPts val="50"/>
              </a:spcAft>
            </a:pPr>
            <a:r>
              <a:rPr sz="700" b="0" i="0">
                <a:solidFill>
                  <a:srgbClr val="5A677D"/>
                </a:solidFill>
                <a:latin typeface="Calibri"/>
              </a:rPr>
              <a:t>signature + quorum checked</a:t>
            </a:r>
          </a:p>
        </p:txBody>
      </p:sp>
      <p:sp>
        <p:nvSpPr>
          <p:cNvPr id="17446" name="Right Arrow 17445"/>
          <p:cNvSpPr/>
          <p:nvPr/>
        </p:nvSpPr>
        <p:spPr>
          <a:xfrm>
            <a:off x="6236207" y="4366260"/>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7" name="Rounded Rectangle 17446"/>
          <p:cNvSpPr/>
          <p:nvPr/>
        </p:nvSpPr>
        <p:spPr>
          <a:xfrm>
            <a:off x="6473951" y="4023360"/>
            <a:ext cx="1755648" cy="786384"/>
          </a:xfrm>
          <a:prstGeom prst="roundRect">
            <a:avLst>
              <a:gd name="adj" fmla="val 8000"/>
            </a:avLst>
          </a:prstGeom>
          <a:solidFill>
            <a:srgbClr val="FDF3E2"/>
          </a:solidFill>
          <a:ln w="9525">
            <a:solidFill>
              <a:srgbClr val="E8C9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6537959" y="4087368"/>
            <a:ext cx="1627631" cy="658368"/>
          </a:xfrm>
          <a:prstGeom prst="rect">
            <a:avLst/>
          </a:prstGeom>
          <a:noFill/>
        </p:spPr>
        <p:txBody>
          <a:bodyPr wrap="square" anchor="ctr" lIns="0" rIns="0" tIns="0" bIns="0">
            <a:spAutoFit/>
          </a:bodyPr>
          <a:lstStyle/>
          <a:p>
            <a:pPr algn="ctr">
              <a:spcBef>
                <a:spcPts val="0"/>
              </a:spcBef>
              <a:spcAft>
                <a:spcPts val="150"/>
              </a:spcAft>
            </a:pPr>
            <a:r>
              <a:rPr sz="860" b="1" i="0">
                <a:solidFill>
                  <a:srgbClr val="E06C18"/>
                </a:solidFill>
                <a:latin typeface="Calibri"/>
              </a:rPr>
              <a:t>Verifiable verdict</a:t>
            </a:r>
          </a:p>
          <a:p>
            <a:pPr algn="ctr">
              <a:spcBef>
                <a:spcPts val="0"/>
              </a:spcBef>
              <a:spcAft>
                <a:spcPts val="50"/>
              </a:spcAft>
            </a:pPr>
            <a:r>
              <a:rPr sz="700" b="0" i="0">
                <a:solidFill>
                  <a:srgbClr val="5A677D"/>
                </a:solidFill>
                <a:latin typeface="Calibri"/>
              </a:rPr>
              <a:t>recipient + session</a:t>
            </a:r>
          </a:p>
          <a:p>
            <a:pPr algn="ctr">
              <a:spcBef>
                <a:spcPts val="0"/>
              </a:spcBef>
              <a:spcAft>
                <a:spcPts val="50"/>
              </a:spcAft>
            </a:pPr>
            <a:r>
              <a:rPr sz="700" b="0" i="0">
                <a:solidFill>
                  <a:srgbClr val="5A677D"/>
                </a:solidFill>
                <a:latin typeface="Calibri"/>
              </a:rPr>
              <a:t>+ provable error bound</a:t>
            </a:r>
          </a:p>
        </p:txBody>
      </p:sp>
      <p:sp>
        <p:nvSpPr>
          <p:cNvPr id="17449" name="TextBox 17448"/>
          <p:cNvSpPr txBox="1"/>
          <p:nvPr/>
        </p:nvSpPr>
        <p:spPr>
          <a:xfrm>
            <a:off x="384048" y="4901184"/>
            <a:ext cx="7882127" cy="219456"/>
          </a:xfrm>
          <a:prstGeom prst="rect">
            <a:avLst/>
          </a:prstGeom>
          <a:noFill/>
        </p:spPr>
        <p:txBody>
          <a:bodyPr wrap="square" anchor="t" lIns="0" rIns="0" tIns="0" bIns="0">
            <a:spAutoFit/>
          </a:bodyPr>
          <a:lstStyle/>
          <a:p>
            <a:pPr algn="l">
              <a:spcBef>
                <a:spcPts val="0"/>
              </a:spcBef>
              <a:spcAft>
                <a:spcPts val="0"/>
              </a:spcAft>
            </a:pPr>
            <a:r>
              <a:rPr sz="819" b="1">
                <a:solidFill>
                  <a:srgbClr val="1F3864"/>
                </a:solidFill>
                <a:latin typeface="Calibri"/>
              </a:rPr>
              <a:t>Offline and air-gapped throughout · </a:t>
            </a:r>
            <a:r>
              <a:rPr sz="819" b="0">
                <a:solidFill>
                  <a:srgbClr val="5A677D"/>
                </a:solidFill>
                <a:latin typeface="Calibri"/>
              </a:rPr>
              <a:t>no cloud KMS, no public blockchain, no network call at any stage — asserted by a test that refuses every socket operation.</a:t>
            </a:r>
          </a:p>
        </p:txBody>
      </p:sp>
      <p:sp>
        <p:nvSpPr>
          <p:cNvPr id="17450" name="TextBox 17449"/>
          <p:cNvSpPr txBox="1"/>
          <p:nvPr/>
        </p:nvSpPr>
        <p:spPr>
          <a:xfrm>
            <a:off x="8503920" y="1188720"/>
            <a:ext cx="3300984"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Technologies to be used</a:t>
            </a:r>
          </a:p>
        </p:txBody>
      </p:sp>
      <p:sp>
        <p:nvSpPr>
          <p:cNvPr id="17451" name="TextBox 17450"/>
          <p:cNvSpPr txBox="1"/>
          <p:nvPr/>
        </p:nvSpPr>
        <p:spPr>
          <a:xfrm>
            <a:off x="8503920" y="1481328"/>
            <a:ext cx="3300984" cy="1572768"/>
          </a:xfrm>
          <a:prstGeom prst="rect">
            <a:avLst/>
          </a:prstGeom>
          <a:noFill/>
        </p:spPr>
        <p:txBody>
          <a:bodyPr wrap="square" anchor="t" lIns="0" rIns="0" tIns="0" bIns="0">
            <a:spAutoFit/>
          </a:bodyPr>
          <a:lstStyle/>
          <a:p>
            <a:pPr algn="l">
              <a:spcBef>
                <a:spcPts val="0"/>
              </a:spcBef>
              <a:spcAft>
                <a:spcPts val="260"/>
              </a:spcAft>
            </a:pPr>
            <a:r>
              <a:rPr sz="840" b="1">
                <a:solidFill>
                  <a:srgbClr val="1F3864"/>
                </a:solidFill>
                <a:latin typeface="Calibri"/>
              </a:rPr>
              <a:t>Key exchange   </a:t>
            </a:r>
            <a:r>
              <a:rPr sz="840" b="0">
                <a:solidFill>
                  <a:srgbClr val="202838"/>
                </a:solidFill>
                <a:latin typeface="Calibri"/>
              </a:rPr>
              <a:t>ML-KEM-768  (FIPS 203)</a:t>
            </a:r>
          </a:p>
          <a:p>
            <a:pPr algn="l">
              <a:spcBef>
                <a:spcPts val="0"/>
              </a:spcBef>
              <a:spcAft>
                <a:spcPts val="260"/>
              </a:spcAft>
            </a:pPr>
            <a:r>
              <a:rPr sz="840" b="1">
                <a:solidFill>
                  <a:srgbClr val="1F3864"/>
                </a:solidFill>
                <a:latin typeface="Calibri"/>
              </a:rPr>
              <a:t>Signatures   </a:t>
            </a:r>
            <a:r>
              <a:rPr sz="840" b="0">
                <a:solidFill>
                  <a:srgbClr val="202838"/>
                </a:solidFill>
                <a:latin typeface="Calibri"/>
              </a:rPr>
              <a:t>ML-DSA-65  (FIPS 204)</a:t>
            </a:r>
          </a:p>
          <a:p>
            <a:pPr algn="l">
              <a:spcBef>
                <a:spcPts val="0"/>
              </a:spcBef>
              <a:spcAft>
                <a:spcPts val="260"/>
              </a:spcAft>
            </a:pPr>
            <a:r>
              <a:rPr sz="840" b="1">
                <a:solidFill>
                  <a:srgbClr val="1F3864"/>
                </a:solidFill>
                <a:latin typeface="Calibri"/>
              </a:rPr>
              <a:t>PQC library   </a:t>
            </a:r>
            <a:r>
              <a:rPr sz="840" b="0">
                <a:solidFill>
                  <a:srgbClr val="202838"/>
                </a:solidFill>
                <a:latin typeface="Calibri"/>
              </a:rPr>
              <a:t>liboqs 0.16.0 via liboqs-python</a:t>
            </a:r>
          </a:p>
          <a:p>
            <a:pPr algn="l">
              <a:spcBef>
                <a:spcPts val="0"/>
              </a:spcBef>
              <a:spcAft>
                <a:spcPts val="260"/>
              </a:spcAft>
            </a:pPr>
            <a:r>
              <a:rPr sz="840" b="1">
                <a:solidFill>
                  <a:srgbClr val="1F3864"/>
                </a:solidFill>
                <a:latin typeface="Calibri"/>
              </a:rPr>
              <a:t>Content   </a:t>
            </a:r>
            <a:r>
              <a:rPr sz="840" b="0">
                <a:solidFill>
                  <a:srgbClr val="202838"/>
                </a:solidFill>
                <a:latin typeface="Calibri"/>
              </a:rPr>
              <a:t>AES-256-GCM · HKDF-SHA3-256</a:t>
            </a:r>
          </a:p>
          <a:p>
            <a:pPr algn="l">
              <a:spcBef>
                <a:spcPts val="0"/>
              </a:spcBef>
              <a:spcAft>
                <a:spcPts val="260"/>
              </a:spcAft>
            </a:pPr>
            <a:r>
              <a:rPr sz="840" b="1">
                <a:solidFill>
                  <a:srgbClr val="1F3864"/>
                </a:solidFill>
                <a:latin typeface="Calibri"/>
              </a:rPr>
              <a:t>Fingerprint   </a:t>
            </a:r>
            <a:r>
              <a:rPr sz="840" b="0">
                <a:solidFill>
                  <a:srgbClr val="202838"/>
                </a:solidFill>
                <a:latin typeface="Calibri"/>
              </a:rPr>
              <a:t>symmetric Tardos code (Škorić)</a:t>
            </a:r>
          </a:p>
          <a:p>
            <a:pPr algn="l">
              <a:spcBef>
                <a:spcPts val="0"/>
              </a:spcBef>
              <a:spcAft>
                <a:spcPts val="260"/>
              </a:spcAft>
            </a:pPr>
            <a:r>
              <a:rPr sz="840" b="1">
                <a:solidFill>
                  <a:srgbClr val="1F3864"/>
                </a:solidFill>
                <a:latin typeface="Calibri"/>
              </a:rPr>
              <a:t>Ledger   </a:t>
            </a:r>
            <a:r>
              <a:rPr sz="840" b="0">
                <a:solidFill>
                  <a:srgbClr val="202838"/>
                </a:solidFill>
                <a:latin typeface="Calibri"/>
              </a:rPr>
              <a:t>hash chain + Merkle blocks, 2-of-3</a:t>
            </a:r>
          </a:p>
          <a:p>
            <a:pPr algn="l">
              <a:spcBef>
                <a:spcPts val="0"/>
              </a:spcBef>
              <a:spcAft>
                <a:spcPts val="260"/>
              </a:spcAft>
            </a:pPr>
            <a:r>
              <a:rPr sz="840" b="1">
                <a:solidFill>
                  <a:srgbClr val="1F3864"/>
                </a:solidFill>
                <a:latin typeface="Calibri"/>
              </a:rPr>
              <a:t>Carriers   </a:t>
            </a:r>
            <a:r>
              <a:rPr sz="840" b="0">
                <a:solidFill>
                  <a:srgbClr val="202838"/>
                </a:solidFill>
                <a:latin typeface="Calibri"/>
              </a:rPr>
              <a:t>zero-width space · PDF kerning</a:t>
            </a:r>
          </a:p>
          <a:p>
            <a:pPr algn="l">
              <a:spcBef>
                <a:spcPts val="0"/>
              </a:spcBef>
              <a:spcAft>
                <a:spcPts val="260"/>
              </a:spcAft>
            </a:pPr>
            <a:r>
              <a:rPr sz="840" b="1">
                <a:solidFill>
                  <a:srgbClr val="1F3864"/>
                </a:solidFill>
                <a:latin typeface="Calibri"/>
              </a:rPr>
              <a:t>Stack   </a:t>
            </a:r>
            <a:r>
              <a:rPr sz="840" b="0">
                <a:solidFill>
                  <a:srgbClr val="202838"/>
                </a:solidFill>
                <a:latin typeface="Calibri"/>
              </a:rPr>
              <a:t>Python 3.11 · FastAPI · NumPy · Docker</a:t>
            </a:r>
          </a:p>
        </p:txBody>
      </p:sp>
      <p:sp>
        <p:nvSpPr>
          <p:cNvPr id="17452" name="TextBox 17451"/>
          <p:cNvSpPr txBox="1"/>
          <p:nvPr/>
        </p:nvSpPr>
        <p:spPr>
          <a:xfrm>
            <a:off x="8503920" y="3328415"/>
            <a:ext cx="3300984"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Methodology and process for implementation</a:t>
            </a:r>
          </a:p>
        </p:txBody>
      </p:sp>
      <p:sp>
        <p:nvSpPr>
          <p:cNvPr id="17453" name="TextBox 17452"/>
          <p:cNvSpPr txBox="1"/>
          <p:nvPr/>
        </p:nvSpPr>
        <p:spPr>
          <a:xfrm>
            <a:off x="8503920" y="3621024"/>
            <a:ext cx="3300984" cy="1371600"/>
          </a:xfrm>
          <a:prstGeom prst="rect">
            <a:avLst/>
          </a:prstGeom>
          <a:noFill/>
        </p:spPr>
        <p:txBody>
          <a:bodyPr wrap="square" anchor="t" lIns="0" rIns="0" tIns="0" bIns="0">
            <a:spAutoFit/>
          </a:bodyPr>
          <a:lstStyle/>
          <a:p/>
          <a:p>
            <a:pPr algn="l">
              <a:spcBef>
                <a:spcPts val="0"/>
              </a:spcBef>
              <a:spcAft>
                <a:spcPts val="340"/>
              </a:spcAft>
            </a:pPr>
            <a:r>
              <a:rPr sz="840" b="0" i="0">
                <a:solidFill>
                  <a:srgbClr val="202838"/>
                </a:solidFill>
                <a:latin typeface="Calibri"/>
              </a:rPr>
              <a:t>▪  Safety and audit layers built and tested before any tracing existed.</a:t>
            </a:r>
          </a:p>
          <a:p>
            <a:pPr algn="l">
              <a:spcBef>
                <a:spcPts val="0"/>
              </a:spcBef>
              <a:spcAft>
                <a:spcPts val="340"/>
              </a:spcAft>
            </a:pPr>
            <a:r>
              <a:rPr sz="840" b="0" i="0">
                <a:solidFill>
                  <a:srgbClr val="202838"/>
                </a:solidFill>
                <a:latin typeface="Calibri"/>
              </a:rPr>
              <a:t>▪  Test-first throughout: 163 tests, including the central claim that a recipient cannot decrypt the other variant.</a:t>
            </a:r>
          </a:p>
          <a:p>
            <a:pPr algn="l">
              <a:spcBef>
                <a:spcPts val="0"/>
              </a:spcBef>
              <a:spcAft>
                <a:spcPts val="340"/>
              </a:spcAft>
            </a:pPr>
            <a:r>
              <a:rPr sz="840" b="0" i="0">
                <a:solidFill>
                  <a:srgbClr val="202838"/>
                </a:solidFill>
                <a:latin typeface="Calibri"/>
              </a:rPr>
              <a:t>▪  Every attack on the carrier measured and published — including the four that defeat it.</a:t>
            </a:r>
          </a:p>
        </p:txBody>
      </p:sp>
      <p:sp>
        <p:nvSpPr>
          <p:cNvPr id="17454" name="Rounded Rectangle 17453"/>
          <p:cNvSpPr/>
          <p:nvPr/>
        </p:nvSpPr>
        <p:spPr>
          <a:xfrm>
            <a:off x="8503920" y="4937759"/>
            <a:ext cx="3300984" cy="932688"/>
          </a:xfrm>
          <a:prstGeom prst="roundRect">
            <a:avLst>
              <a:gd name="adj" fmla="val 7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5" name="TextBox 17454"/>
          <p:cNvSpPr txBox="1"/>
          <p:nvPr/>
        </p:nvSpPr>
        <p:spPr>
          <a:xfrm>
            <a:off x="8631936" y="5029200"/>
            <a:ext cx="3044952" cy="768096"/>
          </a:xfrm>
          <a:prstGeom prst="rect">
            <a:avLst/>
          </a:prstGeom>
          <a:noFill/>
        </p:spPr>
        <p:txBody>
          <a:bodyPr wrap="square" anchor="t" lIns="0" rIns="0" tIns="0" bIns="0">
            <a:spAutoFit/>
          </a:bodyPr>
          <a:lstStyle/>
          <a:p>
            <a:pPr algn="l">
              <a:spcBef>
                <a:spcPts val="0"/>
              </a:spcBef>
              <a:spcAft>
                <a:spcPts val="300"/>
              </a:spcAft>
            </a:pPr>
            <a:r>
              <a:rPr sz="760" b="1" i="0">
                <a:solidFill>
                  <a:srgbClr val="1B7F5E"/>
                </a:solidFill>
                <a:latin typeface="Calibri"/>
              </a:rPr>
              <a:t>WHY THIS DESIGN</a:t>
            </a:r>
          </a:p>
          <a:p>
            <a:pPr algn="l">
              <a:spcBef>
                <a:spcPts val="0"/>
              </a:spcBef>
              <a:spcAft>
                <a:spcPts val="0"/>
              </a:spcAft>
            </a:pPr>
            <a:r>
              <a:rPr sz="819" b="0" i="0">
                <a:solidFill>
                  <a:srgbClr val="5A677D"/>
                </a:solidFill>
                <a:latin typeface="Calibri"/>
              </a:rPr>
              <a:t>Broadcast ciphertext is shared by everyone; only a ~14 KB key bundle differs per recipient, independent of document size and of 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1F3864"/>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84048" y="1188720"/>
            <a:ext cx="367588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Analysis of the feasibility of the idea</a:t>
            </a:r>
          </a:p>
        </p:txBody>
      </p:sp>
      <p:sp>
        <p:nvSpPr>
          <p:cNvPr id="17411" name="Rounded Rectangle 17410"/>
          <p:cNvSpPr/>
          <p:nvPr/>
        </p:nvSpPr>
        <p:spPr>
          <a:xfrm>
            <a:off x="384048" y="1517904"/>
            <a:ext cx="3675887" cy="1993392"/>
          </a:xfrm>
          <a:prstGeom prst="roundRect">
            <a:avLst>
              <a:gd name="adj" fmla="val 6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21207" y="1627632"/>
            <a:ext cx="3401568" cy="2194560"/>
          </a:xfrm>
          <a:prstGeom prst="rect">
            <a:avLst/>
          </a:prstGeom>
          <a:noFill/>
        </p:spPr>
        <p:txBody>
          <a:bodyPr wrap="square" anchor="t" lIns="0" rIns="0" tIns="0" bIns="0">
            <a:spAutoFit/>
          </a:bodyPr>
          <a:lstStyle/>
          <a:p>
            <a:pPr algn="l">
              <a:spcBef>
                <a:spcPts val="0"/>
              </a:spcBef>
              <a:spcAft>
                <a:spcPts val="600"/>
              </a:spcAft>
            </a:pPr>
            <a:r>
              <a:rPr sz="880" b="1">
                <a:solidFill>
                  <a:srgbClr val="1F3864"/>
                </a:solidFill>
                <a:latin typeface="Calibri"/>
              </a:rPr>
              <a:t>Already built and running. </a:t>
            </a:r>
            <a:r>
              <a:rPr sz="880" b="0">
                <a:solidFill>
                  <a:srgbClr val="5A677D"/>
                </a:solidFill>
                <a:latin typeface="Calibri"/>
              </a:rPr>
              <a:t>Not a concept — a working deployment anyone can open right now.</a:t>
            </a:r>
          </a:p>
          <a:p>
            <a:pPr algn="l">
              <a:spcBef>
                <a:spcPts val="0"/>
              </a:spcBef>
              <a:spcAft>
                <a:spcPts val="600"/>
              </a:spcAft>
            </a:pPr>
            <a:r>
              <a:rPr sz="880" b="1">
                <a:solidFill>
                  <a:srgbClr val="1F3864"/>
                </a:solidFill>
                <a:latin typeface="Calibri"/>
              </a:rPr>
              <a:t>Runs on commodity CPU. </a:t>
            </a:r>
            <a:r>
              <a:rPr sz="880" b="0">
                <a:solidFill>
                  <a:srgbClr val="5A677D"/>
                </a:solidFill>
                <a:latin typeface="Calibri"/>
              </a:rPr>
              <a:t>No GPU, no HSM. The whole demo fits a free 0.1-vCPU tier.</a:t>
            </a:r>
          </a:p>
          <a:p>
            <a:pPr algn="l">
              <a:spcBef>
                <a:spcPts val="0"/>
              </a:spcBef>
              <a:spcAft>
                <a:spcPts val="600"/>
              </a:spcAft>
            </a:pPr>
            <a:r>
              <a:rPr sz="880" b="1">
                <a:solidFill>
                  <a:srgbClr val="1F3864"/>
                </a:solidFill>
                <a:latin typeface="Calibri"/>
              </a:rPr>
              <a:t>Zero licensing cost. </a:t>
            </a:r>
            <a:r>
              <a:rPr sz="880" b="0">
                <a:solidFill>
                  <a:srgbClr val="5A677D"/>
                </a:solidFill>
                <a:latin typeface="Calibri"/>
              </a:rPr>
              <a:t>Open-source primitives end to end; NIST-standardised, not bespoke.</a:t>
            </a:r>
          </a:p>
          <a:p>
            <a:pPr algn="l">
              <a:spcBef>
                <a:spcPts val="0"/>
              </a:spcBef>
              <a:spcAft>
                <a:spcPts val="600"/>
              </a:spcAft>
            </a:pPr>
            <a:r>
              <a:rPr sz="880" b="1">
                <a:solidFill>
                  <a:srgbClr val="1F3864"/>
                </a:solidFill>
                <a:latin typeface="Calibri"/>
              </a:rPr>
              <a:t>Deploys air-gapped. </a:t>
            </a:r>
            <a:r>
              <a:rPr sz="880" b="0">
                <a:solidFill>
                  <a:srgbClr val="5A677D"/>
                </a:solidFill>
                <a:latin typeface="Calibri"/>
              </a:rPr>
              <a:t>No cloud KMS, no public chain, no outbound call at any stage.</a:t>
            </a:r>
          </a:p>
          <a:p>
            <a:pPr algn="l">
              <a:spcBef>
                <a:spcPts val="0"/>
              </a:spcBef>
              <a:spcAft>
                <a:spcPts val="600"/>
              </a:spcAft>
            </a:pPr>
            <a:r>
              <a:rPr sz="880" b="1">
                <a:solidFill>
                  <a:srgbClr val="1F3864"/>
                </a:solidFill>
                <a:latin typeface="Calibri"/>
              </a:rPr>
              <a:t>Drops in beside existing flows. </a:t>
            </a:r>
            <a:r>
              <a:rPr sz="880" b="0">
                <a:solidFill>
                  <a:srgbClr val="5A677D"/>
                </a:solidFill>
                <a:latin typeface="Calibri"/>
              </a:rPr>
              <a:t>The sender already encrypts once for many; this replaces that step, not the whole system.</a:t>
            </a:r>
          </a:p>
        </p:txBody>
      </p:sp>
      <p:sp>
        <p:nvSpPr>
          <p:cNvPr id="17413" name="TextBox 17412"/>
          <p:cNvSpPr txBox="1"/>
          <p:nvPr/>
        </p:nvSpPr>
        <p:spPr>
          <a:xfrm>
            <a:off x="4270248" y="1188720"/>
            <a:ext cx="367588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Potential challenges and risks</a:t>
            </a:r>
          </a:p>
        </p:txBody>
      </p:sp>
      <p:sp>
        <p:nvSpPr>
          <p:cNvPr id="17414" name="Rounded Rectangle 17413"/>
          <p:cNvSpPr/>
          <p:nvPr/>
        </p:nvSpPr>
        <p:spPr>
          <a:xfrm>
            <a:off x="4270248" y="1517904"/>
            <a:ext cx="3675887" cy="1993392"/>
          </a:xfrm>
          <a:prstGeom prst="roundRect">
            <a:avLst>
              <a:gd name="adj" fmla="val 6000"/>
            </a:avLst>
          </a:prstGeom>
          <a:solidFill>
            <a:srgbClr val="FDF3E2"/>
          </a:solidFill>
          <a:ln w="9525">
            <a:solidFill>
              <a:srgbClr val="E8C9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4407408" y="1627632"/>
            <a:ext cx="3401568" cy="2194560"/>
          </a:xfrm>
          <a:prstGeom prst="rect">
            <a:avLst/>
          </a:prstGeom>
          <a:noFill/>
        </p:spPr>
        <p:txBody>
          <a:bodyPr wrap="square" anchor="t" lIns="0" rIns="0" tIns="0" bIns="0">
            <a:spAutoFit/>
          </a:bodyPr>
          <a:lstStyle/>
          <a:p>
            <a:pPr algn="l">
              <a:spcBef>
                <a:spcPts val="0"/>
              </a:spcBef>
              <a:spcAft>
                <a:spcPts val="600"/>
              </a:spcAft>
            </a:pPr>
            <a:r>
              <a:rPr sz="880" b="1">
                <a:solidFill>
                  <a:srgbClr val="B07410"/>
                </a:solidFill>
                <a:latin typeface="Calibri"/>
              </a:rPr>
              <a:t>Carrier fragility. </a:t>
            </a:r>
            <a:r>
              <a:rPr sz="880" b="0">
                <a:solidFill>
                  <a:srgbClr val="5A677D"/>
                </a:solidFill>
                <a:latin typeface="Calibri"/>
              </a:rPr>
              <a:t>Retyping, OCR or stripping invisible characters destroys a text watermark.</a:t>
            </a:r>
          </a:p>
          <a:p>
            <a:pPr algn="l">
              <a:spcBef>
                <a:spcPts val="0"/>
              </a:spcBef>
              <a:spcAft>
                <a:spcPts val="600"/>
              </a:spcAft>
            </a:pPr>
            <a:r>
              <a:rPr sz="880" b="1">
                <a:solidFill>
                  <a:srgbClr val="B07410"/>
                </a:solidFill>
                <a:latin typeface="Calibri"/>
              </a:rPr>
              <a:t>Word insertion desynchronises. </a:t>
            </a:r>
            <a:r>
              <a:rPr sz="880" b="0">
                <a:solidFill>
                  <a:srgbClr val="5A677D"/>
                </a:solidFill>
                <a:latin typeface="Calibri"/>
              </a:rPr>
              <a:t>Slot addresses are ordinal, so adding a word shifts every later slot.</a:t>
            </a:r>
          </a:p>
          <a:p>
            <a:pPr algn="l">
              <a:spcBef>
                <a:spcPts val="0"/>
              </a:spcBef>
              <a:spcAft>
                <a:spcPts val="600"/>
              </a:spcAft>
            </a:pPr>
            <a:r>
              <a:rPr sz="880" b="1">
                <a:solidFill>
                  <a:srgbClr val="B07410"/>
                </a:solidFill>
                <a:latin typeface="Calibri"/>
              </a:rPr>
              <a:t>Short documents, weaker codes. </a:t>
            </a:r>
            <a:r>
              <a:rPr sz="880" b="0">
                <a:solidFill>
                  <a:srgbClr val="5A677D"/>
                </a:solidFill>
                <a:latin typeface="Calibri"/>
              </a:rPr>
              <a:t>A memo holds ~300 slots; the Tardos bound asks for far more.</a:t>
            </a:r>
          </a:p>
          <a:p>
            <a:pPr algn="l">
              <a:spcBef>
                <a:spcPts val="0"/>
              </a:spcBef>
              <a:spcAft>
                <a:spcPts val="600"/>
              </a:spcAft>
            </a:pPr>
            <a:r>
              <a:rPr sz="880" b="1">
                <a:solidFill>
                  <a:srgbClr val="B07410"/>
                </a:solidFill>
                <a:latin typeface="Calibri"/>
              </a:rPr>
              <a:t>Unframeability. </a:t>
            </a:r>
            <a:r>
              <a:rPr sz="880" b="0">
                <a:solidFill>
                  <a:srgbClr val="5A677D"/>
                </a:solidFill>
                <a:latin typeface="Calibri"/>
              </a:rPr>
              <a:t>The sender knows every codeword, so this proves traceability, not non-framing.</a:t>
            </a:r>
          </a:p>
          <a:p>
            <a:pPr algn="l">
              <a:spcBef>
                <a:spcPts val="0"/>
              </a:spcBef>
              <a:spcAft>
                <a:spcPts val="600"/>
              </a:spcAft>
            </a:pPr>
            <a:r>
              <a:rPr sz="880" b="1">
                <a:solidFill>
                  <a:srgbClr val="B07410"/>
                </a:solidFill>
                <a:latin typeface="Calibri"/>
              </a:rPr>
              <a:t>Collusion. </a:t>
            </a:r>
            <a:r>
              <a:rPr sz="880" b="0">
                <a:solidFill>
                  <a:srgbClr val="5A677D"/>
                </a:solidFill>
                <a:latin typeface="Calibri"/>
              </a:rPr>
              <a:t>Several recipients can compare copies and splice them together.</a:t>
            </a:r>
          </a:p>
        </p:txBody>
      </p:sp>
      <p:sp>
        <p:nvSpPr>
          <p:cNvPr id="17416" name="TextBox 17415"/>
          <p:cNvSpPr txBox="1"/>
          <p:nvPr/>
        </p:nvSpPr>
        <p:spPr>
          <a:xfrm>
            <a:off x="8156448" y="1188720"/>
            <a:ext cx="367588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Strategies for overcoming these challenges</a:t>
            </a:r>
          </a:p>
        </p:txBody>
      </p:sp>
      <p:sp>
        <p:nvSpPr>
          <p:cNvPr id="17417" name="Rounded Rectangle 17416"/>
          <p:cNvSpPr/>
          <p:nvPr/>
        </p:nvSpPr>
        <p:spPr>
          <a:xfrm>
            <a:off x="8156448" y="1517904"/>
            <a:ext cx="3675887" cy="1993392"/>
          </a:xfrm>
          <a:prstGeom prst="roundRect">
            <a:avLst>
              <a:gd name="adj" fmla="val 6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293608" y="1627632"/>
            <a:ext cx="3401568" cy="2194560"/>
          </a:xfrm>
          <a:prstGeom prst="rect">
            <a:avLst/>
          </a:prstGeom>
          <a:noFill/>
        </p:spPr>
        <p:txBody>
          <a:bodyPr wrap="square" anchor="t" lIns="0" rIns="0" tIns="0" bIns="0">
            <a:spAutoFit/>
          </a:bodyPr>
          <a:lstStyle/>
          <a:p>
            <a:pPr algn="l">
              <a:spcBef>
                <a:spcPts val="0"/>
              </a:spcBef>
              <a:spcAft>
                <a:spcPts val="600"/>
              </a:spcAft>
            </a:pPr>
            <a:r>
              <a:rPr sz="880" b="1">
                <a:solidFill>
                  <a:srgbClr val="1B7F5E"/>
                </a:solidFill>
                <a:latin typeface="Calibri"/>
              </a:rPr>
              <a:t>Publish the attacks that win. </a:t>
            </a:r>
            <a:r>
              <a:rPr sz="880" b="0">
                <a:solidFill>
                  <a:srgbClr val="5A677D"/>
                </a:solidFill>
                <a:latin typeface="Calibri"/>
              </a:rPr>
              <a:t>Every one is measured with its bit error rate, beside the ones survived.</a:t>
            </a:r>
          </a:p>
          <a:p>
            <a:pPr algn="l">
              <a:spcBef>
                <a:spcPts val="0"/>
              </a:spcBef>
              <a:spcAft>
                <a:spcPts val="600"/>
              </a:spcAft>
            </a:pPr>
            <a:r>
              <a:rPr sz="880" b="1">
                <a:solidFill>
                  <a:srgbClr val="1B7F5E"/>
                </a:solidFill>
                <a:latin typeface="Calibri"/>
              </a:rPr>
              <a:t>Fail safe, not loud. </a:t>
            </a:r>
            <a:r>
              <a:rPr sz="880" b="0">
                <a:solidFill>
                  <a:srgbClr val="5A677D"/>
                </a:solidFill>
                <a:latin typeface="Calibri"/>
              </a:rPr>
              <a:t>When an attack wins the result is a failure to identify — misidentification stayed at 0.0% across a 0–95% erasure sweep.</a:t>
            </a:r>
          </a:p>
          <a:p>
            <a:pPr algn="l">
              <a:spcBef>
                <a:spcPts val="0"/>
              </a:spcBef>
              <a:spcAft>
                <a:spcPts val="600"/>
              </a:spcAft>
            </a:pPr>
            <a:r>
              <a:rPr sz="880" b="1">
                <a:solidFill>
                  <a:srgbClr val="1B7F5E"/>
                </a:solidFill>
                <a:latin typeface="Calibri"/>
              </a:rPr>
              <a:t>Report the reachable bound. </a:t>
            </a:r>
            <a:r>
              <a:rPr sz="880" b="0">
                <a:solidFill>
                  <a:srgbClr val="5A677D"/>
                </a:solidFill>
                <a:latin typeface="Calibri"/>
              </a:rPr>
              <a:t>protect states the best error probability the document can support before anything is sent.</a:t>
            </a:r>
          </a:p>
          <a:p>
            <a:pPr algn="l">
              <a:spcBef>
                <a:spcPts val="0"/>
              </a:spcBef>
              <a:spcAft>
                <a:spcPts val="600"/>
              </a:spcAft>
            </a:pPr>
            <a:r>
              <a:rPr sz="880" b="1">
                <a:solidFill>
                  <a:srgbClr val="1B7F5E"/>
                </a:solidFill>
                <a:latin typeface="Calibri"/>
              </a:rPr>
              <a:t>Tardos codes for collusion. </a:t>
            </a:r>
            <a:r>
              <a:rPr sz="880" b="0">
                <a:solidFill>
                  <a:srgbClr val="5A677D"/>
                </a:solidFill>
                <a:latin typeface="Calibri"/>
              </a:rPr>
              <a:t>Where colluders agree they are stuck — no one holds the other key.</a:t>
            </a:r>
          </a:p>
          <a:p>
            <a:pPr algn="l">
              <a:spcBef>
                <a:spcPts val="0"/>
              </a:spcBef>
              <a:spcAft>
                <a:spcPts val="600"/>
              </a:spcAft>
            </a:pPr>
            <a:r>
              <a:rPr sz="880" b="1">
                <a:solidFill>
                  <a:srgbClr val="1B7F5E"/>
                </a:solidFill>
                <a:latin typeface="Calibri"/>
              </a:rPr>
              <a:t>Content-anchored slots. </a:t>
            </a:r>
            <a:r>
              <a:rPr sz="880" b="0">
                <a:solidFill>
                  <a:srgbClr val="5A677D"/>
                </a:solidFill>
                <a:latin typeface="Calibri"/>
              </a:rPr>
              <a:t>The named next step, replacing ordinal addressing.</a:t>
            </a:r>
          </a:p>
        </p:txBody>
      </p:sp>
      <p:sp>
        <p:nvSpPr>
          <p:cNvPr id="17419" name="Rounded Rectangle 17418"/>
          <p:cNvSpPr/>
          <p:nvPr/>
        </p:nvSpPr>
        <p:spPr>
          <a:xfrm>
            <a:off x="384048" y="3657600"/>
            <a:ext cx="11420856" cy="1152144"/>
          </a:xfrm>
          <a:prstGeom prst="roundRect">
            <a:avLst>
              <a:gd name="adj" fmla="val 5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548640" y="3749039"/>
            <a:ext cx="3017520" cy="256032"/>
          </a:xfrm>
          <a:prstGeom prst="rect">
            <a:avLst/>
          </a:prstGeom>
          <a:noFill/>
        </p:spPr>
        <p:txBody>
          <a:bodyPr wrap="square" anchor="t" lIns="0" rIns="0" tIns="0" bIns="0">
            <a:spAutoFit/>
          </a:bodyPr>
          <a:lstStyle/>
          <a:p>
            <a:pPr algn="l">
              <a:spcBef>
                <a:spcPts val="0"/>
              </a:spcBef>
              <a:spcAft>
                <a:spcPts val="0"/>
              </a:spcAft>
            </a:pPr>
            <a:r>
              <a:rPr sz="840" b="1" i="0">
                <a:solidFill>
                  <a:srgbClr val="1F3864"/>
                </a:solidFill>
                <a:latin typeface="Calibri"/>
              </a:rPr>
              <a:t>MEASURED, NOT ASSERTED</a:t>
            </a:r>
          </a:p>
        </p:txBody>
      </p:sp>
      <p:sp>
        <p:nvSpPr>
          <p:cNvPr id="17421" name="TextBox 17420"/>
          <p:cNvSpPr txBox="1"/>
          <p:nvPr/>
        </p:nvSpPr>
        <p:spPr>
          <a:xfrm>
            <a:off x="548640" y="4041648"/>
            <a:ext cx="1848612" cy="658368"/>
          </a:xfrm>
          <a:prstGeom prst="rect">
            <a:avLst/>
          </a:prstGeom>
          <a:noFill/>
        </p:spPr>
        <p:txBody>
          <a:bodyPr wrap="square" anchor="t" lIns="0" rIns="0" tIns="0" bIns="0">
            <a:spAutoFit/>
          </a:bodyPr>
          <a:lstStyle/>
          <a:p>
            <a:pPr algn="ctr">
              <a:spcBef>
                <a:spcPts val="0"/>
              </a:spcBef>
              <a:spcAft>
                <a:spcPts val="0"/>
              </a:spcAft>
            </a:pPr>
            <a:r>
              <a:rPr sz="1700" b="1" i="0">
                <a:solidFill>
                  <a:srgbClr val="1B7F5E"/>
                </a:solidFill>
                <a:latin typeface="Calibri"/>
              </a:rPr>
              <a:t>100%</a:t>
            </a:r>
          </a:p>
          <a:p>
            <a:pPr algn="ctr">
              <a:spcBef>
                <a:spcPts val="0"/>
              </a:spcBef>
              <a:spcAft>
                <a:spcPts val="0"/>
              </a:spcAft>
            </a:pPr>
            <a:r>
              <a:rPr sz="760" b="0" i="0">
                <a:solidFill>
                  <a:srgbClr val="5A677D"/>
                </a:solidFill>
                <a:latin typeface="Calibri"/>
              </a:rPr>
              <a:t>coalition of 8 traced
at the prescribed code length</a:t>
            </a:r>
          </a:p>
        </p:txBody>
      </p:sp>
      <p:sp>
        <p:nvSpPr>
          <p:cNvPr id="17422" name="TextBox 17421"/>
          <p:cNvSpPr txBox="1"/>
          <p:nvPr/>
        </p:nvSpPr>
        <p:spPr>
          <a:xfrm>
            <a:off x="2397252" y="4041648"/>
            <a:ext cx="1848612" cy="658368"/>
          </a:xfrm>
          <a:prstGeom prst="rect">
            <a:avLst/>
          </a:prstGeom>
          <a:noFill/>
        </p:spPr>
        <p:txBody>
          <a:bodyPr wrap="square" anchor="t" lIns="0" rIns="0" tIns="0" bIns="0">
            <a:spAutoFit/>
          </a:bodyPr>
          <a:lstStyle/>
          <a:p>
            <a:pPr algn="ctr">
              <a:spcBef>
                <a:spcPts val="0"/>
              </a:spcBef>
              <a:spcAft>
                <a:spcPts val="0"/>
              </a:spcAft>
            </a:pPr>
            <a:r>
              <a:rPr sz="1700" b="1" i="0">
                <a:solidFill>
                  <a:srgbClr val="1B7F5E"/>
                </a:solidFill>
                <a:latin typeface="Calibri"/>
              </a:rPr>
              <a:t>0.0%</a:t>
            </a:r>
          </a:p>
          <a:p>
            <a:pPr algn="ctr">
              <a:spcBef>
                <a:spcPts val="0"/>
              </a:spcBef>
              <a:spcAft>
                <a:spcPts val="0"/>
              </a:spcAft>
            </a:pPr>
            <a:r>
              <a:rPr sz="760" b="0" i="0">
                <a:solidFill>
                  <a:srgbClr val="5A677D"/>
                </a:solidFill>
                <a:latin typeface="Calibri"/>
              </a:rPr>
              <a:t>misidentification across
a 0–95% erasure sweep</a:t>
            </a:r>
          </a:p>
        </p:txBody>
      </p:sp>
      <p:sp>
        <p:nvSpPr>
          <p:cNvPr id="17423" name="TextBox 17422"/>
          <p:cNvSpPr txBox="1"/>
          <p:nvPr/>
        </p:nvSpPr>
        <p:spPr>
          <a:xfrm>
            <a:off x="4245864" y="4041648"/>
            <a:ext cx="1848612" cy="658368"/>
          </a:xfrm>
          <a:prstGeom prst="rect">
            <a:avLst/>
          </a:prstGeom>
          <a:noFill/>
        </p:spPr>
        <p:txBody>
          <a:bodyPr wrap="square" anchor="t" lIns="0" rIns="0" tIns="0" bIns="0">
            <a:spAutoFit/>
          </a:bodyPr>
          <a:lstStyle/>
          <a:p>
            <a:pPr algn="ctr">
              <a:spcBef>
                <a:spcPts val="0"/>
              </a:spcBef>
              <a:spcAft>
                <a:spcPts val="0"/>
              </a:spcAft>
            </a:pPr>
            <a:r>
              <a:rPr sz="1700" b="1" i="0">
                <a:solidFill>
                  <a:srgbClr val="1F3864"/>
                </a:solidFill>
                <a:latin typeface="Calibri"/>
              </a:rPr>
              <a:t>2.8e-59</a:t>
            </a:r>
          </a:p>
          <a:p>
            <a:pPr algn="ctr">
              <a:spcBef>
                <a:spcPts val="0"/>
              </a:spcBef>
              <a:spcAft>
                <a:spcPts val="0"/>
              </a:spcAft>
            </a:pPr>
            <a:r>
              <a:rPr sz="760" b="0" i="0">
                <a:solidFill>
                  <a:srgbClr val="5A677D"/>
                </a:solidFill>
                <a:latin typeface="Calibri"/>
              </a:rPr>
              <a:t>provable false-accusation
bound on the live demo</a:t>
            </a:r>
          </a:p>
        </p:txBody>
      </p:sp>
      <p:sp>
        <p:nvSpPr>
          <p:cNvPr id="17424" name="TextBox 17423"/>
          <p:cNvSpPr txBox="1"/>
          <p:nvPr/>
        </p:nvSpPr>
        <p:spPr>
          <a:xfrm>
            <a:off x="6094476" y="4041648"/>
            <a:ext cx="1848612" cy="658368"/>
          </a:xfrm>
          <a:prstGeom prst="rect">
            <a:avLst/>
          </a:prstGeom>
          <a:noFill/>
        </p:spPr>
        <p:txBody>
          <a:bodyPr wrap="square" anchor="t" lIns="0" rIns="0" tIns="0" bIns="0">
            <a:spAutoFit/>
          </a:bodyPr>
          <a:lstStyle/>
          <a:p>
            <a:pPr algn="ctr">
              <a:spcBef>
                <a:spcPts val="0"/>
              </a:spcBef>
              <a:spcAft>
                <a:spcPts val="0"/>
              </a:spcAft>
            </a:pPr>
            <a:r>
              <a:rPr sz="1700" b="1" i="0">
                <a:solidFill>
                  <a:srgbClr val="1B7F5E"/>
                </a:solidFill>
                <a:latin typeface="Calibri"/>
              </a:rPr>
              <a:t>0 / 10,000</a:t>
            </a:r>
          </a:p>
          <a:p>
            <a:pPr algn="ctr">
              <a:spcBef>
                <a:spcPts val="0"/>
              </a:spcBef>
              <a:spcAft>
                <a:spcPts val="0"/>
              </a:spcAft>
            </a:pPr>
            <a:r>
              <a:rPr sz="760" b="0" i="0">
                <a:solidFill>
                  <a:srgbClr val="5A677D"/>
                </a:solidFill>
                <a:latin typeface="Calibri"/>
              </a:rPr>
              <a:t>innocent trials accused
at α ≤ 1e-5</a:t>
            </a:r>
          </a:p>
        </p:txBody>
      </p:sp>
      <p:sp>
        <p:nvSpPr>
          <p:cNvPr id="17425" name="TextBox 17424"/>
          <p:cNvSpPr txBox="1"/>
          <p:nvPr/>
        </p:nvSpPr>
        <p:spPr>
          <a:xfrm>
            <a:off x="7943088" y="4041648"/>
            <a:ext cx="1848612" cy="658368"/>
          </a:xfrm>
          <a:prstGeom prst="rect">
            <a:avLst/>
          </a:prstGeom>
          <a:noFill/>
        </p:spPr>
        <p:txBody>
          <a:bodyPr wrap="square" anchor="t" lIns="0" rIns="0" tIns="0" bIns="0">
            <a:spAutoFit/>
          </a:bodyPr>
          <a:lstStyle/>
          <a:p>
            <a:pPr algn="ctr">
              <a:spcBef>
                <a:spcPts val="0"/>
              </a:spcBef>
              <a:spcAft>
                <a:spcPts val="0"/>
              </a:spcAft>
            </a:pPr>
            <a:r>
              <a:rPr sz="1700" b="1" i="0">
                <a:solidFill>
                  <a:srgbClr val="B42828"/>
                </a:solidFill>
                <a:latin typeface="Calibri"/>
              </a:rPr>
              <a:t>4</a:t>
            </a:r>
          </a:p>
          <a:p>
            <a:pPr algn="ctr">
              <a:spcBef>
                <a:spcPts val="0"/>
              </a:spcBef>
              <a:spcAft>
                <a:spcPts val="0"/>
              </a:spcAft>
            </a:pPr>
            <a:r>
              <a:rPr sz="760" b="0" i="0">
                <a:solidFill>
                  <a:srgbClr val="5A677D"/>
                </a:solidFill>
                <a:latin typeface="Calibri"/>
              </a:rPr>
              <a:t>attacks that defeat the
carrier — all published</a:t>
            </a:r>
          </a:p>
        </p:txBody>
      </p:sp>
      <p:sp>
        <p:nvSpPr>
          <p:cNvPr id="17426" name="TextBox 17425"/>
          <p:cNvSpPr txBox="1"/>
          <p:nvPr/>
        </p:nvSpPr>
        <p:spPr>
          <a:xfrm>
            <a:off x="9791700" y="4041648"/>
            <a:ext cx="1848612" cy="658368"/>
          </a:xfrm>
          <a:prstGeom prst="rect">
            <a:avLst/>
          </a:prstGeom>
          <a:noFill/>
        </p:spPr>
        <p:txBody>
          <a:bodyPr wrap="square" anchor="t" lIns="0" rIns="0" tIns="0" bIns="0">
            <a:spAutoFit/>
          </a:bodyPr>
          <a:lstStyle/>
          <a:p>
            <a:pPr algn="ctr">
              <a:spcBef>
                <a:spcPts val="0"/>
              </a:spcBef>
              <a:spcAft>
                <a:spcPts val="0"/>
              </a:spcAft>
            </a:pPr>
            <a:r>
              <a:rPr sz="1700" b="1" i="0">
                <a:solidFill>
                  <a:srgbClr val="1F3864"/>
                </a:solidFill>
                <a:latin typeface="Calibri"/>
              </a:rPr>
              <a:t>163</a:t>
            </a:r>
          </a:p>
          <a:p>
            <a:pPr algn="ctr">
              <a:spcBef>
                <a:spcPts val="0"/>
              </a:spcBef>
              <a:spcAft>
                <a:spcPts val="0"/>
              </a:spcAft>
            </a:pPr>
            <a:r>
              <a:rPr sz="760" b="0" i="0">
                <a:solidFill>
                  <a:srgbClr val="5A677D"/>
                </a:solidFill>
                <a:latin typeface="Calibri"/>
              </a:rPr>
              <a:t>automated tests,
all passing</a:t>
            </a:r>
          </a:p>
        </p:txBody>
      </p:sp>
      <p:sp>
        <p:nvSpPr>
          <p:cNvPr id="17427" name="TextBox 17426"/>
          <p:cNvSpPr txBox="1"/>
          <p:nvPr/>
        </p:nvSpPr>
        <p:spPr>
          <a:xfrm>
            <a:off x="384048" y="4974336"/>
            <a:ext cx="11420856"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Path to deployment</a:t>
            </a:r>
          </a:p>
        </p:txBody>
      </p:sp>
      <p:sp>
        <p:nvSpPr>
          <p:cNvPr id="17428" name="Rounded Rectangle 17427"/>
          <p:cNvSpPr/>
          <p:nvPr/>
        </p:nvSpPr>
        <p:spPr>
          <a:xfrm>
            <a:off x="384048" y="5303520"/>
            <a:ext cx="2649474" cy="804672"/>
          </a:xfrm>
          <a:prstGeom prst="roundRect">
            <a:avLst>
              <a:gd name="adj" fmla="val 7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512064" y="5394959"/>
            <a:ext cx="2393441" cy="640080"/>
          </a:xfrm>
          <a:prstGeom prst="rect">
            <a:avLst/>
          </a:prstGeom>
          <a:noFill/>
        </p:spPr>
        <p:txBody>
          <a:bodyPr wrap="square" anchor="t" lIns="0" rIns="0" tIns="0" bIns="0">
            <a:spAutoFit/>
          </a:bodyPr>
          <a:lstStyle/>
          <a:p>
            <a:pPr algn="l">
              <a:spcBef>
                <a:spcPts val="0"/>
              </a:spcBef>
              <a:spcAft>
                <a:spcPts val="150"/>
              </a:spcAft>
            </a:pPr>
            <a:r>
              <a:rPr sz="700" b="1" i="0">
                <a:solidFill>
                  <a:srgbClr val="1B7F5E"/>
                </a:solidFill>
                <a:latin typeface="Calibri"/>
              </a:rPr>
              <a:t>NOW</a:t>
            </a:r>
          </a:p>
          <a:p>
            <a:pPr algn="l">
              <a:spcBef>
                <a:spcPts val="0"/>
              </a:spcBef>
              <a:spcAft>
                <a:spcPts val="150"/>
              </a:spcAft>
            </a:pPr>
            <a:r>
              <a:rPr sz="940" b="1" i="0">
                <a:solidFill>
                  <a:srgbClr val="1F3864"/>
                </a:solidFill>
                <a:latin typeface="Calibri"/>
              </a:rPr>
              <a:t>Working prototype</a:t>
            </a:r>
          </a:p>
          <a:p>
            <a:pPr algn="l">
              <a:spcBef>
                <a:spcPts val="0"/>
              </a:spcBef>
              <a:spcAft>
                <a:spcPts val="0"/>
              </a:spcAft>
            </a:pPr>
            <a:r>
              <a:rPr sz="780" b="0" i="0">
                <a:solidFill>
                  <a:srgbClr val="5A677D"/>
                </a:solidFill>
                <a:latin typeface="Calibri"/>
              </a:rPr>
              <a:t>text and PDF carriers, 3-validator ledger, live</a:t>
            </a:r>
          </a:p>
        </p:txBody>
      </p:sp>
      <p:sp>
        <p:nvSpPr>
          <p:cNvPr id="17430" name="Right Arrow 17429"/>
          <p:cNvSpPr/>
          <p:nvPr/>
        </p:nvSpPr>
        <p:spPr>
          <a:xfrm>
            <a:off x="3070098" y="5655564"/>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3307841" y="5303520"/>
            <a:ext cx="2649474" cy="804672"/>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3435858" y="5394959"/>
            <a:ext cx="2393441" cy="640080"/>
          </a:xfrm>
          <a:prstGeom prst="rect">
            <a:avLst/>
          </a:prstGeom>
          <a:noFill/>
        </p:spPr>
        <p:txBody>
          <a:bodyPr wrap="square" anchor="t" lIns="0" rIns="0" tIns="0" bIns="0">
            <a:spAutoFit/>
          </a:bodyPr>
          <a:lstStyle/>
          <a:p>
            <a:pPr algn="l">
              <a:spcBef>
                <a:spcPts val="0"/>
              </a:spcBef>
              <a:spcAft>
                <a:spcPts val="150"/>
              </a:spcAft>
            </a:pPr>
            <a:r>
              <a:rPr sz="700" b="1" i="0">
                <a:solidFill>
                  <a:srgbClr val="5A677D"/>
                </a:solidFill>
                <a:latin typeface="Calibri"/>
              </a:rPr>
              <a:t>NEXT</a:t>
            </a:r>
          </a:p>
          <a:p>
            <a:pPr algn="l">
              <a:spcBef>
                <a:spcPts val="0"/>
              </a:spcBef>
              <a:spcAft>
                <a:spcPts val="150"/>
              </a:spcAft>
            </a:pPr>
            <a:r>
              <a:rPr sz="940" b="1" i="0">
                <a:solidFill>
                  <a:srgbClr val="1F3864"/>
                </a:solidFill>
                <a:latin typeface="Calibri"/>
              </a:rPr>
              <a:t>Content-anchored slots</a:t>
            </a:r>
          </a:p>
          <a:p>
            <a:pPr algn="l">
              <a:spcBef>
                <a:spcPts val="0"/>
              </a:spcBef>
              <a:spcAft>
                <a:spcPts val="0"/>
              </a:spcAft>
            </a:pPr>
            <a:r>
              <a:rPr sz="780" b="0" i="0">
                <a:solidFill>
                  <a:srgbClr val="5A677D"/>
                </a:solidFill>
                <a:latin typeface="Calibri"/>
              </a:rPr>
              <a:t>removes the word-insertion weakness</a:t>
            </a:r>
          </a:p>
        </p:txBody>
      </p:sp>
      <p:sp>
        <p:nvSpPr>
          <p:cNvPr id="17433" name="Right Arrow 17432"/>
          <p:cNvSpPr/>
          <p:nvPr/>
        </p:nvSpPr>
        <p:spPr>
          <a:xfrm>
            <a:off x="5993892" y="5655564"/>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Rounded Rectangle 17433"/>
          <p:cNvSpPr/>
          <p:nvPr/>
        </p:nvSpPr>
        <p:spPr>
          <a:xfrm>
            <a:off x="6231636" y="5303520"/>
            <a:ext cx="2649474" cy="804672"/>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6359651" y="5394959"/>
            <a:ext cx="2393441" cy="640080"/>
          </a:xfrm>
          <a:prstGeom prst="rect">
            <a:avLst/>
          </a:prstGeom>
          <a:noFill/>
        </p:spPr>
        <p:txBody>
          <a:bodyPr wrap="square" anchor="t" lIns="0" rIns="0" tIns="0" bIns="0">
            <a:spAutoFit/>
          </a:bodyPr>
          <a:lstStyle/>
          <a:p>
            <a:pPr algn="l">
              <a:spcBef>
                <a:spcPts val="0"/>
              </a:spcBef>
              <a:spcAft>
                <a:spcPts val="150"/>
              </a:spcAft>
            </a:pPr>
            <a:r>
              <a:rPr sz="700" b="1" i="0">
                <a:solidFill>
                  <a:srgbClr val="5A677D"/>
                </a:solidFill>
                <a:latin typeface="Calibri"/>
              </a:rPr>
              <a:t>THEN</a:t>
            </a:r>
          </a:p>
          <a:p>
            <a:pPr algn="l">
              <a:spcBef>
                <a:spcPts val="0"/>
              </a:spcBef>
              <a:spcAft>
                <a:spcPts val="150"/>
              </a:spcAft>
            </a:pPr>
            <a:r>
              <a:rPr sz="940" b="1" i="0">
                <a:solidFill>
                  <a:srgbClr val="1F3864"/>
                </a:solidFill>
                <a:latin typeface="Calibri"/>
              </a:rPr>
              <a:t>Departmental pilot</a:t>
            </a:r>
          </a:p>
          <a:p>
            <a:pPr algn="l">
              <a:spcBef>
                <a:spcPts val="0"/>
              </a:spcBef>
              <a:spcAft>
                <a:spcPts val="0"/>
              </a:spcAft>
            </a:pPr>
            <a:r>
              <a:rPr sz="780" b="0" i="0">
                <a:solidFill>
                  <a:srgbClr val="5A677D"/>
                </a:solidFill>
                <a:latin typeface="Calibri"/>
              </a:rPr>
              <a:t>validators held by three separate offices</a:t>
            </a:r>
          </a:p>
        </p:txBody>
      </p:sp>
      <p:sp>
        <p:nvSpPr>
          <p:cNvPr id="17436" name="Right Arrow 17435"/>
          <p:cNvSpPr/>
          <p:nvPr/>
        </p:nvSpPr>
        <p:spPr>
          <a:xfrm>
            <a:off x="8917685" y="5655564"/>
            <a:ext cx="201168" cy="100584"/>
          </a:xfrm>
          <a:prstGeom prst="right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Rounded Rectangle 17436"/>
          <p:cNvSpPr/>
          <p:nvPr/>
        </p:nvSpPr>
        <p:spPr>
          <a:xfrm>
            <a:off x="9155430" y="5303520"/>
            <a:ext cx="2649474" cy="804672"/>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9283446" y="5394959"/>
            <a:ext cx="2393441" cy="640080"/>
          </a:xfrm>
          <a:prstGeom prst="rect">
            <a:avLst/>
          </a:prstGeom>
          <a:noFill/>
        </p:spPr>
        <p:txBody>
          <a:bodyPr wrap="square" anchor="t" lIns="0" rIns="0" tIns="0" bIns="0">
            <a:spAutoFit/>
          </a:bodyPr>
          <a:lstStyle/>
          <a:p>
            <a:pPr algn="l">
              <a:spcBef>
                <a:spcPts val="0"/>
              </a:spcBef>
              <a:spcAft>
                <a:spcPts val="150"/>
              </a:spcAft>
            </a:pPr>
            <a:r>
              <a:rPr sz="700" b="1" i="0">
                <a:solidFill>
                  <a:srgbClr val="5A677D"/>
                </a:solidFill>
                <a:latin typeface="Calibri"/>
              </a:rPr>
              <a:t>SCALE</a:t>
            </a:r>
          </a:p>
          <a:p>
            <a:pPr algn="l">
              <a:spcBef>
                <a:spcPts val="0"/>
              </a:spcBef>
              <a:spcAft>
                <a:spcPts val="150"/>
              </a:spcAft>
            </a:pPr>
            <a:r>
              <a:rPr sz="940" b="1" i="0">
                <a:solidFill>
                  <a:srgbClr val="1F3864"/>
                </a:solidFill>
                <a:latin typeface="Calibri"/>
              </a:rPr>
              <a:t>Cross-ministry</a:t>
            </a:r>
          </a:p>
          <a:p>
            <a:pPr algn="l">
              <a:spcBef>
                <a:spcPts val="0"/>
              </a:spcBef>
              <a:spcAft>
                <a:spcPts val="0"/>
              </a:spcAft>
            </a:pPr>
            <a:r>
              <a:rPr sz="780" b="0" i="0">
                <a:solidFill>
                  <a:srgbClr val="5A677D"/>
                </a:solidFill>
                <a:latin typeface="Calibri"/>
              </a:rPr>
              <a:t>one validator per participating ministry</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1F3864"/>
                </a:solidFill>
                <a:latin typeface="Calibri"/>
              </a:rPr>
              <a:t>NOX</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84048" y="1188720"/>
            <a:ext cx="5669280"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Potential impact on the target audience</a:t>
            </a:r>
          </a:p>
        </p:txBody>
      </p:sp>
      <p:sp>
        <p:nvSpPr>
          <p:cNvPr id="17411" name="Rounded Rectangle 17410"/>
          <p:cNvSpPr/>
          <p:nvPr/>
        </p:nvSpPr>
        <p:spPr>
          <a:xfrm>
            <a:off x="384048" y="1517904"/>
            <a:ext cx="5669280" cy="1700784"/>
          </a:xfrm>
          <a:prstGeom prst="roundRect">
            <a:avLst>
              <a:gd name="adj" fmla="val 6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530352" y="1627632"/>
            <a:ext cx="5376672" cy="1554480"/>
          </a:xfrm>
          <a:prstGeom prst="rect">
            <a:avLst/>
          </a:prstGeom>
          <a:noFill/>
        </p:spPr>
        <p:txBody>
          <a:bodyPr wrap="square" anchor="t" lIns="0" rIns="0" tIns="0" bIns="0">
            <a:spAutoFit/>
          </a:bodyPr>
          <a:lstStyle/>
          <a:p>
            <a:pPr algn="l">
              <a:spcBef>
                <a:spcPts val="0"/>
              </a:spcBef>
              <a:spcAft>
                <a:spcPts val="600"/>
              </a:spcAft>
            </a:pPr>
            <a:r>
              <a:rPr sz="919" b="1">
                <a:solidFill>
                  <a:srgbClr val="1F3864"/>
                </a:solidFill>
                <a:latin typeface="Calibri"/>
              </a:rPr>
              <a:t>Service headquarters. </a:t>
            </a:r>
            <a:r>
              <a:rPr sz="919" b="0">
                <a:solidFill>
                  <a:srgbClr val="5A677D"/>
                </a:solidFill>
                <a:latin typeface="Calibri"/>
              </a:rPr>
              <a:t>Operational orders and classified assessments distributed to a named list become individually accountable, not collectively deniable.</a:t>
            </a:r>
          </a:p>
          <a:p>
            <a:pPr algn="l">
              <a:spcBef>
                <a:spcPts val="0"/>
              </a:spcBef>
              <a:spcAft>
                <a:spcPts val="600"/>
              </a:spcAft>
            </a:pPr>
            <a:r>
              <a:rPr sz="919" b="1">
                <a:solidFill>
                  <a:srgbClr val="1F3864"/>
                </a:solidFill>
                <a:latin typeface="Calibri"/>
              </a:rPr>
              <a:t>Defence procurement. </a:t>
            </a:r>
            <a:r>
              <a:rPr sz="919" b="0">
                <a:solidFill>
                  <a:srgbClr val="5A677D"/>
                </a:solidFill>
                <a:latin typeface="Calibri"/>
              </a:rPr>
              <a:t>Tender documents and technical specifications reach vendors traceably; a pre-bid leak has an owner.</a:t>
            </a:r>
          </a:p>
          <a:p>
            <a:pPr algn="l">
              <a:spcBef>
                <a:spcPts val="0"/>
              </a:spcBef>
              <a:spcAft>
                <a:spcPts val="600"/>
              </a:spcAft>
            </a:pPr>
            <a:r>
              <a:rPr sz="919" b="1">
                <a:solidFill>
                  <a:srgbClr val="1F3864"/>
                </a:solidFill>
                <a:latin typeface="Calibri"/>
              </a:rPr>
              <a:t>DRDO and defence PSUs. </a:t>
            </a:r>
            <a:r>
              <a:rPr sz="919" b="0">
                <a:solidFill>
                  <a:srgbClr val="5A677D"/>
                </a:solidFill>
                <a:latin typeface="Calibri"/>
              </a:rPr>
              <a:t>Design data shared with partners and contractors carries a non-repudiable receipt per recipient.</a:t>
            </a:r>
          </a:p>
          <a:p>
            <a:pPr algn="l">
              <a:spcBef>
                <a:spcPts val="0"/>
              </a:spcBef>
              <a:spcAft>
                <a:spcPts val="600"/>
              </a:spcAft>
            </a:pPr>
            <a:r>
              <a:rPr sz="919" b="1">
                <a:solidFill>
                  <a:srgbClr val="1F3864"/>
                </a:solidFill>
                <a:latin typeface="Calibri"/>
              </a:rPr>
              <a:t>Inter-agency sharing. </a:t>
            </a:r>
            <a:r>
              <a:rPr sz="919" b="0">
                <a:solidFill>
                  <a:srgbClr val="5A677D"/>
                </a:solidFill>
                <a:latin typeface="Calibri"/>
              </a:rPr>
              <a:t>Intelligence circulated across agencies keeps its provenance without a central authority anyone must trust.</a:t>
            </a:r>
          </a:p>
        </p:txBody>
      </p:sp>
      <p:sp>
        <p:nvSpPr>
          <p:cNvPr id="17413" name="TextBox 17412"/>
          <p:cNvSpPr txBox="1"/>
          <p:nvPr/>
        </p:nvSpPr>
        <p:spPr>
          <a:xfrm>
            <a:off x="6336792" y="1188720"/>
            <a:ext cx="5669280"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Benefits of the solution (social, economic, environmental)</a:t>
            </a:r>
          </a:p>
        </p:txBody>
      </p:sp>
      <p:sp>
        <p:nvSpPr>
          <p:cNvPr id="17414" name="Rounded Rectangle 17413"/>
          <p:cNvSpPr/>
          <p:nvPr/>
        </p:nvSpPr>
        <p:spPr>
          <a:xfrm>
            <a:off x="6336792" y="1517904"/>
            <a:ext cx="5669280" cy="1700784"/>
          </a:xfrm>
          <a:prstGeom prst="roundRect">
            <a:avLst>
              <a:gd name="adj" fmla="val 6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6483096" y="1627632"/>
            <a:ext cx="5376672" cy="1554480"/>
          </a:xfrm>
          <a:prstGeom prst="rect">
            <a:avLst/>
          </a:prstGeom>
          <a:noFill/>
        </p:spPr>
        <p:txBody>
          <a:bodyPr wrap="square" anchor="t" lIns="0" rIns="0" tIns="0" bIns="0">
            <a:spAutoFit/>
          </a:bodyPr>
          <a:lstStyle/>
          <a:p>
            <a:pPr algn="l">
              <a:spcBef>
                <a:spcPts val="0"/>
              </a:spcBef>
              <a:spcAft>
                <a:spcPts val="600"/>
              </a:spcAft>
            </a:pPr>
            <a:r>
              <a:rPr sz="919" b="1">
                <a:solidFill>
                  <a:srgbClr val="1B7F5E"/>
                </a:solidFill>
                <a:latin typeface="Calibri"/>
              </a:rPr>
              <a:t>Deterrence is the real product. </a:t>
            </a:r>
            <a:r>
              <a:rPr sz="919" b="0">
                <a:solidFill>
                  <a:srgbClr val="5A677D"/>
                </a:solidFill>
                <a:latin typeface="Calibri"/>
              </a:rPr>
              <a:t>When every holder knows their copy is individually accountable, most leaks never happen.</a:t>
            </a:r>
          </a:p>
          <a:p>
            <a:pPr algn="l">
              <a:spcBef>
                <a:spcPts val="0"/>
              </a:spcBef>
              <a:spcAft>
                <a:spcPts val="600"/>
              </a:spcAft>
            </a:pPr>
            <a:r>
              <a:rPr sz="919" b="1">
                <a:solidFill>
                  <a:srgbClr val="1B7F5E"/>
                </a:solidFill>
                <a:latin typeface="Calibri"/>
              </a:rPr>
              <a:t>Protects the accused too. </a:t>
            </a:r>
            <a:r>
              <a:rPr sz="919" b="0">
                <a:solidFill>
                  <a:srgbClr val="5A677D"/>
                </a:solidFill>
                <a:latin typeface="Calibri"/>
              </a:rPr>
              <a:t>A stated error probability and a refusal to guess are what stop an innocent official being named.</a:t>
            </a:r>
          </a:p>
          <a:p>
            <a:pPr algn="l">
              <a:spcBef>
                <a:spcPts val="0"/>
              </a:spcBef>
              <a:spcAft>
                <a:spcPts val="600"/>
              </a:spcAft>
            </a:pPr>
            <a:r>
              <a:rPr sz="919" b="1">
                <a:solidFill>
                  <a:srgbClr val="1B7F5E"/>
                </a:solidFill>
                <a:latin typeface="Calibri"/>
              </a:rPr>
              <a:t>Zero licensing cost. </a:t>
            </a:r>
            <a:r>
              <a:rPr sz="919" b="0">
                <a:solidFill>
                  <a:srgbClr val="5A677D"/>
                </a:solidFill>
                <a:latin typeface="Calibri"/>
              </a:rPr>
              <a:t>Open-source and free-tier; per-department rollout cost is effectively nil.</a:t>
            </a:r>
          </a:p>
          <a:p>
            <a:pPr algn="l">
              <a:spcBef>
                <a:spcPts val="0"/>
              </a:spcBef>
              <a:spcAft>
                <a:spcPts val="600"/>
              </a:spcAft>
            </a:pPr>
            <a:r>
              <a:rPr sz="919" b="1">
                <a:solidFill>
                  <a:srgbClr val="1B7F5E"/>
                </a:solidFill>
                <a:latin typeface="Calibri"/>
              </a:rPr>
              <a:t>Quantum-durable. </a:t>
            </a:r>
            <a:r>
              <a:rPr sz="919" b="0">
                <a:solidFill>
                  <a:srgbClr val="5A677D"/>
                </a:solidFill>
                <a:latin typeface="Calibri"/>
              </a:rPr>
              <a:t>A defence assessment stays sensitive for decades; FIPS 203/204 resist harvest-now-decrypt-later.</a:t>
            </a:r>
          </a:p>
          <a:p>
            <a:pPr algn="l">
              <a:spcBef>
                <a:spcPts val="0"/>
              </a:spcBef>
              <a:spcAft>
                <a:spcPts val="600"/>
              </a:spcAft>
            </a:pPr>
            <a:r>
              <a:rPr sz="919" b="1">
                <a:solidFill>
                  <a:srgbClr val="1B7F5E"/>
                </a:solidFill>
                <a:latin typeface="Calibri"/>
              </a:rPr>
              <a:t>Scales unchanged. </a:t>
            </a:r>
            <a:r>
              <a:rPr sz="919" b="0">
                <a:solidFill>
                  <a:srgbClr val="5A677D"/>
                </a:solidFill>
                <a:latin typeface="Calibri"/>
              </a:rPr>
              <a:t>Any organisation distributing one document to a named list — the architecture does not change, only the list.</a:t>
            </a:r>
          </a:p>
        </p:txBody>
      </p:sp>
      <p:sp>
        <p:nvSpPr>
          <p:cNvPr id="17416" name="TextBox 17415"/>
          <p:cNvSpPr txBox="1"/>
          <p:nvPr/>
        </p:nvSpPr>
        <p:spPr>
          <a:xfrm>
            <a:off x="384048" y="3346704"/>
            <a:ext cx="11420856"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What changes</a:t>
            </a:r>
          </a:p>
        </p:txBody>
      </p:sp>
      <p:sp>
        <p:nvSpPr>
          <p:cNvPr id="17417" name="Rounded Rectangle 17416"/>
          <p:cNvSpPr/>
          <p:nvPr/>
        </p:nvSpPr>
        <p:spPr>
          <a:xfrm>
            <a:off x="384048" y="3639312"/>
            <a:ext cx="5669280" cy="1243584"/>
          </a:xfrm>
          <a:prstGeom prst="roundRect">
            <a:avLst>
              <a:gd name="adj" fmla="val 6000"/>
            </a:avLst>
          </a:prstGeom>
          <a:solidFill>
            <a:srgbClr val="FAEEEE"/>
          </a:solidFill>
          <a:ln w="9525">
            <a:solidFill>
              <a:srgbClr val="E4C2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548640" y="3758184"/>
            <a:ext cx="5340096" cy="1005840"/>
          </a:xfrm>
          <a:prstGeom prst="rect">
            <a:avLst/>
          </a:prstGeom>
          <a:noFill/>
        </p:spPr>
        <p:txBody>
          <a:bodyPr wrap="square" anchor="t" lIns="0" rIns="0" tIns="0" bIns="0">
            <a:spAutoFit/>
          </a:bodyPr>
          <a:lstStyle/>
          <a:p>
            <a:pPr algn="l">
              <a:spcBef>
                <a:spcPts val="0"/>
              </a:spcBef>
              <a:spcAft>
                <a:spcPts val="400"/>
              </a:spcAft>
            </a:pPr>
            <a:r>
              <a:rPr sz="840" b="1" i="0">
                <a:solidFill>
                  <a:srgbClr val="B42828"/>
                </a:solidFill>
                <a:latin typeface="Calibri"/>
              </a:rPr>
              <a:t>TODAY</a:t>
            </a:r>
          </a:p>
          <a:p>
            <a:pPr algn="l">
              <a:spcBef>
                <a:spcPts val="0"/>
              </a:spcBef>
              <a:spcAft>
                <a:spcPts val="300"/>
              </a:spcAft>
            </a:pPr>
            <a:r>
              <a:rPr sz="880" b="0" i="0">
                <a:solidFill>
                  <a:srgbClr val="5A677D"/>
                </a:solidFill>
                <a:latin typeface="Calibri"/>
              </a:rPr>
              <a:t>▪  Every cleared recipient is an equally plausible suspect.</a:t>
            </a:r>
          </a:p>
          <a:p>
            <a:pPr algn="l">
              <a:spcBef>
                <a:spcPts val="0"/>
              </a:spcBef>
              <a:spcAft>
                <a:spcPts val="300"/>
              </a:spcAft>
            </a:pPr>
            <a:r>
              <a:rPr sz="880" b="0" i="0">
                <a:solidFill>
                  <a:srgbClr val="5A677D"/>
                </a:solidFill>
                <a:latin typeface="Calibri"/>
              </a:rPr>
              <a:t>▪  Access logs can be edited by the administrator who holds them.</a:t>
            </a:r>
          </a:p>
          <a:p>
            <a:pPr algn="l">
              <a:spcBef>
                <a:spcPts val="0"/>
              </a:spcBef>
              <a:spcAft>
                <a:spcPts val="300"/>
              </a:spcAft>
            </a:pPr>
            <a:r>
              <a:rPr sz="880" b="0" i="0">
                <a:solidFill>
                  <a:srgbClr val="5A677D"/>
                </a:solidFill>
                <a:latin typeface="Calibri"/>
              </a:rPr>
              <a:t>▪  One identical watermark for all recipients attributes nothing.</a:t>
            </a:r>
          </a:p>
        </p:txBody>
      </p:sp>
      <p:sp>
        <p:nvSpPr>
          <p:cNvPr id="17419" name="Rounded Rectangle 17418"/>
          <p:cNvSpPr/>
          <p:nvPr/>
        </p:nvSpPr>
        <p:spPr>
          <a:xfrm>
            <a:off x="6336792" y="3639312"/>
            <a:ext cx="5669280" cy="1243584"/>
          </a:xfrm>
          <a:prstGeom prst="roundRect">
            <a:avLst>
              <a:gd name="adj" fmla="val 6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501383" y="3758184"/>
            <a:ext cx="5340096" cy="1005840"/>
          </a:xfrm>
          <a:prstGeom prst="rect">
            <a:avLst/>
          </a:prstGeom>
          <a:noFill/>
        </p:spPr>
        <p:txBody>
          <a:bodyPr wrap="square" anchor="t" lIns="0" rIns="0" tIns="0" bIns="0">
            <a:spAutoFit/>
          </a:bodyPr>
          <a:lstStyle/>
          <a:p>
            <a:pPr algn="l">
              <a:spcBef>
                <a:spcPts val="0"/>
              </a:spcBef>
              <a:spcAft>
                <a:spcPts val="400"/>
              </a:spcAft>
            </a:pPr>
            <a:r>
              <a:rPr sz="840" b="1" i="0">
                <a:solidFill>
                  <a:srgbClr val="1B7F5E"/>
                </a:solidFill>
                <a:latin typeface="Calibri"/>
              </a:rPr>
              <a:t>WITH PQFW</a:t>
            </a:r>
          </a:p>
          <a:p>
            <a:pPr algn="l">
              <a:spcBef>
                <a:spcPts val="0"/>
              </a:spcBef>
              <a:spcAft>
                <a:spcPts val="300"/>
              </a:spcAft>
            </a:pPr>
            <a:r>
              <a:rPr sz="880" b="0" i="0">
                <a:solidFill>
                  <a:srgbClr val="5A677D"/>
                </a:solidFill>
                <a:latin typeface="Calibri"/>
              </a:rPr>
              <a:t>▪  A leaked copy names one recipient and one decryption session.</a:t>
            </a:r>
          </a:p>
          <a:p>
            <a:pPr algn="l">
              <a:spcBef>
                <a:spcPts val="0"/>
              </a:spcBef>
              <a:spcAft>
                <a:spcPts val="300"/>
              </a:spcAft>
            </a:pPr>
            <a:r>
              <a:rPr sz="880" b="0" i="0">
                <a:solidFill>
                  <a:srgbClr val="5A677D"/>
                </a:solidFill>
                <a:latin typeface="Calibri"/>
              </a:rPr>
              <a:t>▪  Records are replicated 3 ways; one compromised admin is out-voted.</a:t>
            </a:r>
          </a:p>
          <a:p>
            <a:pPr algn="l">
              <a:spcBef>
                <a:spcPts val="0"/>
              </a:spcBef>
              <a:spcAft>
                <a:spcPts val="300"/>
              </a:spcAft>
            </a:pPr>
            <a:r>
              <a:rPr sz="880" b="0" i="0">
                <a:solidFill>
                  <a:srgbClr val="5A677D"/>
                </a:solidFill>
                <a:latin typeface="Calibri"/>
              </a:rPr>
              <a:t>▪  Every copy is distinct, and the accusation carries a provable bound.</a:t>
            </a:r>
          </a:p>
        </p:txBody>
      </p:sp>
      <p:sp>
        <p:nvSpPr>
          <p:cNvPr id="17421" name="TextBox 17420"/>
          <p:cNvSpPr txBox="1"/>
          <p:nvPr/>
        </p:nvSpPr>
        <p:spPr>
          <a:xfrm>
            <a:off x="384048" y="4956048"/>
            <a:ext cx="11420856"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Cost of running it</a:t>
            </a:r>
          </a:p>
        </p:txBody>
      </p:sp>
      <p:sp>
        <p:nvSpPr>
          <p:cNvPr id="17422" name="Rounded Rectangle 17421"/>
          <p:cNvSpPr/>
          <p:nvPr/>
        </p:nvSpPr>
        <p:spPr>
          <a:xfrm>
            <a:off x="384048" y="5248656"/>
            <a:ext cx="11420856" cy="896112"/>
          </a:xfrm>
          <a:prstGeom prst="roundRect">
            <a:avLst>
              <a:gd name="adj" fmla="val 5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TextBox 17422"/>
          <p:cNvSpPr txBox="1"/>
          <p:nvPr/>
        </p:nvSpPr>
        <p:spPr>
          <a:xfrm>
            <a:off x="548640" y="5340096"/>
            <a:ext cx="2218334" cy="658368"/>
          </a:xfrm>
          <a:prstGeom prst="rect">
            <a:avLst/>
          </a:prstGeom>
          <a:noFill/>
        </p:spPr>
        <p:txBody>
          <a:bodyPr wrap="square" anchor="t" lIns="0" rIns="0" tIns="0" bIns="0">
            <a:spAutoFit/>
          </a:bodyPr>
          <a:lstStyle/>
          <a:p>
            <a:pPr algn="ctr">
              <a:spcBef>
                <a:spcPts val="0"/>
              </a:spcBef>
              <a:spcAft>
                <a:spcPts val="0"/>
              </a:spcAft>
            </a:pPr>
            <a:r>
              <a:rPr sz="1600" b="1" i="0">
                <a:solidFill>
                  <a:srgbClr val="1F3864"/>
                </a:solidFill>
                <a:latin typeface="Calibri"/>
              </a:rPr>
              <a:t>116 KB</a:t>
            </a:r>
          </a:p>
          <a:p>
            <a:pPr algn="ctr">
              <a:spcBef>
                <a:spcPts val="0"/>
              </a:spcBef>
              <a:spcAft>
                <a:spcPts val="0"/>
              </a:spcAft>
            </a:pPr>
            <a:r>
              <a:rPr sz="760" b="0" i="0">
                <a:solidFill>
                  <a:srgbClr val="5A677D"/>
                </a:solidFill>
                <a:latin typeface="Calibri"/>
              </a:rPr>
              <a:t>shared ciphertext —
the same bytes for everyone</a:t>
            </a:r>
          </a:p>
        </p:txBody>
      </p:sp>
      <p:sp>
        <p:nvSpPr>
          <p:cNvPr id="17424" name="TextBox 17423"/>
          <p:cNvSpPr txBox="1"/>
          <p:nvPr/>
        </p:nvSpPr>
        <p:spPr>
          <a:xfrm>
            <a:off x="2766974" y="5340096"/>
            <a:ext cx="2218334" cy="658368"/>
          </a:xfrm>
          <a:prstGeom prst="rect">
            <a:avLst/>
          </a:prstGeom>
          <a:noFill/>
        </p:spPr>
        <p:txBody>
          <a:bodyPr wrap="square" anchor="t" lIns="0" rIns="0" tIns="0" bIns="0">
            <a:spAutoFit/>
          </a:bodyPr>
          <a:lstStyle/>
          <a:p>
            <a:pPr algn="ctr">
              <a:spcBef>
                <a:spcPts val="0"/>
              </a:spcBef>
              <a:spcAft>
                <a:spcPts val="0"/>
              </a:spcAft>
            </a:pPr>
            <a:r>
              <a:rPr sz="1600" b="1" i="0">
                <a:solidFill>
                  <a:srgbClr val="1F3864"/>
                </a:solidFill>
                <a:latin typeface="Calibri"/>
              </a:rPr>
              <a:t>34 KB</a:t>
            </a:r>
          </a:p>
          <a:p>
            <a:pPr algn="ctr">
              <a:spcBef>
                <a:spcPts val="0"/>
              </a:spcBef>
              <a:spcAft>
                <a:spcPts val="0"/>
              </a:spcAft>
            </a:pPr>
            <a:r>
              <a:rPr sz="760" b="0" i="0">
                <a:solidFill>
                  <a:srgbClr val="5A677D"/>
                </a:solidFill>
                <a:latin typeface="Calibri"/>
              </a:rPr>
              <a:t>per recipient, and
independent of N</a:t>
            </a:r>
          </a:p>
        </p:txBody>
      </p:sp>
      <p:sp>
        <p:nvSpPr>
          <p:cNvPr id="17425" name="TextBox 17424"/>
          <p:cNvSpPr txBox="1"/>
          <p:nvPr/>
        </p:nvSpPr>
        <p:spPr>
          <a:xfrm>
            <a:off x="4985308" y="5340096"/>
            <a:ext cx="2218334" cy="658368"/>
          </a:xfrm>
          <a:prstGeom prst="rect">
            <a:avLst/>
          </a:prstGeom>
          <a:noFill/>
        </p:spPr>
        <p:txBody>
          <a:bodyPr wrap="square" anchor="t" lIns="0" rIns="0" tIns="0" bIns="0">
            <a:spAutoFit/>
          </a:bodyPr>
          <a:lstStyle/>
          <a:p>
            <a:pPr algn="ctr">
              <a:spcBef>
                <a:spcPts val="0"/>
              </a:spcBef>
              <a:spcAft>
                <a:spcPts val="0"/>
              </a:spcAft>
            </a:pPr>
            <a:r>
              <a:rPr sz="1600" b="1" i="0">
                <a:solidFill>
                  <a:srgbClr val="1B7F5E"/>
                </a:solidFill>
                <a:latin typeface="Calibri"/>
              </a:rPr>
              <a:t>0</a:t>
            </a:r>
          </a:p>
          <a:p>
            <a:pPr algn="ctr">
              <a:spcBef>
                <a:spcPts val="0"/>
              </a:spcBef>
              <a:spcAft>
                <a:spcPts val="0"/>
              </a:spcAft>
            </a:pPr>
            <a:r>
              <a:rPr sz="760" b="0" i="0">
                <a:solidFill>
                  <a:srgbClr val="5A677D"/>
                </a:solidFill>
                <a:latin typeface="Calibri"/>
              </a:rPr>
              <a:t>GPUs, HSMs and
cloud services required</a:t>
            </a:r>
          </a:p>
        </p:txBody>
      </p:sp>
      <p:sp>
        <p:nvSpPr>
          <p:cNvPr id="17426" name="TextBox 17425"/>
          <p:cNvSpPr txBox="1"/>
          <p:nvPr/>
        </p:nvSpPr>
        <p:spPr>
          <a:xfrm>
            <a:off x="7203643" y="5340096"/>
            <a:ext cx="2218334" cy="658368"/>
          </a:xfrm>
          <a:prstGeom prst="rect">
            <a:avLst/>
          </a:prstGeom>
          <a:noFill/>
        </p:spPr>
        <p:txBody>
          <a:bodyPr wrap="square" anchor="t" lIns="0" rIns="0" tIns="0" bIns="0">
            <a:spAutoFit/>
          </a:bodyPr>
          <a:lstStyle/>
          <a:p>
            <a:pPr algn="ctr">
              <a:spcBef>
                <a:spcPts val="0"/>
              </a:spcBef>
              <a:spcAft>
                <a:spcPts val="0"/>
              </a:spcAft>
            </a:pPr>
            <a:r>
              <a:rPr sz="1600" b="1" i="0">
                <a:solidFill>
                  <a:srgbClr val="1B7F5E"/>
                </a:solidFill>
                <a:latin typeface="Calibri"/>
              </a:rPr>
              <a:t>₹0</a:t>
            </a:r>
          </a:p>
          <a:p>
            <a:pPr algn="ctr">
              <a:spcBef>
                <a:spcPts val="0"/>
              </a:spcBef>
              <a:spcAft>
                <a:spcPts val="0"/>
              </a:spcAft>
            </a:pPr>
            <a:r>
              <a:rPr sz="760" b="0" i="0">
                <a:solidFill>
                  <a:srgbClr val="5A677D"/>
                </a:solidFill>
                <a:latin typeface="Calibri"/>
              </a:rPr>
              <a:t>licensing cost —
open-source throughout</a:t>
            </a:r>
          </a:p>
        </p:txBody>
      </p:sp>
      <p:sp>
        <p:nvSpPr>
          <p:cNvPr id="17427" name="TextBox 17426"/>
          <p:cNvSpPr txBox="1"/>
          <p:nvPr/>
        </p:nvSpPr>
        <p:spPr>
          <a:xfrm>
            <a:off x="9421977" y="5340096"/>
            <a:ext cx="2218334" cy="658368"/>
          </a:xfrm>
          <a:prstGeom prst="rect">
            <a:avLst/>
          </a:prstGeom>
          <a:noFill/>
        </p:spPr>
        <p:txBody>
          <a:bodyPr wrap="square" anchor="t" lIns="0" rIns="0" tIns="0" bIns="0">
            <a:spAutoFit/>
          </a:bodyPr>
          <a:lstStyle/>
          <a:p>
            <a:pPr algn="ctr">
              <a:spcBef>
                <a:spcPts val="0"/>
              </a:spcBef>
              <a:spcAft>
                <a:spcPts val="0"/>
              </a:spcAft>
            </a:pPr>
            <a:r>
              <a:rPr sz="1600" b="1" i="0">
                <a:solidFill>
                  <a:srgbClr val="1F3864"/>
                </a:solidFill>
                <a:latin typeface="Calibri"/>
              </a:rPr>
              <a:t>&lt; 1 s</a:t>
            </a:r>
          </a:p>
          <a:p>
            <a:pPr algn="ctr">
              <a:spcBef>
                <a:spcPts val="0"/>
              </a:spcBef>
              <a:spcAft>
                <a:spcPts val="0"/>
              </a:spcAft>
            </a:pPr>
            <a:r>
              <a:rPr sz="760" b="0" i="0">
                <a:solidFill>
                  <a:srgbClr val="5A677D"/>
                </a:solidFill>
                <a:latin typeface="Calibri"/>
              </a:rPr>
              <a:t>to trace a leak against
1,000 recipients</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sz="1500" b="1">
                <a:solidFill>
                  <a:srgbClr val="1F3864"/>
                </a:solidFill>
                <a:latin typeface="Calibri"/>
              </a:rPr>
              <a:t>NOX</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84048" y="1188720"/>
            <a:ext cx="367588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Standards and specifications</a:t>
            </a:r>
          </a:p>
        </p:txBody>
      </p:sp>
      <p:sp>
        <p:nvSpPr>
          <p:cNvPr id="17411" name="TextBox 17410"/>
          <p:cNvSpPr txBox="1"/>
          <p:nvPr/>
        </p:nvSpPr>
        <p:spPr>
          <a:xfrm>
            <a:off x="384048" y="1499616"/>
            <a:ext cx="3675887" cy="2194560"/>
          </a:xfrm>
          <a:prstGeom prst="rect">
            <a:avLst/>
          </a:prstGeom>
          <a:noFill/>
        </p:spPr>
        <p:txBody>
          <a:bodyPr wrap="square" anchor="t" lIns="0" rIns="0" tIns="0" bIns="0">
            <a:spAutoFit/>
          </a:bodyPr>
          <a:lstStyle/>
          <a:p>
            <a:pPr algn="l">
              <a:spcBef>
                <a:spcPts val="0"/>
              </a:spcBef>
              <a:spcAft>
                <a:spcPts val="600"/>
              </a:spcAft>
            </a:pPr>
            <a:r>
              <a:rPr sz="860" b="1">
                <a:solidFill>
                  <a:srgbClr val="1F3864"/>
                </a:solidFill>
                <a:latin typeface="Calibri"/>
              </a:rPr>
              <a:t>FIPS 203 (2024)  </a:t>
            </a:r>
            <a:r>
              <a:rPr sz="860" b="0">
                <a:solidFill>
                  <a:srgbClr val="5A677D"/>
                </a:solidFill>
                <a:latin typeface="Calibri"/>
              </a:rPr>
              <a:t>Module-Lattice-Based Key-Encapsulation Mechanism — ML-KEM. NIST.</a:t>
            </a:r>
          </a:p>
          <a:p>
            <a:pPr algn="l">
              <a:spcBef>
                <a:spcPts val="0"/>
              </a:spcBef>
              <a:spcAft>
                <a:spcPts val="600"/>
              </a:spcAft>
            </a:pPr>
            <a:r>
              <a:rPr sz="860" b="1">
                <a:solidFill>
                  <a:srgbClr val="1F3864"/>
                </a:solidFill>
                <a:latin typeface="Calibri"/>
              </a:rPr>
              <a:t>FIPS 204 (2024)  </a:t>
            </a:r>
            <a:r>
              <a:rPr sz="860" b="0">
                <a:solidFill>
                  <a:srgbClr val="5A677D"/>
                </a:solidFill>
                <a:latin typeface="Calibri"/>
              </a:rPr>
              <a:t>Module-Lattice-Based Digital Signature Standard — ML-DSA. NIST.</a:t>
            </a:r>
          </a:p>
          <a:p>
            <a:pPr algn="l">
              <a:spcBef>
                <a:spcPts val="0"/>
              </a:spcBef>
              <a:spcAft>
                <a:spcPts val="600"/>
              </a:spcAft>
            </a:pPr>
            <a:r>
              <a:rPr sz="860" b="1">
                <a:solidFill>
                  <a:srgbClr val="1F3864"/>
                </a:solidFill>
                <a:latin typeface="Calibri"/>
              </a:rPr>
              <a:t>FIPS 202  </a:t>
            </a:r>
            <a:r>
              <a:rPr sz="860" b="0">
                <a:solidFill>
                  <a:srgbClr val="5A677D"/>
                </a:solidFill>
                <a:latin typeface="Calibri"/>
              </a:rPr>
              <a:t>SHA-3 permutation-based hash and extendable-output functions.</a:t>
            </a:r>
          </a:p>
          <a:p>
            <a:pPr algn="l">
              <a:spcBef>
                <a:spcPts val="0"/>
              </a:spcBef>
              <a:spcAft>
                <a:spcPts val="600"/>
              </a:spcAft>
            </a:pPr>
            <a:r>
              <a:rPr sz="860" b="1">
                <a:solidFill>
                  <a:srgbClr val="1F3864"/>
                </a:solidFill>
                <a:latin typeface="Calibri"/>
              </a:rPr>
              <a:t>NIST SP 800-38D  </a:t>
            </a:r>
            <a:r>
              <a:rPr sz="860" b="0">
                <a:solidFill>
                  <a:srgbClr val="5A677D"/>
                </a:solidFill>
                <a:latin typeface="Calibri"/>
              </a:rPr>
              <a:t>Galois/Counter Mode for AES, used for every ciphertext here.</a:t>
            </a:r>
          </a:p>
        </p:txBody>
      </p:sp>
      <p:sp>
        <p:nvSpPr>
          <p:cNvPr id="17412" name="TextBox 17411"/>
          <p:cNvSpPr txBox="1"/>
          <p:nvPr/>
        </p:nvSpPr>
        <p:spPr>
          <a:xfrm>
            <a:off x="4270248" y="1188720"/>
            <a:ext cx="367588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Methods and literature</a:t>
            </a:r>
          </a:p>
        </p:txBody>
      </p:sp>
      <p:sp>
        <p:nvSpPr>
          <p:cNvPr id="17413" name="TextBox 17412"/>
          <p:cNvSpPr txBox="1"/>
          <p:nvPr/>
        </p:nvSpPr>
        <p:spPr>
          <a:xfrm>
            <a:off x="4270248" y="1499616"/>
            <a:ext cx="3675887" cy="2194560"/>
          </a:xfrm>
          <a:prstGeom prst="rect">
            <a:avLst/>
          </a:prstGeom>
          <a:noFill/>
        </p:spPr>
        <p:txBody>
          <a:bodyPr wrap="square" anchor="t" lIns="0" rIns="0" tIns="0" bIns="0">
            <a:spAutoFit/>
          </a:bodyPr>
          <a:lstStyle/>
          <a:p>
            <a:pPr algn="l">
              <a:spcBef>
                <a:spcPts val="0"/>
              </a:spcBef>
              <a:spcAft>
                <a:spcPts val="550"/>
              </a:spcAft>
            </a:pPr>
            <a:r>
              <a:rPr sz="860" b="1">
                <a:solidFill>
                  <a:srgbClr val="1F3864"/>
                </a:solidFill>
                <a:latin typeface="Calibri"/>
              </a:rPr>
              <a:t>Tardos (2003)  </a:t>
            </a:r>
            <a:r>
              <a:rPr sz="860" b="0">
                <a:solidFill>
                  <a:srgbClr val="5A677D"/>
                </a:solidFill>
                <a:latin typeface="Calibri"/>
              </a:rPr>
              <a:t>Optimal probabilistic fingerprint codes. STOC.</a:t>
            </a:r>
          </a:p>
          <a:p>
            <a:pPr algn="l">
              <a:spcBef>
                <a:spcPts val="0"/>
              </a:spcBef>
              <a:spcAft>
                <a:spcPts val="550"/>
              </a:spcAft>
            </a:pPr>
            <a:r>
              <a:rPr sz="860" b="1">
                <a:solidFill>
                  <a:srgbClr val="1F3864"/>
                </a:solidFill>
                <a:latin typeface="Calibri"/>
              </a:rPr>
              <a:t>Škorić et al. (2008)  </a:t>
            </a:r>
            <a:r>
              <a:rPr sz="860" b="0">
                <a:solidFill>
                  <a:srgbClr val="5A677D"/>
                </a:solidFill>
                <a:latin typeface="Calibri"/>
              </a:rPr>
              <a:t>Symmetric Tardos fingerprinting codes for arbitrary alphabet sizes. Designs, Codes and Cryptography.</a:t>
            </a:r>
          </a:p>
          <a:p>
            <a:pPr algn="l">
              <a:spcBef>
                <a:spcPts val="0"/>
              </a:spcBef>
              <a:spcAft>
                <a:spcPts val="550"/>
              </a:spcAft>
            </a:pPr>
            <a:r>
              <a:rPr sz="860" b="1">
                <a:solidFill>
                  <a:srgbClr val="1F3864"/>
                </a:solidFill>
                <a:latin typeface="Calibri"/>
              </a:rPr>
              <a:t>Boneh &amp; Shaw (1998)  </a:t>
            </a:r>
            <a:r>
              <a:rPr sz="860" b="0">
                <a:solidFill>
                  <a:srgbClr val="5A677D"/>
                </a:solidFill>
                <a:latin typeface="Calibri"/>
              </a:rPr>
              <a:t>Collusion-secure fingerprinting for digital data. IEEE Trans. Information Theory.</a:t>
            </a:r>
          </a:p>
          <a:p>
            <a:pPr algn="l">
              <a:spcBef>
                <a:spcPts val="0"/>
              </a:spcBef>
              <a:spcAft>
                <a:spcPts val="550"/>
              </a:spcAft>
            </a:pPr>
            <a:r>
              <a:rPr sz="860" b="1">
                <a:solidFill>
                  <a:srgbClr val="1F3864"/>
                </a:solidFill>
                <a:latin typeface="Calibri"/>
              </a:rPr>
              <a:t>Open Quantum Safe  </a:t>
            </a:r>
            <a:r>
              <a:rPr sz="860" b="0">
                <a:solidFill>
                  <a:srgbClr val="5A677D"/>
                </a:solidFill>
                <a:latin typeface="Calibri"/>
              </a:rPr>
              <a:t>liboqs — the C library providing both mechanisms used here.</a:t>
            </a:r>
          </a:p>
          <a:p>
            <a:pPr algn="l">
              <a:spcBef>
                <a:spcPts val="0"/>
              </a:spcBef>
              <a:spcAft>
                <a:spcPts val="550"/>
              </a:spcAft>
            </a:pPr>
            <a:r>
              <a:rPr sz="860" b="1">
                <a:solidFill>
                  <a:srgbClr val="1F3864"/>
                </a:solidFill>
                <a:latin typeface="Calibri"/>
              </a:rPr>
              <a:t>Brakerski–Fan–Vercauteren  </a:t>
            </a:r>
            <a:r>
              <a:rPr sz="860" b="0">
                <a:solidFill>
                  <a:srgbClr val="5A677D"/>
                </a:solidFill>
                <a:latin typeface="Calibri"/>
              </a:rPr>
              <a:t>Somewhat-homomorphic encryption; the route to post-quantum asymmetric fingerprinting. Future work.</a:t>
            </a:r>
          </a:p>
        </p:txBody>
      </p:sp>
      <p:sp>
        <p:nvSpPr>
          <p:cNvPr id="17414" name="TextBox 17413"/>
          <p:cNvSpPr txBox="1"/>
          <p:nvPr/>
        </p:nvSpPr>
        <p:spPr>
          <a:xfrm>
            <a:off x="8156448" y="1188720"/>
            <a:ext cx="3675887"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Our work — live and inspectable</a:t>
            </a:r>
          </a:p>
        </p:txBody>
      </p:sp>
      <p:sp>
        <p:nvSpPr>
          <p:cNvPr id="17415" name="Rounded Rectangle 17414"/>
          <p:cNvSpPr/>
          <p:nvPr/>
        </p:nvSpPr>
        <p:spPr>
          <a:xfrm>
            <a:off x="8156448" y="1499616"/>
            <a:ext cx="3675887" cy="1060704"/>
          </a:xfrm>
          <a:prstGeom prst="roundRect">
            <a:avLst>
              <a:gd name="adj" fmla="val 7000"/>
            </a:avLst>
          </a:prstGeom>
          <a:solidFill>
            <a:srgbClr val="E8F4EE"/>
          </a:solidFill>
          <a:ln w="9525">
            <a:solidFill>
              <a:srgbClr val="A8D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8293608" y="1600200"/>
            <a:ext cx="3401568" cy="877824"/>
          </a:xfrm>
          <a:prstGeom prst="rect">
            <a:avLst/>
          </a:prstGeom>
          <a:noFill/>
        </p:spPr>
        <p:txBody>
          <a:bodyPr wrap="square" anchor="t" lIns="0" rIns="0" tIns="0" bIns="0">
            <a:spAutoFit/>
          </a:bodyPr>
          <a:lstStyle/>
          <a:p>
            <a:pPr algn="l">
              <a:spcBef>
                <a:spcPts val="0"/>
              </a:spcBef>
              <a:spcAft>
                <a:spcPts val="300"/>
              </a:spcAft>
            </a:pPr>
            <a:r>
              <a:rPr sz="760" b="1" i="0">
                <a:solidFill>
                  <a:srgbClr val="1B7F5E"/>
                </a:solidFill>
                <a:latin typeface="Calibri"/>
              </a:rPr>
              <a:t>WORKING PROTOTYPE</a:t>
            </a:r>
          </a:p>
          <a:p>
            <a:pPr algn="l">
              <a:spcBef>
                <a:spcPts val="0"/>
              </a:spcBef>
              <a:spcAft>
                <a:spcPts val="300"/>
              </a:spcAft>
            </a:pPr>
            <a:r>
              <a:rPr sz="1050" b="1" i="0">
                <a:solidFill>
                  <a:srgbClr val="1F3864"/>
                </a:solidFill>
                <a:latin typeface="Calibri"/>
              </a:rPr>
              <a:t>pqfw.onrender.com</a:t>
            </a:r>
          </a:p>
          <a:p>
            <a:pPr algn="l">
              <a:spcBef>
                <a:spcPts val="0"/>
              </a:spcBef>
              <a:spcAft>
                <a:spcPts val="0"/>
              </a:spcAft>
            </a:pPr>
            <a:r>
              <a:rPr sz="800" b="0" i="0">
                <a:solidFill>
                  <a:srgbClr val="5A677D"/>
                </a:solidFill>
                <a:latin typeface="Calibri"/>
              </a:rPr>
              <a:t>Five guided steps, real post-quantum cryptography computed server-side.</a:t>
            </a:r>
          </a:p>
        </p:txBody>
      </p:sp>
      <p:sp>
        <p:nvSpPr>
          <p:cNvPr id="17417" name="Rounded Rectangle 17416"/>
          <p:cNvSpPr/>
          <p:nvPr/>
        </p:nvSpPr>
        <p:spPr>
          <a:xfrm>
            <a:off x="8156448" y="2670048"/>
            <a:ext cx="3675887" cy="1024128"/>
          </a:xfrm>
          <a:prstGeom prst="roundRect">
            <a:avLst>
              <a:gd name="adj" fmla="val 7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8293608" y="2761488"/>
            <a:ext cx="3401568" cy="841248"/>
          </a:xfrm>
          <a:prstGeom prst="rect">
            <a:avLst/>
          </a:prstGeom>
          <a:noFill/>
        </p:spPr>
        <p:txBody>
          <a:bodyPr wrap="square" anchor="t" lIns="0" rIns="0" tIns="0" bIns="0">
            <a:spAutoFit/>
          </a:bodyPr>
          <a:lstStyle/>
          <a:p>
            <a:pPr algn="l">
              <a:spcBef>
                <a:spcPts val="0"/>
              </a:spcBef>
              <a:spcAft>
                <a:spcPts val="300"/>
              </a:spcAft>
            </a:pPr>
            <a:r>
              <a:rPr sz="760" b="1" i="0">
                <a:solidFill>
                  <a:srgbClr val="1F3864"/>
                </a:solidFill>
                <a:latin typeface="Calibri"/>
              </a:rPr>
              <a:t>EVALUATION AND ATTACK RESULTS</a:t>
            </a:r>
          </a:p>
          <a:p>
            <a:pPr algn="l">
              <a:spcBef>
                <a:spcPts val="0"/>
              </a:spcBef>
              <a:spcAft>
                <a:spcPts val="300"/>
              </a:spcAft>
            </a:pPr>
            <a:r>
              <a:rPr sz="760" b="1" i="0">
                <a:solidFill>
                  <a:srgbClr val="1F3864"/>
                </a:solidFill>
                <a:latin typeface="Calibri"/>
              </a:rPr>
              <a:t>evildeity-pqfw-post-quantum-watermarking.static.hf.space</a:t>
            </a:r>
          </a:p>
          <a:p>
            <a:pPr algn="l">
              <a:spcBef>
                <a:spcPts val="0"/>
              </a:spcBef>
              <a:spcAft>
                <a:spcPts val="0"/>
              </a:spcAft>
            </a:pPr>
            <a:r>
              <a:rPr sz="800" b="0" i="0">
                <a:solidFill>
                  <a:srgbClr val="5A677D"/>
                </a:solidFill>
                <a:latin typeface="Calibri"/>
              </a:rPr>
              <a:t>Every figure produced by executing the library, with the commit recorded.</a:t>
            </a:r>
          </a:p>
        </p:txBody>
      </p:sp>
      <p:sp>
        <p:nvSpPr>
          <p:cNvPr id="17419" name="TextBox 17418"/>
          <p:cNvSpPr txBox="1"/>
          <p:nvPr/>
        </p:nvSpPr>
        <p:spPr>
          <a:xfrm>
            <a:off x="384048" y="3840480"/>
            <a:ext cx="11420856" cy="274320"/>
          </a:xfrm>
          <a:prstGeom prst="rect">
            <a:avLst/>
          </a:prstGeom>
          <a:noFill/>
        </p:spPr>
        <p:txBody>
          <a:bodyPr wrap="square" anchor="t" lIns="0" rIns="0" tIns="0" bIns="0">
            <a:spAutoFit/>
          </a:bodyPr>
          <a:lstStyle/>
          <a:p>
            <a:pPr algn="l">
              <a:spcBef>
                <a:spcPts val="0"/>
              </a:spcBef>
              <a:spcAft>
                <a:spcPts val="0"/>
              </a:spcAft>
            </a:pPr>
            <a:r>
              <a:rPr sz="1150" b="1" i="0">
                <a:solidFill>
                  <a:srgbClr val="1F3864"/>
                </a:solidFill>
                <a:latin typeface="Calibri"/>
              </a:rPr>
              <a:t>Every requirement in SIH26237, and where it is met</a:t>
            </a:r>
          </a:p>
          <a:p>
            <a:pPr algn="l">
              <a:spcBef>
                <a:spcPts val="0"/>
              </a:spcBef>
              <a:spcAft>
                <a:spcPts val="0"/>
              </a:spcAft>
            </a:pPr>
            <a:r>
              <a:rPr sz="850" b="0" i="1">
                <a:solidFill>
                  <a:srgbClr val="5A677D"/>
                </a:solidFill>
                <a:latin typeface="Calibri"/>
              </a:rPr>
              <a:t>each one is exercised by an automated test, and by a step of the live demo</a:t>
            </a:r>
          </a:p>
        </p:txBody>
      </p:sp>
      <p:sp>
        <p:nvSpPr>
          <p:cNvPr id="17420" name="Rounded Rectangle 17419"/>
          <p:cNvSpPr/>
          <p:nvPr/>
        </p:nvSpPr>
        <p:spPr>
          <a:xfrm>
            <a:off x="384048" y="4224528"/>
            <a:ext cx="11420856" cy="1481328"/>
          </a:xfrm>
          <a:prstGeom prst="roundRect">
            <a:avLst>
              <a:gd name="adj" fmla="val 5000"/>
            </a:avLst>
          </a:prstGeom>
          <a:solidFill>
            <a:srgbClr val="EEF3FA"/>
          </a:solidFill>
          <a:ln w="9525">
            <a:solidFill>
              <a:srgbClr val="C3D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566928" y="4315968"/>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Unique invisible forensic watermark at the moment of decryption</a:t>
            </a:r>
          </a:p>
        </p:txBody>
      </p:sp>
      <p:sp>
        <p:nvSpPr>
          <p:cNvPr id="17422" name="TextBox 17421"/>
          <p:cNvSpPr txBox="1"/>
          <p:nvPr/>
        </p:nvSpPr>
        <p:spPr>
          <a:xfrm>
            <a:off x="566928" y="4539996"/>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Specific to each recipient and each decryption session</a:t>
            </a:r>
          </a:p>
        </p:txBody>
      </p:sp>
      <p:sp>
        <p:nvSpPr>
          <p:cNvPr id="17423" name="TextBox 17422"/>
          <p:cNvSpPr txBox="1"/>
          <p:nvPr/>
        </p:nvSpPr>
        <p:spPr>
          <a:xfrm>
            <a:off x="566928" y="4764024"/>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Every copy visually identical, forensically distinct</a:t>
            </a:r>
          </a:p>
        </p:txBody>
      </p:sp>
      <p:sp>
        <p:nvSpPr>
          <p:cNvPr id="17424" name="TextBox 17423"/>
          <p:cNvSpPr txBox="1"/>
          <p:nvPr/>
        </p:nvSpPr>
        <p:spPr>
          <a:xfrm>
            <a:off x="566928" y="4988052"/>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Each decryption cryptographically bound to the recipient's identity</a:t>
            </a:r>
          </a:p>
        </p:txBody>
      </p:sp>
      <p:sp>
        <p:nvSpPr>
          <p:cNvPr id="17425" name="TextBox 17424"/>
          <p:cNvSpPr txBox="1"/>
          <p:nvPr/>
        </p:nvSpPr>
        <p:spPr>
          <a:xfrm>
            <a:off x="566928" y="5212079"/>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Signature generated with the recipient's own private key</a:t>
            </a:r>
          </a:p>
        </p:txBody>
      </p:sp>
      <p:sp>
        <p:nvSpPr>
          <p:cNvPr id="17426" name="TextBox 17425"/>
          <p:cNvSpPr txBox="1"/>
          <p:nvPr/>
        </p:nvSpPr>
        <p:spPr>
          <a:xfrm>
            <a:off x="566928" y="5436108"/>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NIST-standardised PQC for key exchange and digital signatures</a:t>
            </a:r>
          </a:p>
        </p:txBody>
      </p:sp>
      <p:sp>
        <p:nvSpPr>
          <p:cNvPr id="17427" name="TextBox 17426"/>
          <p:cNvSpPr txBox="1"/>
          <p:nvPr/>
        </p:nvSpPr>
        <p:spPr>
          <a:xfrm>
            <a:off x="6094476" y="4315968"/>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Immutable audit layer implemented as a distributed ledger</a:t>
            </a:r>
          </a:p>
        </p:txBody>
      </p:sp>
      <p:sp>
        <p:nvSpPr>
          <p:cNvPr id="17428" name="TextBox 17427"/>
          <p:cNvSpPr txBox="1"/>
          <p:nvPr/>
        </p:nvSpPr>
        <p:spPr>
          <a:xfrm>
            <a:off x="6094476" y="4539996"/>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No single administrator or compromised account can alter records</a:t>
            </a:r>
          </a:p>
        </p:txBody>
      </p:sp>
      <p:sp>
        <p:nvSpPr>
          <p:cNvPr id="17429" name="TextBox 17428"/>
          <p:cNvSpPr txBox="1"/>
          <p:nvPr/>
        </p:nvSpPr>
        <p:spPr>
          <a:xfrm>
            <a:off x="6094476" y="4764024"/>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Extract the watermark, match it against the ledger, verify it</a:t>
            </a:r>
          </a:p>
        </p:txBody>
      </p:sp>
      <p:sp>
        <p:nvSpPr>
          <p:cNvPr id="17430" name="TextBox 17429"/>
          <p:cNvSpPr txBox="1"/>
          <p:nvPr/>
        </p:nvSpPr>
        <p:spPr>
          <a:xfrm>
            <a:off x="6094476" y="4988052"/>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Complete operation offline and air-gapped</a:t>
            </a:r>
          </a:p>
        </p:txBody>
      </p:sp>
      <p:sp>
        <p:nvSpPr>
          <p:cNvPr id="17431" name="TextBox 17430"/>
          <p:cNvSpPr txBox="1"/>
          <p:nvPr/>
        </p:nvSpPr>
        <p:spPr>
          <a:xfrm>
            <a:off x="6094476" y="5212079"/>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No dependency on external cloud KMS services</a:t>
            </a:r>
          </a:p>
        </p:txBody>
      </p:sp>
      <p:sp>
        <p:nvSpPr>
          <p:cNvPr id="17432" name="TextBox 17431"/>
          <p:cNvSpPr txBox="1"/>
          <p:nvPr/>
        </p:nvSpPr>
        <p:spPr>
          <a:xfrm>
            <a:off x="6094476" y="5436108"/>
            <a:ext cx="5436108" cy="219456"/>
          </a:xfrm>
          <a:prstGeom prst="rect">
            <a:avLst/>
          </a:prstGeom>
          <a:noFill/>
        </p:spPr>
        <p:txBody>
          <a:bodyPr wrap="square" anchor="t" lIns="0" rIns="0" tIns="0" bIns="0">
            <a:spAutoFit/>
          </a:bodyPr>
          <a:lstStyle/>
          <a:p>
            <a:pPr algn="l">
              <a:spcBef>
                <a:spcPts val="0"/>
              </a:spcBef>
              <a:spcAft>
                <a:spcPts val="0"/>
              </a:spcAft>
            </a:pPr>
            <a:r>
              <a:rPr sz="830" b="1">
                <a:solidFill>
                  <a:srgbClr val="1B7F5E"/>
                </a:solidFill>
                <a:latin typeface="Calibri"/>
              </a:rPr>
              <a:t>✓  </a:t>
            </a:r>
            <a:r>
              <a:rPr sz="830" b="0">
                <a:solidFill>
                  <a:srgbClr val="202838"/>
                </a:solidFill>
                <a:latin typeface="Calibri"/>
              </a:rPr>
              <a:t>No dependency on public blockchain networks</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