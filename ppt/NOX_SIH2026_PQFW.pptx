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The core idea in one sentence: the fingerprint is a consequence of which decryption keys you hold, not of software choosing to add a watermark. Each mark slot is written two ways that look identical and encrypted under different keys; you get one key per slot. The other rendering is an AES-GCM tag failure for you. There is no unmarked copy anywhere — not even on our own disk. Bottom left is a real verdict from the running system.</a:t>
            </a: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Three stages, all offline. Distribute: one ciphertext for everybody plus a 14 KB key bundle each. Decrypt: the recipient spends one credential, gets a uniquely marked copy, and signs an ML-DSA-65 receipt with their own key — that is the non-repudiation. Record: three validators independently verify that receipt and commit it 2-of-3. Trace: extract the marks, score them, check the ledger. No cloud KMS, no public chain, no network call at any point.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We are honest about what breaks it. Retyping, OCR and stripping invisible characters defeat the text carrier, and inserting a word desynchronises the slots — all four are measured and published rather than hidden. The point is the failure mode: when an attack wins the system fails to identify anybody. Both curves are drawn straight from the evaluation CSVs. The left one is the whole argument in one picture: as you destroy the marks the green line falls, and the orange line — naming the wrong person — stays flat on zero the entire way. The bottom row is the actual next four steps, not an aspiration.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Ministry of Defence context: service HQ, procurement, DRDO and partners, inter-agency sharing. The real product is deterrence — when every holder knows their copy is individually accountable, most leaks never happen. And it protects the accused as much as it exposes the leaker: a stated error probability and a refusal to guess are what stop an innocent officer being named.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Every requirement in the problem statement, and every one is exercised by an automated test and by a step of the live demo — 163 tests. Two things we do not claim: this proves traceability, not unframeability, because the distributor knows the codewords; and post-quantum asymmetric fingerprinting has no drop-in construction yet, so we say so rather than pretending. Scan the code and try to break it.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Problem statement SIH26237, Ministry of Defence. One document goes to many cleared recipients; it leaks; today every one of them is an equally plausible suspect. We built PQFW, and it is running right now at the address on this slide — scan the code and follow along.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7.png"/><Relationship Id="rId6" Type="http://schemas.openxmlformats.org/officeDocument/2006/relationships/image" Target="../media/image11.png"/><Relationship Id="rId7" Type="http://schemas.openxmlformats.org/officeDocument/2006/relationships/image" Target="../media/image10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Relationship Id="rId10" Type="http://schemas.openxmlformats.org/officeDocument/2006/relationships/image" Target="../media/image4.png"/><Relationship Id="rId11" Type="http://schemas.openxmlformats.org/officeDocument/2006/relationships/image" Target="../media/image14.png"/><Relationship Id="rId12" Type="http://schemas.openxmlformats.org/officeDocument/2006/relationships/image" Target="../media/image15.png"/><Relationship Id="rId13" Type="http://schemas.openxmlformats.org/officeDocument/2006/relationships/image" Target="../media/image16.png"/><Relationship Id="rId14" Type="http://schemas.openxmlformats.org/officeDocument/2006/relationships/image" Target="../media/image17.png"/><Relationship Id="rId15" Type="http://schemas.openxmlformats.org/officeDocument/2006/relationships/image" Target="../media/image5.png"/><Relationship Id="rId16" Type="http://schemas.openxmlformats.org/officeDocument/2006/relationships/image" Target="../media/image18.png"/><Relationship Id="rId17" Type="http://schemas.openxmlformats.org/officeDocument/2006/relationships/image" Target="../media/image19.png"/><Relationship Id="rId18" Type="http://schemas.openxmlformats.org/officeDocument/2006/relationships/image" Target="../media/image20.png"/><Relationship Id="rId19" Type="http://schemas.openxmlformats.org/officeDocument/2006/relationships/image" Target="../media/image21.png"/><Relationship Id="rId20" Type="http://schemas.openxmlformats.org/officeDocument/2006/relationships/image" Target="../media/image22.png"/><Relationship Id="rId21" Type="http://schemas.openxmlformats.org/officeDocument/2006/relationships/image" Target="../media/image23.png"/><Relationship Id="rId22" Type="http://schemas.openxmlformats.org/officeDocument/2006/relationships/image" Target="../media/image24.png"/><Relationship Id="rId23" Type="http://schemas.openxmlformats.org/officeDocument/2006/relationships/image" Target="../media/image25.png"/><Relationship Id="rId24" Type="http://schemas.openxmlformats.org/officeDocument/2006/relationships/image" Target="../media/image26.png"/><Relationship Id="rId25" Type="http://schemas.openxmlformats.org/officeDocument/2006/relationships/image" Target="../media/image27.png"/><Relationship Id="rId26" Type="http://schemas.openxmlformats.org/officeDocument/2006/relationships/image" Target="../media/image2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0" y="914400"/>
            <a:ext cx="6510528" cy="5943600"/>
          </a:xfrm>
          <a:prstGeom prst="roundRect">
            <a:avLst>
              <a:gd name="adj" fmla="val 0"/>
            </a:avLst>
          </a:prstGeom>
          <a:solidFill>
            <a:srgbClr val="0E1F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530352" y="1133856"/>
            <a:ext cx="5486400" cy="932688"/>
          </a:xfrm>
        </p:spPr>
        <p:txBody>
          <a:bodyPr lIns="0" r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0" b="1" i="0">
                <a:solidFill>
                  <a:srgbClr val="FFFFFF"/>
                </a:solidFill>
                <a:latin typeface="Calibri"/>
              </a:rPr>
              <a:t>PQFW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2790D"/>
                </a:solidFill>
                <a:latin typeface="Calibri"/>
              </a:rPr>
              <a:t>Post-Quantum Forensic Watermarking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30352" y="2304288"/>
            <a:ext cx="1645920" cy="841248"/>
          </a:xfrm>
          <a:prstGeom prst="roundRect">
            <a:avLst>
              <a:gd name="adj" fmla="val 8000"/>
            </a:avLst>
          </a:prstGeom>
          <a:solidFill>
            <a:srgbClr val="234276"/>
          </a:solidFill>
          <a:ln w="15875">
            <a:solidFill>
              <a:srgbClr val="3D66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pack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" y="2596896"/>
            <a:ext cx="256032" cy="25603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87552" y="2423160"/>
            <a:ext cx="107899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19" b="1" i="0">
                <a:solidFill>
                  <a:srgbClr val="FFFFFF"/>
                </a:solidFill>
                <a:latin typeface="Calibri"/>
              </a:rPr>
              <a:t>One ciphertext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A9BEDF"/>
                </a:solidFill>
                <a:latin typeface="Calibri"/>
              </a:rPr>
              <a:t>broadcast to every cleared recipient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221991" y="2724912"/>
            <a:ext cx="182881" cy="0"/>
          </a:xfrm>
          <a:prstGeom prst="line">
            <a:avLst/>
          </a:prstGeom>
          <a:ln w="28575">
            <a:solidFill>
              <a:srgbClr val="F2790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2450592" y="2304288"/>
            <a:ext cx="1645920" cy="841248"/>
          </a:xfrm>
          <a:prstGeom prst="roundRect">
            <a:avLst>
              <a:gd name="adj" fmla="val 8000"/>
            </a:avLst>
          </a:prstGeom>
          <a:solidFill>
            <a:srgbClr val="234276"/>
          </a:solidFill>
          <a:ln w="15875">
            <a:solidFill>
              <a:srgbClr val="3D66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fingerpri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69464" y="2596896"/>
            <a:ext cx="256032" cy="25603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907792" y="2423160"/>
            <a:ext cx="107899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19" b="1" i="0">
                <a:solidFill>
                  <a:srgbClr val="FFFFFF"/>
                </a:solidFill>
                <a:latin typeface="Calibri"/>
              </a:rPr>
              <a:t>N distinct copies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A9BEDF"/>
                </a:solidFill>
                <a:latin typeface="Calibri"/>
              </a:rPr>
              <a:t>each keyed to one person and one session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142232" y="2724912"/>
            <a:ext cx="182880" cy="0"/>
          </a:xfrm>
          <a:prstGeom prst="line">
            <a:avLst/>
          </a:prstGeom>
          <a:ln w="28575">
            <a:solidFill>
              <a:srgbClr val="F2790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4370832" y="2304288"/>
            <a:ext cx="1645920" cy="841248"/>
          </a:xfrm>
          <a:prstGeom prst="roundRect">
            <a:avLst>
              <a:gd name="adj" fmla="val 8000"/>
            </a:avLst>
          </a:prstGeom>
          <a:solidFill>
            <a:srgbClr val="234276"/>
          </a:solidFill>
          <a:ln w="15875">
            <a:solidFill>
              <a:srgbClr val="3D66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verdic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9704" y="2596896"/>
            <a:ext cx="256032" cy="25603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4828032" y="2423160"/>
            <a:ext cx="107899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19" b="1" i="0">
                <a:solidFill>
                  <a:srgbClr val="FFFFFF"/>
                </a:solidFill>
                <a:latin typeface="Calibri"/>
              </a:rPr>
              <a:t>One name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A9BEDF"/>
                </a:solidFill>
                <a:latin typeface="Calibri"/>
              </a:rPr>
              <a:t>a leak traced, with a provable error bound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3401568"/>
            <a:ext cx="2395728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860" b="0">
                <a:solidFill>
                  <a:srgbClr val="A9BEDF"/>
                </a:solidFill>
                <a:latin typeface="Calibri"/>
              </a:rPr>
              <a:t>Problem Statement ID   </a:t>
            </a:r>
            <a:r>
              <a:rPr sz="860" b="1">
                <a:solidFill>
                  <a:srgbClr val="FFFFFF"/>
                </a:solidFill>
                <a:latin typeface="Calibri"/>
              </a:rPr>
              <a:t>SIH26237</a:t>
            </a:r>
          </a:p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860" b="0">
                <a:solidFill>
                  <a:srgbClr val="A9BEDF"/>
                </a:solidFill>
                <a:latin typeface="Calibri"/>
              </a:rPr>
              <a:t>Organisation   </a:t>
            </a:r>
            <a:r>
              <a:rPr sz="860" b="1">
                <a:solidFill>
                  <a:srgbClr val="FFFFFF"/>
                </a:solidFill>
                <a:latin typeface="Calibri"/>
              </a:rPr>
              <a:t>Ministry of Defence</a:t>
            </a:r>
          </a:p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860" b="0">
                <a:solidFill>
                  <a:srgbClr val="A9BEDF"/>
                </a:solidFill>
                <a:latin typeface="Calibri"/>
              </a:rPr>
              <a:t>Team ID   </a:t>
            </a:r>
            <a:r>
              <a:rPr sz="860" b="1">
                <a:solidFill>
                  <a:srgbClr val="FFFFFF"/>
                </a:solidFill>
                <a:latin typeface="Calibri"/>
              </a:rPr>
              <a:t>—  (to be assigned on the portal)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54096" y="3401568"/>
            <a:ext cx="2395728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860" b="0">
                <a:solidFill>
                  <a:srgbClr val="A9BEDF"/>
                </a:solidFill>
                <a:latin typeface="Calibri"/>
              </a:rPr>
              <a:t>PS Category   </a:t>
            </a:r>
            <a:r>
              <a:rPr sz="860" b="1">
                <a:solidFill>
                  <a:srgbClr val="FFFFFF"/>
                </a:solidFill>
                <a:latin typeface="Calibri"/>
              </a:rPr>
              <a:t>Software</a:t>
            </a:r>
          </a:p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860" b="0">
                <a:solidFill>
                  <a:srgbClr val="A9BEDF"/>
                </a:solidFill>
                <a:latin typeface="Calibri"/>
              </a:rPr>
              <a:t>Theme   </a:t>
            </a:r>
            <a:r>
              <a:rPr sz="860" b="1">
                <a:solidFill>
                  <a:srgbClr val="FFFFFF"/>
                </a:solidFill>
                <a:latin typeface="Calibri"/>
              </a:rPr>
              <a:t>Blockchain &amp; Cybersecurity</a:t>
            </a:r>
          </a:p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860" b="0">
                <a:solidFill>
                  <a:srgbClr val="A9BEDF"/>
                </a:solidFill>
                <a:latin typeface="Calibri"/>
              </a:rPr>
              <a:t>Team Name   </a:t>
            </a:r>
            <a:r>
              <a:rPr sz="860" b="1">
                <a:solidFill>
                  <a:srgbClr val="FFFFFF"/>
                </a:solidFill>
                <a:latin typeface="Calibri"/>
              </a:rPr>
              <a:t>NOX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352" y="4114800"/>
            <a:ext cx="54864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700" b="1" i="0" spc="140">
                <a:solidFill>
                  <a:srgbClr val="A9BEDF"/>
                </a:solidFill>
                <a:latin typeface="Calibri"/>
              </a:rPr>
              <a:t>PROBLEM STATEMENT TITLE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FFFFFF"/>
                </a:solidFill>
                <a:latin typeface="Calibri"/>
              </a:rPr>
              <a:t>Cryptographic Attribution and Immutable Decryption Provenance for Multi-Recipient Encrypted Document Distribution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30352" y="4809744"/>
            <a:ext cx="548640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F279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qr_liv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7512" y="4983480"/>
            <a:ext cx="877824" cy="877824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682496" y="4992624"/>
            <a:ext cx="420624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 i="0" spc="120">
                <a:solidFill>
                  <a:srgbClr val="158A5A"/>
                </a:solidFill>
                <a:latin typeface="Calibri"/>
              </a:rPr>
              <a:t>LIVE WORKING PROTOTYPE  ·  SCAN IT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400" b="1" i="0">
                <a:solidFill>
                  <a:srgbClr val="0E1F42"/>
                </a:solidFill>
                <a:latin typeface="Calibri"/>
              </a:rPr>
              <a:t>pqfw.onrender.com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4627A"/>
                </a:solidFill>
                <a:latin typeface="Calibri"/>
              </a:rPr>
              <a:t>Real ML-KEM-768 / ML-DSA-65 computed server-side.  Evaluation and attack results: evildeity-pqfw-post-quantum-watermarking.static.hf.space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0352" y="6181344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700" b="1" i="0" spc="140">
                <a:solidFill>
                  <a:srgbClr val="A9BEDF"/>
                </a:solidFill>
                <a:latin typeface="Calibri"/>
              </a:rPr>
              <a:t>TEAM NOX  ·  INTERNATIONAL INSTITUTE OF INFORMATION TECHNOLOGY, BHUBANESWAR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FFFFFF"/>
                </a:solidFill>
                <a:latin typeface="Calibri"/>
              </a:rPr>
              <a:t>Alok Ranjan Tripathy  ·  Subhashree Dash  ·  Krishna Mohanty  ·  Tanisth Das  ·  Bineet Lenka  ·  Shreyas Changder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25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PQFW — A LEAK THAT NAMES ITSELF</a:t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E1F42"/>
          </a:solidFill>
          <a:ln w="19050">
            <a:solidFill>
              <a:srgbClr val="F2790D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NOX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Hexagon 15361"/>
          <p:cNvSpPr/>
          <p:nvPr/>
        </p:nvSpPr>
        <p:spPr>
          <a:xfrm rot="5400000">
            <a:off x="365760" y="1161288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363" name="TextBox 15362"/>
          <p:cNvSpPr txBox="1"/>
          <p:nvPr/>
        </p:nvSpPr>
        <p:spPr>
          <a:xfrm>
            <a:off x="749808" y="1143000"/>
            <a:ext cx="68397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Proposed Solution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365760" y="1554480"/>
            <a:ext cx="7223760" cy="2157984"/>
          </a:xfrm>
          <a:prstGeom prst="roundRect">
            <a:avLst>
              <a:gd name="adj" fmla="val 3500"/>
            </a:avLst>
          </a:prstGeom>
          <a:solidFill>
            <a:srgbClr val="0E1F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5" name="TextBox 15364"/>
          <p:cNvSpPr txBox="1"/>
          <p:nvPr/>
        </p:nvSpPr>
        <p:spPr>
          <a:xfrm>
            <a:off x="585216" y="1645920"/>
            <a:ext cx="4937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1" i="0" spc="120">
                <a:solidFill>
                  <a:srgbClr val="A9BEDF"/>
                </a:solidFill>
                <a:latin typeface="Calibri"/>
              </a:rPr>
              <a:t>DETAILED EXPLANATION OF THE PROPOSED SOLUTION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585216" y="1883664"/>
            <a:ext cx="1490472" cy="1188720"/>
          </a:xfrm>
          <a:prstGeom prst="roundRect">
            <a:avLst>
              <a:gd name="adj" fmla="val 9000"/>
            </a:avLst>
          </a:prstGeom>
          <a:solidFill>
            <a:srgbClr val="0E1F42"/>
          </a:solidFill>
          <a:ln w="15875">
            <a:solidFill>
              <a:srgbClr val="3D66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67" name="Picture 15366" descr="docu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3292" y="2020824"/>
            <a:ext cx="274320" cy="274320"/>
          </a:xfrm>
          <a:prstGeom prst="rect">
            <a:avLst/>
          </a:prstGeom>
        </p:spPr>
      </p:pic>
      <p:sp>
        <p:nvSpPr>
          <p:cNvPr id="15368" name="TextBox 15367"/>
          <p:cNvSpPr txBox="1"/>
          <p:nvPr/>
        </p:nvSpPr>
        <p:spPr>
          <a:xfrm>
            <a:off x="649224" y="2386584"/>
            <a:ext cx="136245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A9BEDF"/>
                </a:solidFill>
                <a:latin typeface="Calibri"/>
              </a:rPr>
              <a:t>Split the document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7A92BB"/>
                </a:solidFill>
                <a:latin typeface="Calibri"/>
              </a:rPr>
              <a:t>base body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7A92BB"/>
                </a:solidFill>
                <a:latin typeface="Calibri"/>
              </a:rPr>
              <a:t>+ m invisible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7A92BB"/>
                </a:solidFill>
                <a:latin typeface="Calibri"/>
              </a:rPr>
              <a:t>mark slots</a:t>
            </a:r>
          </a:p>
        </p:txBody>
      </p:sp>
      <p:cxnSp>
        <p:nvCxnSpPr>
          <p:cNvPr id="15369" name="Connector 15368"/>
          <p:cNvCxnSpPr/>
          <p:nvPr/>
        </p:nvCxnSpPr>
        <p:spPr>
          <a:xfrm>
            <a:off x="2103120" y="2478024"/>
            <a:ext cx="219456" cy="0"/>
          </a:xfrm>
          <a:prstGeom prst="line">
            <a:avLst/>
          </a:prstGeom>
          <a:ln w="28575">
            <a:solidFill>
              <a:srgbClr val="F2790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0" name="Rounded Rectangle 15369"/>
          <p:cNvSpPr/>
          <p:nvPr/>
        </p:nvSpPr>
        <p:spPr>
          <a:xfrm>
            <a:off x="2350008" y="1883664"/>
            <a:ext cx="1490472" cy="1188720"/>
          </a:xfrm>
          <a:prstGeom prst="roundRect">
            <a:avLst>
              <a:gd name="adj" fmla="val 9000"/>
            </a:avLst>
          </a:prstGeom>
          <a:solidFill>
            <a:srgbClr val="C25B02"/>
          </a:solidFill>
          <a:ln w="15875">
            <a:solidFill>
              <a:srgbClr val="F279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71" name="Picture 15370" descr="twocopi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8084" y="2020824"/>
            <a:ext cx="274320" cy="274320"/>
          </a:xfrm>
          <a:prstGeom prst="rect">
            <a:avLst/>
          </a:prstGeom>
        </p:spPr>
      </p:pic>
      <p:sp>
        <p:nvSpPr>
          <p:cNvPr id="15372" name="TextBox 15371"/>
          <p:cNvSpPr txBox="1"/>
          <p:nvPr/>
        </p:nvSpPr>
        <p:spPr>
          <a:xfrm>
            <a:off x="2414015" y="2386584"/>
            <a:ext cx="136245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FFFFFF"/>
                </a:solidFill>
                <a:latin typeface="Calibri"/>
              </a:rPr>
              <a:t>Two renderings, two keys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FFE1C2"/>
                </a:solidFill>
                <a:latin typeface="Calibri"/>
              </a:rPr>
              <a:t>identical to read,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FFE1C2"/>
                </a:solidFill>
                <a:latin typeface="Calibri"/>
              </a:rPr>
              <a:t>encrypted under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FFE1C2"/>
                </a:solidFill>
                <a:latin typeface="Calibri"/>
              </a:rPr>
              <a:t>different keys</a:t>
            </a:r>
          </a:p>
        </p:txBody>
      </p:sp>
      <p:cxnSp>
        <p:nvCxnSpPr>
          <p:cNvPr id="15373" name="Connector 15372"/>
          <p:cNvCxnSpPr/>
          <p:nvPr/>
        </p:nvCxnSpPr>
        <p:spPr>
          <a:xfrm>
            <a:off x="3867911" y="2478024"/>
            <a:ext cx="219457" cy="0"/>
          </a:xfrm>
          <a:prstGeom prst="line">
            <a:avLst/>
          </a:prstGeom>
          <a:ln w="28575">
            <a:solidFill>
              <a:srgbClr val="3D66A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4" name="Rounded Rectangle 15373"/>
          <p:cNvSpPr/>
          <p:nvPr/>
        </p:nvSpPr>
        <p:spPr>
          <a:xfrm>
            <a:off x="4114800" y="1883664"/>
            <a:ext cx="1490472" cy="1188720"/>
          </a:xfrm>
          <a:prstGeom prst="roundRect">
            <a:avLst>
              <a:gd name="adj" fmla="val 9000"/>
            </a:avLst>
          </a:prstGeom>
          <a:solidFill>
            <a:srgbClr val="234276"/>
          </a:solidFill>
          <a:ln w="15875">
            <a:solidFill>
              <a:srgbClr val="3D66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75" name="Picture 15374" descr="ciphertex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2875" y="2020824"/>
            <a:ext cx="274320" cy="274320"/>
          </a:xfrm>
          <a:prstGeom prst="rect">
            <a:avLst/>
          </a:prstGeom>
        </p:spPr>
      </p:pic>
      <p:sp>
        <p:nvSpPr>
          <p:cNvPr id="15376" name="TextBox 15375"/>
          <p:cNvSpPr txBox="1"/>
          <p:nvPr/>
        </p:nvSpPr>
        <p:spPr>
          <a:xfrm>
            <a:off x="4178808" y="2386584"/>
            <a:ext cx="136245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FFFFFF"/>
                </a:solidFill>
                <a:latin typeface="Calibri"/>
              </a:rPr>
              <a:t>One ciphertext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A9BEDF"/>
                </a:solidFill>
                <a:latin typeface="Calibri"/>
              </a:rPr>
              <a:t>broadcast to all N,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A9BEDF"/>
                </a:solidFill>
                <a:latin typeface="Calibri"/>
              </a:rPr>
              <a:t>byte-identical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A9BEDF"/>
                </a:solidFill>
                <a:latin typeface="Calibri"/>
              </a:rPr>
              <a:t>for everybody</a:t>
            </a:r>
          </a:p>
        </p:txBody>
      </p:sp>
      <p:cxnSp>
        <p:nvCxnSpPr>
          <p:cNvPr id="15377" name="Connector 15376"/>
          <p:cNvCxnSpPr/>
          <p:nvPr/>
        </p:nvCxnSpPr>
        <p:spPr>
          <a:xfrm>
            <a:off x="5632704" y="2478024"/>
            <a:ext cx="219456" cy="0"/>
          </a:xfrm>
          <a:prstGeom prst="line">
            <a:avLst/>
          </a:prstGeom>
          <a:ln w="28575">
            <a:solidFill>
              <a:srgbClr val="22B1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8" name="Rounded Rectangle 15377"/>
          <p:cNvSpPr/>
          <p:nvPr/>
        </p:nvSpPr>
        <p:spPr>
          <a:xfrm>
            <a:off x="5879592" y="1883664"/>
            <a:ext cx="1490472" cy="1188720"/>
          </a:xfrm>
          <a:prstGeom prst="roundRect">
            <a:avLst>
              <a:gd name="adj" fmla="val 9000"/>
            </a:avLst>
          </a:prstGeom>
          <a:solidFill>
            <a:srgbClr val="158A5A"/>
          </a:solidFill>
          <a:ln w="15875">
            <a:solidFill>
              <a:srgbClr val="22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79" name="Picture 15378" descr="key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87667" y="2020824"/>
            <a:ext cx="274320" cy="274320"/>
          </a:xfrm>
          <a:prstGeom prst="rect">
            <a:avLst/>
          </a:prstGeom>
        </p:spPr>
      </p:pic>
      <p:sp>
        <p:nvSpPr>
          <p:cNvPr id="15380" name="TextBox 15379"/>
          <p:cNvSpPr txBox="1"/>
          <p:nvPr/>
        </p:nvSpPr>
        <p:spPr>
          <a:xfrm>
            <a:off x="5943600" y="2386584"/>
            <a:ext cx="136245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FFFFFF"/>
                </a:solidFill>
                <a:latin typeface="Calibri"/>
              </a:rPr>
              <a:t>One key each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CCF0DF"/>
                </a:solidFill>
                <a:latin typeface="Calibri"/>
              </a:rPr>
              <a:t>recipient holds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CCF0DF"/>
                </a:solidFill>
                <a:latin typeface="Calibri"/>
              </a:rPr>
              <a:t>1 of the 2 keys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CCF0DF"/>
                </a:solidFill>
                <a:latin typeface="Calibri"/>
              </a:rPr>
              <a:t>per slot</a:t>
            </a:r>
          </a:p>
        </p:txBody>
      </p:sp>
      <p:sp>
        <p:nvSpPr>
          <p:cNvPr id="15381" name="TextBox 15380"/>
          <p:cNvSpPr txBox="1"/>
          <p:nvPr/>
        </p:nvSpPr>
        <p:spPr>
          <a:xfrm>
            <a:off x="585216" y="3182112"/>
            <a:ext cx="67848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9BEDF"/>
                </a:solidFill>
                <a:latin typeface="Calibri"/>
              </a:rPr>
              <a:t>The fingerprint is not something their software chose to add — it is a consequence of </a:t>
            </a:r>
            <a:r>
              <a:rPr sz="900" b="1">
                <a:solidFill>
                  <a:srgbClr val="FFFFFF"/>
                </a:solidFill>
                <a:latin typeface="Calibri"/>
              </a:rPr>
              <a:t>which keys they hold</a:t>
            </a:r>
            <a:r>
              <a:rPr sz="900" b="0">
                <a:solidFill>
                  <a:srgbClr val="A9BEDF"/>
                </a:solidFill>
                <a:latin typeface="Calibri"/>
              </a:rPr>
              <a:t>. The other rendering is an AES-GCM tag failure for them, and </a:t>
            </a:r>
            <a:r>
              <a:rPr sz="900" b="1">
                <a:solidFill>
                  <a:srgbClr val="FFFFFF"/>
                </a:solidFill>
                <a:latin typeface="Calibri"/>
              </a:rPr>
              <a:t>no unmarked copy exists anywhere</a:t>
            </a:r>
            <a:r>
              <a:rPr sz="900" b="0">
                <a:solidFill>
                  <a:srgbClr val="A9BEDF"/>
                </a:solidFill>
                <a:latin typeface="Calibri"/>
              </a:rPr>
              <a:t> — not in the package, not in transit, not on the sender's disk.</a:t>
            </a:r>
          </a:p>
        </p:txBody>
      </p:sp>
      <p:sp>
        <p:nvSpPr>
          <p:cNvPr id="15382" name="Hexagon 15381"/>
          <p:cNvSpPr/>
          <p:nvPr/>
        </p:nvSpPr>
        <p:spPr>
          <a:xfrm rot="5400000">
            <a:off x="365760" y="3849624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383" name="TextBox 15382"/>
          <p:cNvSpPr txBox="1"/>
          <p:nvPr/>
        </p:nvSpPr>
        <p:spPr>
          <a:xfrm>
            <a:off x="749808" y="3831335"/>
            <a:ext cx="68397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How it addresses the problem</a:t>
            </a:r>
          </a:p>
        </p:txBody>
      </p:sp>
      <p:sp>
        <p:nvSpPr>
          <p:cNvPr id="15384" name="TextBox 15383"/>
          <p:cNvSpPr txBox="1"/>
          <p:nvPr/>
        </p:nvSpPr>
        <p:spPr>
          <a:xfrm>
            <a:off x="384048" y="4242816"/>
            <a:ext cx="72054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930" b="0" i="0">
                <a:solidFill>
                  <a:srgbClr val="161D2B"/>
                </a:solidFill>
                <a:latin typeface="Calibri"/>
              </a:rPr>
              <a:t>▪  Today every cleared recipient is an equally plausible suspect — the decrypted bytes are identical for all of them.</a:t>
            </a:r>
          </a:p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930" b="0" i="0">
                <a:solidFill>
                  <a:srgbClr val="161D2B"/>
                </a:solidFill>
                <a:latin typeface="Calibri"/>
              </a:rPr>
              <a:t>▪  PQFW makes each copy forensically distinct while visually identical: a leak resolves to one recipient and one decryption session.</a:t>
            </a:r>
          </a:p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930" b="0" i="0">
                <a:solidFill>
                  <a:srgbClr val="161D2B"/>
                </a:solidFill>
                <a:latin typeface="Calibri"/>
              </a:rPr>
              <a:t>▪  Access logs can be edited by an administrator; a static watermark is the same for everyone. Both are replaced, not patched.</a:t>
            </a:r>
          </a:p>
        </p:txBody>
      </p:sp>
      <p:sp>
        <p:nvSpPr>
          <p:cNvPr id="15385" name="Hexagon 15384"/>
          <p:cNvSpPr/>
          <p:nvPr/>
        </p:nvSpPr>
        <p:spPr>
          <a:xfrm rot="5400000">
            <a:off x="365760" y="4983480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386" name="TextBox 15385"/>
          <p:cNvSpPr txBox="1"/>
          <p:nvPr/>
        </p:nvSpPr>
        <p:spPr>
          <a:xfrm>
            <a:off x="749808" y="4965192"/>
            <a:ext cx="68397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What the system actually returns</a:t>
            </a:r>
          </a:p>
        </p:txBody>
      </p:sp>
      <p:sp>
        <p:nvSpPr>
          <p:cNvPr id="15387" name="Rounded Rectangle 15386"/>
          <p:cNvSpPr/>
          <p:nvPr/>
        </p:nvSpPr>
        <p:spPr>
          <a:xfrm>
            <a:off x="365760" y="5358384"/>
            <a:ext cx="7223760" cy="841248"/>
          </a:xfrm>
          <a:prstGeom prst="roundRect">
            <a:avLst>
              <a:gd name="adj" fmla="val 6000"/>
            </a:avLst>
          </a:prstGeom>
          <a:solidFill>
            <a:srgbClr val="0E1F42"/>
          </a:solidFill>
          <a:ln w="22225">
            <a:solidFill>
              <a:srgbClr val="22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88" name="Picture 15387" descr="verdic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3504" y="5541264"/>
            <a:ext cx="384048" cy="384048"/>
          </a:xfrm>
          <a:prstGeom prst="rect">
            <a:avLst/>
          </a:prstGeom>
        </p:spPr>
      </p:pic>
      <p:sp>
        <p:nvSpPr>
          <p:cNvPr id="15389" name="TextBox 15388"/>
          <p:cNvSpPr txBox="1"/>
          <p:nvPr/>
        </p:nvSpPr>
        <p:spPr>
          <a:xfrm>
            <a:off x="1115568" y="5468112"/>
            <a:ext cx="35661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22B173"/>
                </a:solidFill>
                <a:latin typeface="Calibri"/>
              </a:rPr>
              <a:t>IDENTIFIED</a:t>
            </a:r>
            <a:r>
              <a:rPr sz="1400" b="1">
                <a:solidFill>
                  <a:srgbClr val="FFFFFF"/>
                </a:solidFill>
                <a:latin typeface="Calibri"/>
              </a:rPr>
              <a:t>    r07, session #0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A9BEDF"/>
                </a:solidFill>
                <a:latin typeface="Calibri"/>
              </a:rPr>
              <a:t>false-accusation probability at most 2.8 × 10⁻⁵⁹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0" i="0">
                <a:solidFill>
                  <a:srgbClr val="A9BEDF"/>
                </a:solidFill>
                <a:latin typeface="Calibri"/>
              </a:rPr>
              <a:t>2 KB memo · 20 recipients · 301 mark slots · next suspect 10σ behind</a:t>
            </a:r>
          </a:p>
        </p:txBody>
      </p:sp>
      <p:sp>
        <p:nvSpPr>
          <p:cNvPr id="15390" name="TextBox 15389"/>
          <p:cNvSpPr txBox="1"/>
          <p:nvPr/>
        </p:nvSpPr>
        <p:spPr>
          <a:xfrm>
            <a:off x="4864608" y="5468112"/>
            <a:ext cx="301752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"/>
              </a:spcAft>
            </a:pPr>
            <a:r>
              <a:rPr sz="730" b="1">
                <a:solidFill>
                  <a:srgbClr val="22B173"/>
                </a:solidFill>
                <a:latin typeface="Calibri"/>
              </a:rPr>
              <a:t>✓  </a:t>
            </a:r>
            <a:r>
              <a:rPr sz="730" b="0">
                <a:solidFill>
                  <a:srgbClr val="A9BEDF"/>
                </a:solidFill>
                <a:latin typeface="Calibri"/>
              </a:rPr>
              <a:t>statistical significance (provable bound &lt; α)</a:t>
            </a:r>
          </a:p>
          <a:p>
            <a:pPr algn="l">
              <a:spcBef>
                <a:spcPts val="0"/>
              </a:spcBef>
              <a:spcAft>
                <a:spcPts val="140"/>
              </a:spcAft>
            </a:pPr>
            <a:r>
              <a:rPr sz="730" b="1">
                <a:solidFill>
                  <a:srgbClr val="22B173"/>
                </a:solidFill>
                <a:latin typeface="Calibri"/>
              </a:rPr>
              <a:t>✓  </a:t>
            </a:r>
            <a:r>
              <a:rPr sz="730" b="0">
                <a:solidFill>
                  <a:srgbClr val="A9BEDF"/>
                </a:solidFill>
                <a:latin typeface="Calibri"/>
              </a:rPr>
              <a:t>the accused's own ML-DSA-65 receipt verifies</a:t>
            </a:r>
          </a:p>
          <a:p>
            <a:pPr algn="l">
              <a:spcBef>
                <a:spcPts val="0"/>
              </a:spcBef>
              <a:spcAft>
                <a:spcPts val="140"/>
              </a:spcAft>
            </a:pPr>
            <a:r>
              <a:rPr sz="730" b="1">
                <a:solidFill>
                  <a:srgbClr val="22B173"/>
                </a:solidFill>
                <a:latin typeface="Calibri"/>
              </a:rPr>
              <a:t>✓  </a:t>
            </a:r>
            <a:r>
              <a:rPr sz="730" b="0">
                <a:solidFill>
                  <a:srgbClr val="A9BEDF"/>
                </a:solidFill>
                <a:latin typeface="Calibri"/>
              </a:rPr>
              <a:t>ledger hash chain intact</a:t>
            </a:r>
          </a:p>
          <a:p>
            <a:pPr algn="l">
              <a:spcBef>
                <a:spcPts val="0"/>
              </a:spcBef>
              <a:spcAft>
                <a:spcPts val="140"/>
              </a:spcAft>
            </a:pPr>
            <a:r>
              <a:rPr sz="730" b="1">
                <a:solidFill>
                  <a:srgbClr val="22B173"/>
                </a:solidFill>
                <a:latin typeface="Calibri"/>
              </a:rPr>
              <a:t>✓  </a:t>
            </a:r>
            <a:r>
              <a:rPr sz="730" b="0">
                <a:solidFill>
                  <a:srgbClr val="A9BEDF"/>
                </a:solidFill>
                <a:latin typeface="Calibri"/>
              </a:rPr>
              <a:t>block committed by 2 of 3 validators</a:t>
            </a:r>
          </a:p>
          <a:p>
            <a:pPr algn="l">
              <a:spcBef>
                <a:spcPts val="0"/>
              </a:spcBef>
              <a:spcAft>
                <a:spcPts val="140"/>
              </a:spcAft>
            </a:pPr>
            <a:r>
              <a:rPr sz="730" b="1">
                <a:solidFill>
                  <a:srgbClr val="22B173"/>
                </a:solidFill>
                <a:latin typeface="Calibri"/>
              </a:rPr>
              <a:t>✓  </a:t>
            </a:r>
            <a:r>
              <a:rPr sz="730" b="0">
                <a:solidFill>
                  <a:srgbClr val="A9BEDF"/>
                </a:solidFill>
                <a:latin typeface="Calibri"/>
              </a:rPr>
              <a:t>Merkle inclusion proof to the signed root</a:t>
            </a:r>
          </a:p>
        </p:txBody>
      </p:sp>
      <p:sp>
        <p:nvSpPr>
          <p:cNvPr id="15391" name="Hexagon 15390"/>
          <p:cNvSpPr/>
          <p:nvPr/>
        </p:nvSpPr>
        <p:spPr>
          <a:xfrm rot="5400000">
            <a:off x="7818120" y="1161288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392" name="TextBox 15391"/>
          <p:cNvSpPr txBox="1"/>
          <p:nvPr/>
        </p:nvSpPr>
        <p:spPr>
          <a:xfrm>
            <a:off x="8202168" y="1143000"/>
            <a:ext cx="36210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Innovation and uniqueness of the solution</a:t>
            </a:r>
          </a:p>
        </p:txBody>
      </p:sp>
      <p:sp>
        <p:nvSpPr>
          <p:cNvPr id="15393" name="Rounded Rectangle 15392"/>
          <p:cNvSpPr/>
          <p:nvPr/>
        </p:nvSpPr>
        <p:spPr>
          <a:xfrm>
            <a:off x="7818120" y="1554480"/>
            <a:ext cx="4005072" cy="841248"/>
          </a:xfrm>
          <a:prstGeom prst="roundRect">
            <a:avLst>
              <a:gd name="adj" fmla="val 7000"/>
            </a:avLst>
          </a:prstGeom>
          <a:solidFill>
            <a:srgbClr val="F3F6FC"/>
          </a:solidFill>
          <a:ln w="15875">
            <a:solidFill>
              <a:srgbClr val="B6C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4" name="Hexagon 15393"/>
          <p:cNvSpPr/>
          <p:nvPr/>
        </p:nvSpPr>
        <p:spPr>
          <a:xfrm rot="5400000">
            <a:off x="7973568" y="1828800"/>
            <a:ext cx="237744" cy="209214"/>
          </a:xfrm>
          <a:prstGeom prst="hexagon">
            <a:avLst/>
          </a:prstGeom>
          <a:solidFill>
            <a:srgbClr val="1B3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395" name="TextBox 15394"/>
          <p:cNvSpPr txBox="1"/>
          <p:nvPr/>
        </p:nvSpPr>
        <p:spPr>
          <a:xfrm>
            <a:off x="8366760" y="1682495"/>
            <a:ext cx="3291839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B335E"/>
                </a:solidFill>
                <a:latin typeface="Calibri"/>
              </a:rPr>
              <a:t>Enforced by keys, not software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4627A"/>
                </a:solidFill>
                <a:latin typeface="Calibri"/>
              </a:rPr>
              <a:t>Patching the client does not help. There is no code path around a tag check.</a:t>
            </a:r>
          </a:p>
        </p:txBody>
      </p:sp>
      <p:sp>
        <p:nvSpPr>
          <p:cNvPr id="15396" name="Rounded Rectangle 15395"/>
          <p:cNvSpPr/>
          <p:nvPr/>
        </p:nvSpPr>
        <p:spPr>
          <a:xfrm>
            <a:off x="7818120" y="2487168"/>
            <a:ext cx="4005072" cy="841248"/>
          </a:xfrm>
          <a:prstGeom prst="roundRect">
            <a:avLst>
              <a:gd name="adj" fmla="val 7000"/>
            </a:avLst>
          </a:prstGeom>
          <a:solidFill>
            <a:srgbClr val="F3F6FC"/>
          </a:solidFill>
          <a:ln w="15875">
            <a:solidFill>
              <a:srgbClr val="B6C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7" name="Hexagon 15396"/>
          <p:cNvSpPr/>
          <p:nvPr/>
        </p:nvSpPr>
        <p:spPr>
          <a:xfrm rot="5400000">
            <a:off x="7973568" y="2761487"/>
            <a:ext cx="237744" cy="209214"/>
          </a:xfrm>
          <a:prstGeom prst="hexagon">
            <a:avLst/>
          </a:prstGeom>
          <a:solidFill>
            <a:srgbClr val="1B3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398" name="TextBox 15397"/>
          <p:cNvSpPr txBox="1"/>
          <p:nvPr/>
        </p:nvSpPr>
        <p:spPr>
          <a:xfrm>
            <a:off x="8366760" y="2615184"/>
            <a:ext cx="3291839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B335E"/>
                </a:solidFill>
                <a:latin typeface="Calibri"/>
              </a:rPr>
              <a:t>A provable error bound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4627A"/>
                </a:solidFill>
                <a:latin typeface="Calibri"/>
              </a:rPr>
              <a:t>Chernoff bound from the code's own biases — not the Gaussian p-value, which we measured as anti-conservative.</a:t>
            </a:r>
          </a:p>
        </p:txBody>
      </p:sp>
      <p:sp>
        <p:nvSpPr>
          <p:cNvPr id="15399" name="Rounded Rectangle 15398"/>
          <p:cNvSpPr/>
          <p:nvPr/>
        </p:nvSpPr>
        <p:spPr>
          <a:xfrm>
            <a:off x="7818120" y="3419856"/>
            <a:ext cx="4005072" cy="841248"/>
          </a:xfrm>
          <a:prstGeom prst="roundRect">
            <a:avLst>
              <a:gd name="adj" fmla="val 7000"/>
            </a:avLst>
          </a:prstGeom>
          <a:solidFill>
            <a:srgbClr val="F3F6FC"/>
          </a:solidFill>
          <a:ln w="15875">
            <a:solidFill>
              <a:srgbClr val="B6C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0" name="Hexagon 15399"/>
          <p:cNvSpPr/>
          <p:nvPr/>
        </p:nvSpPr>
        <p:spPr>
          <a:xfrm rot="5400000">
            <a:off x="7973568" y="3694176"/>
            <a:ext cx="237744" cy="209214"/>
          </a:xfrm>
          <a:prstGeom prst="hexagon">
            <a:avLst/>
          </a:prstGeom>
          <a:solidFill>
            <a:srgbClr val="1B3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401" name="TextBox 15400"/>
          <p:cNvSpPr txBox="1"/>
          <p:nvPr/>
        </p:nvSpPr>
        <p:spPr>
          <a:xfrm>
            <a:off x="8366760" y="3547872"/>
            <a:ext cx="3291839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B335E"/>
                </a:solidFill>
                <a:latin typeface="Calibri"/>
              </a:rPr>
              <a:t>It refuses to guess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4627A"/>
                </a:solidFill>
                <a:latin typeface="Calibri"/>
              </a:rPr>
              <a:t>When evidence is thin the verdict is NO IDENTIFICATION — never the wrong person.</a:t>
            </a:r>
          </a:p>
        </p:txBody>
      </p:sp>
      <p:sp>
        <p:nvSpPr>
          <p:cNvPr id="15402" name="Rounded Rectangle 15401"/>
          <p:cNvSpPr/>
          <p:nvPr/>
        </p:nvSpPr>
        <p:spPr>
          <a:xfrm>
            <a:off x="7818120" y="4352544"/>
            <a:ext cx="4005072" cy="841248"/>
          </a:xfrm>
          <a:prstGeom prst="roundRect">
            <a:avLst>
              <a:gd name="adj" fmla="val 7000"/>
            </a:avLst>
          </a:prstGeom>
          <a:solidFill>
            <a:srgbClr val="F3F6FC"/>
          </a:solidFill>
          <a:ln w="15875">
            <a:solidFill>
              <a:srgbClr val="B6C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3" name="Hexagon 15402"/>
          <p:cNvSpPr/>
          <p:nvPr/>
        </p:nvSpPr>
        <p:spPr>
          <a:xfrm rot="5400000">
            <a:off x="7973568" y="4626864"/>
            <a:ext cx="237744" cy="209214"/>
          </a:xfrm>
          <a:prstGeom prst="hexagon">
            <a:avLst/>
          </a:prstGeom>
          <a:solidFill>
            <a:srgbClr val="1B3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404" name="TextBox 15403"/>
          <p:cNvSpPr txBox="1"/>
          <p:nvPr/>
        </p:nvSpPr>
        <p:spPr>
          <a:xfrm>
            <a:off x="8366760" y="4480559"/>
            <a:ext cx="3291839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B335E"/>
                </a:solidFill>
                <a:latin typeface="Calibri"/>
              </a:rPr>
              <a:t>Session-level attribution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4627A"/>
                </a:solidFill>
                <a:latin typeface="Calibri"/>
              </a:rPr>
              <a:t>Two opens by one person give two fingerprints and two ledger records.</a:t>
            </a:r>
          </a:p>
        </p:txBody>
      </p:sp>
      <p:sp>
        <p:nvSpPr>
          <p:cNvPr id="15405" name="Rounded Rectangle 15404"/>
          <p:cNvSpPr/>
          <p:nvPr/>
        </p:nvSpPr>
        <p:spPr>
          <a:xfrm>
            <a:off x="7818120" y="5376671"/>
            <a:ext cx="4005072" cy="786384"/>
          </a:xfrm>
          <a:prstGeom prst="roundRect">
            <a:avLst>
              <a:gd name="adj" fmla="val 7000"/>
            </a:avLst>
          </a:prstGeom>
          <a:solidFill>
            <a:srgbClr val="0E1F42"/>
          </a:solidFill>
          <a:ln w="19050">
            <a:solidFill>
              <a:srgbClr val="F279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6" name="TextBox 15405"/>
          <p:cNvSpPr txBox="1"/>
          <p:nvPr/>
        </p:nvSpPr>
        <p:spPr>
          <a:xfrm>
            <a:off x="8001000" y="5486399"/>
            <a:ext cx="363931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740" b="1" i="0" spc="120">
                <a:solidFill>
                  <a:srgbClr val="F2790D"/>
                </a:solidFill>
                <a:latin typeface="Calibri"/>
              </a:rPr>
              <a:t>NOT A CONCEPT — IT IS RUNNING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pqfw.onrender.com</a:t>
            </a:r>
            <a:r>
              <a:rPr sz="1050" b="0">
                <a:solidFill>
                  <a:srgbClr val="A9BEDF"/>
                </a:solidFill>
                <a:latin typeface="Calibri"/>
              </a:rPr>
              <a:t>     163 automated tests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E1F42"/>
          </a:solidFill>
          <a:ln w="19050">
            <a:solidFill>
              <a:srgbClr val="F2790D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NOX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170432"/>
            <a:ext cx="7918704" cy="5047488"/>
          </a:xfrm>
          <a:prstGeom prst="roundRect">
            <a:avLst>
              <a:gd name="adj" fmla="val 3500"/>
            </a:avLst>
          </a:prstGeom>
          <a:solidFill>
            <a:srgbClr val="0E1F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TextBox 17410"/>
          <p:cNvSpPr txBox="1"/>
          <p:nvPr/>
        </p:nvSpPr>
        <p:spPr>
          <a:xfrm>
            <a:off x="640080" y="1298448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End-to-end flow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A9BEDF"/>
                </a:solidFill>
                <a:latin typeface="Calibri"/>
              </a:rPr>
              <a:t>distribute · decrypt &amp; record · trace — every stage runs offline</a:t>
            </a:r>
          </a:p>
        </p:txBody>
      </p:sp>
      <p:sp>
        <p:nvSpPr>
          <p:cNvPr id="17412" name="Hexagon 17411"/>
          <p:cNvSpPr/>
          <p:nvPr/>
        </p:nvSpPr>
        <p:spPr>
          <a:xfrm rot="5400000">
            <a:off x="640080" y="1655064"/>
            <a:ext cx="256032" cy="225308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13" name="Picture 17412" descr="pack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208" y="1708830"/>
            <a:ext cx="117774" cy="117774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987552" y="1673352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 spc="140">
                <a:solidFill>
                  <a:srgbClr val="F2790D"/>
                </a:solidFill>
                <a:latin typeface="Calibri"/>
              </a:rPr>
              <a:t>DISTRIBUTE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640080" y="1956816"/>
            <a:ext cx="1645920" cy="1005840"/>
          </a:xfrm>
          <a:prstGeom prst="roundRect">
            <a:avLst>
              <a:gd name="adj" fmla="val 9000"/>
            </a:avLst>
          </a:prstGeom>
          <a:solidFill>
            <a:srgbClr val="0E1F42"/>
          </a:solidFill>
          <a:ln w="15875">
            <a:solidFill>
              <a:srgbClr val="3D66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16" name="Picture 17415" descr="docum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5880" y="2093976"/>
            <a:ext cx="274320" cy="274320"/>
          </a:xfrm>
          <a:prstGeom prst="rect">
            <a:avLst/>
          </a:prstGeom>
        </p:spPr>
      </p:pic>
      <p:sp>
        <p:nvSpPr>
          <p:cNvPr id="17417" name="TextBox 17416"/>
          <p:cNvSpPr txBox="1"/>
          <p:nvPr/>
        </p:nvSpPr>
        <p:spPr>
          <a:xfrm>
            <a:off x="704088" y="2459736"/>
            <a:ext cx="15179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A9BEDF"/>
                </a:solidFill>
                <a:latin typeface="Calibri"/>
              </a:rPr>
              <a:t>Sender's document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7A92BB"/>
                </a:solidFill>
                <a:latin typeface="Calibri"/>
              </a:rPr>
              <a:t>split into base +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7A92BB"/>
                </a:solidFill>
                <a:latin typeface="Calibri"/>
              </a:rPr>
              <a:t>m mark slots</a:t>
            </a:r>
          </a:p>
        </p:txBody>
      </p:sp>
      <p:cxnSp>
        <p:nvCxnSpPr>
          <p:cNvPr id="17418" name="Connector 17417"/>
          <p:cNvCxnSpPr/>
          <p:nvPr/>
        </p:nvCxnSpPr>
        <p:spPr>
          <a:xfrm>
            <a:off x="2304288" y="2459736"/>
            <a:ext cx="228600" cy="0"/>
          </a:xfrm>
          <a:prstGeom prst="line">
            <a:avLst/>
          </a:prstGeom>
          <a:ln w="28575">
            <a:solidFill>
              <a:srgbClr val="F2790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9" name="Rounded Rectangle 17418"/>
          <p:cNvSpPr/>
          <p:nvPr/>
        </p:nvSpPr>
        <p:spPr>
          <a:xfrm>
            <a:off x="2551176" y="1956816"/>
            <a:ext cx="1645920" cy="1005840"/>
          </a:xfrm>
          <a:prstGeom prst="roundRect">
            <a:avLst>
              <a:gd name="adj" fmla="val 9000"/>
            </a:avLst>
          </a:prstGeom>
          <a:solidFill>
            <a:srgbClr val="C25B02"/>
          </a:solidFill>
          <a:ln w="15875">
            <a:solidFill>
              <a:srgbClr val="F279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0" name="Picture 17419" descr="lo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36976" y="2093976"/>
            <a:ext cx="274320" cy="274320"/>
          </a:xfrm>
          <a:prstGeom prst="rect">
            <a:avLst/>
          </a:prstGeom>
        </p:spPr>
      </p:pic>
      <p:sp>
        <p:nvSpPr>
          <p:cNvPr id="17421" name="TextBox 17420"/>
          <p:cNvSpPr txBox="1"/>
          <p:nvPr/>
        </p:nvSpPr>
        <p:spPr>
          <a:xfrm>
            <a:off x="2615184" y="2459736"/>
            <a:ext cx="15179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FFFFFF"/>
                </a:solidFill>
                <a:latin typeface="Calibri"/>
              </a:rPr>
              <a:t>Variant encryption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FFE1C2"/>
                </a:solidFill>
                <a:latin typeface="Calibri"/>
              </a:rPr>
              <a:t>AES-256-GCM, a different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FFE1C2"/>
                </a:solidFill>
                <a:latin typeface="Calibri"/>
              </a:rPr>
              <a:t>key per rendering</a:t>
            </a:r>
          </a:p>
        </p:txBody>
      </p:sp>
      <p:cxnSp>
        <p:nvCxnSpPr>
          <p:cNvPr id="17422" name="Connector 17421"/>
          <p:cNvCxnSpPr/>
          <p:nvPr/>
        </p:nvCxnSpPr>
        <p:spPr>
          <a:xfrm>
            <a:off x="4215383" y="2459736"/>
            <a:ext cx="228600" cy="0"/>
          </a:xfrm>
          <a:prstGeom prst="line">
            <a:avLst/>
          </a:prstGeom>
          <a:ln w="28575">
            <a:solidFill>
              <a:srgbClr val="F2790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3" name="Rounded Rectangle 17422"/>
          <p:cNvSpPr/>
          <p:nvPr/>
        </p:nvSpPr>
        <p:spPr>
          <a:xfrm>
            <a:off x="4462272" y="1956816"/>
            <a:ext cx="1645920" cy="1005840"/>
          </a:xfrm>
          <a:prstGeom prst="roundRect">
            <a:avLst>
              <a:gd name="adj" fmla="val 9000"/>
            </a:avLst>
          </a:prstGeom>
          <a:solidFill>
            <a:srgbClr val="234276"/>
          </a:solidFill>
          <a:ln w="15875">
            <a:solidFill>
              <a:srgbClr val="3D66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4" name="Picture 17423" descr="key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48072" y="2093976"/>
            <a:ext cx="274320" cy="274320"/>
          </a:xfrm>
          <a:prstGeom prst="rect">
            <a:avLst/>
          </a:prstGeom>
        </p:spPr>
      </p:pic>
      <p:sp>
        <p:nvSpPr>
          <p:cNvPr id="17425" name="TextBox 17424"/>
          <p:cNvSpPr txBox="1"/>
          <p:nvPr/>
        </p:nvSpPr>
        <p:spPr>
          <a:xfrm>
            <a:off x="4526280" y="2459736"/>
            <a:ext cx="15179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FFFFFF"/>
                </a:solidFill>
                <a:latin typeface="Calibri"/>
              </a:rPr>
              <a:t>Key bundles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A9BEDF"/>
                </a:solidFill>
                <a:latin typeface="Calibri"/>
              </a:rPr>
              <a:t>wrapped with ML-KEM-768,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A9BEDF"/>
                </a:solidFill>
                <a:latin typeface="Calibri"/>
              </a:rPr>
              <a:t>one key per slot each</a:t>
            </a:r>
          </a:p>
        </p:txBody>
      </p:sp>
      <p:cxnSp>
        <p:nvCxnSpPr>
          <p:cNvPr id="17426" name="Connector 17425"/>
          <p:cNvCxnSpPr/>
          <p:nvPr/>
        </p:nvCxnSpPr>
        <p:spPr>
          <a:xfrm>
            <a:off x="6126479" y="2459736"/>
            <a:ext cx="228600" cy="0"/>
          </a:xfrm>
          <a:prstGeom prst="line">
            <a:avLst/>
          </a:prstGeom>
          <a:ln w="28575">
            <a:solidFill>
              <a:srgbClr val="F2790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7" name="Rounded Rectangle 17426"/>
          <p:cNvSpPr/>
          <p:nvPr/>
        </p:nvSpPr>
        <p:spPr>
          <a:xfrm>
            <a:off x="6373368" y="1956816"/>
            <a:ext cx="1645920" cy="1005840"/>
          </a:xfrm>
          <a:prstGeom prst="roundRect">
            <a:avLst>
              <a:gd name="adj" fmla="val 9000"/>
            </a:avLst>
          </a:prstGeom>
          <a:solidFill>
            <a:srgbClr val="234276"/>
          </a:solidFill>
          <a:ln w="15875">
            <a:solidFill>
              <a:srgbClr val="3D66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8" name="Picture 17427" descr="pack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9168" y="2093976"/>
            <a:ext cx="274320" cy="274320"/>
          </a:xfrm>
          <a:prstGeom prst="rect">
            <a:avLst/>
          </a:prstGeom>
        </p:spPr>
      </p:pic>
      <p:sp>
        <p:nvSpPr>
          <p:cNvPr id="17429" name="TextBox 17428"/>
          <p:cNvSpPr txBox="1"/>
          <p:nvPr/>
        </p:nvSpPr>
        <p:spPr>
          <a:xfrm>
            <a:off x="6437376" y="2459736"/>
            <a:ext cx="15179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FFFFFF"/>
                </a:solidFill>
                <a:latin typeface="Calibri"/>
              </a:rPr>
              <a:t>One package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A9BEDF"/>
                </a:solidFill>
                <a:latin typeface="Calibri"/>
              </a:rPr>
              <a:t>identical ciphertext for all N,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A9BEDF"/>
                </a:solidFill>
                <a:latin typeface="Calibri"/>
              </a:rPr>
              <a:t>116 KB shared + 34 KB each</a:t>
            </a:r>
          </a:p>
        </p:txBody>
      </p:sp>
      <p:sp>
        <p:nvSpPr>
          <p:cNvPr id="17430" name="Hexagon 17429"/>
          <p:cNvSpPr/>
          <p:nvPr/>
        </p:nvSpPr>
        <p:spPr>
          <a:xfrm rot="5400000">
            <a:off x="640080" y="3081528"/>
            <a:ext cx="256032" cy="225308"/>
          </a:xfrm>
          <a:prstGeom prst="hexagon">
            <a:avLst/>
          </a:prstGeom>
          <a:solidFill>
            <a:srgbClr val="22B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31" name="Picture 17430" descr="receip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9208" y="3135294"/>
            <a:ext cx="117774" cy="117774"/>
          </a:xfrm>
          <a:prstGeom prst="rect">
            <a:avLst/>
          </a:prstGeom>
        </p:spPr>
      </p:pic>
      <p:sp>
        <p:nvSpPr>
          <p:cNvPr id="17432" name="TextBox 17431"/>
          <p:cNvSpPr txBox="1"/>
          <p:nvPr/>
        </p:nvSpPr>
        <p:spPr>
          <a:xfrm>
            <a:off x="987552" y="3099816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 spc="140">
                <a:solidFill>
                  <a:srgbClr val="22B173"/>
                </a:solidFill>
                <a:latin typeface="Calibri"/>
              </a:rPr>
              <a:t>DECRYPT &amp; RECORD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640080" y="3383280"/>
            <a:ext cx="1645920" cy="1005840"/>
          </a:xfrm>
          <a:prstGeom prst="roundRect">
            <a:avLst>
              <a:gd name="adj" fmla="val 9000"/>
            </a:avLst>
          </a:prstGeom>
          <a:solidFill>
            <a:srgbClr val="234276"/>
          </a:solidFill>
          <a:ln w="15875">
            <a:solidFill>
              <a:srgbClr val="3D66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34" name="Picture 17433" descr="unloc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25880" y="3520440"/>
            <a:ext cx="274320" cy="274320"/>
          </a:xfrm>
          <a:prstGeom prst="rect">
            <a:avLst/>
          </a:prstGeom>
        </p:spPr>
      </p:pic>
      <p:sp>
        <p:nvSpPr>
          <p:cNvPr id="17435" name="TextBox 17434"/>
          <p:cNvSpPr txBox="1"/>
          <p:nvPr/>
        </p:nvSpPr>
        <p:spPr>
          <a:xfrm>
            <a:off x="704088" y="3886200"/>
            <a:ext cx="15179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FFFFFF"/>
                </a:solidFill>
                <a:latin typeface="Calibri"/>
              </a:rPr>
              <a:t>Recipient decrypts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A9BEDF"/>
                </a:solidFill>
                <a:latin typeface="Calibri"/>
              </a:rPr>
              <a:t>unwraps bundle,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A9BEDF"/>
                </a:solidFill>
                <a:latin typeface="Calibri"/>
              </a:rPr>
              <a:t>spends one session</a:t>
            </a:r>
          </a:p>
        </p:txBody>
      </p:sp>
      <p:cxnSp>
        <p:nvCxnSpPr>
          <p:cNvPr id="17436" name="Connector 17435"/>
          <p:cNvCxnSpPr/>
          <p:nvPr/>
        </p:nvCxnSpPr>
        <p:spPr>
          <a:xfrm>
            <a:off x="2304288" y="3886200"/>
            <a:ext cx="228600" cy="0"/>
          </a:xfrm>
          <a:prstGeom prst="line">
            <a:avLst/>
          </a:prstGeom>
          <a:ln w="28575">
            <a:solidFill>
              <a:srgbClr val="22B1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7" name="Rounded Rectangle 17436"/>
          <p:cNvSpPr/>
          <p:nvPr/>
        </p:nvSpPr>
        <p:spPr>
          <a:xfrm>
            <a:off x="2551176" y="3383280"/>
            <a:ext cx="1645920" cy="1005840"/>
          </a:xfrm>
          <a:prstGeom prst="roundRect">
            <a:avLst>
              <a:gd name="adj" fmla="val 9000"/>
            </a:avLst>
          </a:prstGeom>
          <a:solidFill>
            <a:srgbClr val="158A5A"/>
          </a:solidFill>
          <a:ln w="15875">
            <a:solidFill>
              <a:srgbClr val="22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38" name="Picture 17437" descr="fingerprin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36976" y="3520440"/>
            <a:ext cx="274320" cy="274320"/>
          </a:xfrm>
          <a:prstGeom prst="rect">
            <a:avLst/>
          </a:prstGeom>
        </p:spPr>
      </p:pic>
      <p:sp>
        <p:nvSpPr>
          <p:cNvPr id="17439" name="TextBox 17438"/>
          <p:cNvSpPr txBox="1"/>
          <p:nvPr/>
        </p:nvSpPr>
        <p:spPr>
          <a:xfrm>
            <a:off x="2615184" y="3886200"/>
            <a:ext cx="15179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FFFFFF"/>
                </a:solidFill>
                <a:latin typeface="Calibri"/>
              </a:rPr>
              <a:t>Uniquely marked copy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CCF0DF"/>
                </a:solidFill>
                <a:latin typeface="Calibri"/>
              </a:rPr>
              <a:t>one rendering per slot;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CCF0DF"/>
                </a:solidFill>
                <a:latin typeface="Calibri"/>
              </a:rPr>
              <a:t>the other is a tag failure</a:t>
            </a:r>
          </a:p>
        </p:txBody>
      </p:sp>
      <p:cxnSp>
        <p:nvCxnSpPr>
          <p:cNvPr id="17440" name="Connector 17439"/>
          <p:cNvCxnSpPr/>
          <p:nvPr/>
        </p:nvCxnSpPr>
        <p:spPr>
          <a:xfrm>
            <a:off x="4215383" y="3886200"/>
            <a:ext cx="228600" cy="0"/>
          </a:xfrm>
          <a:prstGeom prst="line">
            <a:avLst/>
          </a:prstGeom>
          <a:ln w="28575">
            <a:solidFill>
              <a:srgbClr val="22B1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1" name="Rounded Rectangle 17440"/>
          <p:cNvSpPr/>
          <p:nvPr/>
        </p:nvSpPr>
        <p:spPr>
          <a:xfrm>
            <a:off x="4462272" y="3383280"/>
            <a:ext cx="1645920" cy="1005840"/>
          </a:xfrm>
          <a:prstGeom prst="roundRect">
            <a:avLst>
              <a:gd name="adj" fmla="val 9000"/>
            </a:avLst>
          </a:prstGeom>
          <a:solidFill>
            <a:srgbClr val="158A5A"/>
          </a:solidFill>
          <a:ln w="15875">
            <a:solidFill>
              <a:srgbClr val="22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42" name="Picture 17441" descr="receip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48072" y="3520440"/>
            <a:ext cx="274320" cy="274320"/>
          </a:xfrm>
          <a:prstGeom prst="rect">
            <a:avLst/>
          </a:prstGeom>
        </p:spPr>
      </p:pic>
      <p:sp>
        <p:nvSpPr>
          <p:cNvPr id="17443" name="TextBox 17442"/>
          <p:cNvSpPr txBox="1"/>
          <p:nvPr/>
        </p:nvSpPr>
        <p:spPr>
          <a:xfrm>
            <a:off x="4526280" y="3886200"/>
            <a:ext cx="15179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FFFFFF"/>
                </a:solidFill>
                <a:latin typeface="Calibri"/>
              </a:rPr>
              <a:t>Signed receipt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CCF0DF"/>
                </a:solidFill>
                <a:latin typeface="Calibri"/>
              </a:rPr>
              <a:t>ML-DSA-65, the recipient's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CCF0DF"/>
                </a:solidFill>
                <a:latin typeface="Calibri"/>
              </a:rPr>
              <a:t>own private key</a:t>
            </a:r>
          </a:p>
        </p:txBody>
      </p:sp>
      <p:cxnSp>
        <p:nvCxnSpPr>
          <p:cNvPr id="17444" name="Connector 17443"/>
          <p:cNvCxnSpPr/>
          <p:nvPr/>
        </p:nvCxnSpPr>
        <p:spPr>
          <a:xfrm>
            <a:off x="6126479" y="3886200"/>
            <a:ext cx="228600" cy="0"/>
          </a:xfrm>
          <a:prstGeom prst="line">
            <a:avLst/>
          </a:prstGeom>
          <a:ln w="28575">
            <a:solidFill>
              <a:srgbClr val="22B1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5" name="Rounded Rectangle 17444"/>
          <p:cNvSpPr/>
          <p:nvPr/>
        </p:nvSpPr>
        <p:spPr>
          <a:xfrm>
            <a:off x="6373368" y="3383280"/>
            <a:ext cx="1645920" cy="1005840"/>
          </a:xfrm>
          <a:prstGeom prst="roundRect">
            <a:avLst>
              <a:gd name="adj" fmla="val 9000"/>
            </a:avLst>
          </a:prstGeom>
          <a:solidFill>
            <a:srgbClr val="158A5A"/>
          </a:solidFill>
          <a:ln w="15875">
            <a:solidFill>
              <a:srgbClr val="22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46" name="Picture 17445" descr="ledger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59168" y="3520440"/>
            <a:ext cx="274320" cy="274320"/>
          </a:xfrm>
          <a:prstGeom prst="rect">
            <a:avLst/>
          </a:prstGeom>
        </p:spPr>
      </p:pic>
      <p:sp>
        <p:nvSpPr>
          <p:cNvPr id="17447" name="TextBox 17446"/>
          <p:cNvSpPr txBox="1"/>
          <p:nvPr/>
        </p:nvSpPr>
        <p:spPr>
          <a:xfrm>
            <a:off x="6437376" y="3886200"/>
            <a:ext cx="15179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FFFFFF"/>
                </a:solidFill>
                <a:latin typeface="Calibri"/>
              </a:rPr>
              <a:t>Distributed ledger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CCF0DF"/>
                </a:solidFill>
                <a:latin typeface="Calibri"/>
              </a:rPr>
              <a:t>3 validator replicas,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CCF0DF"/>
                </a:solidFill>
                <a:latin typeface="Calibri"/>
              </a:rPr>
              <a:t>2-of-3 block commit</a:t>
            </a:r>
          </a:p>
        </p:txBody>
      </p:sp>
      <p:sp>
        <p:nvSpPr>
          <p:cNvPr id="17448" name="Hexagon 17447"/>
          <p:cNvSpPr/>
          <p:nvPr/>
        </p:nvSpPr>
        <p:spPr>
          <a:xfrm rot="5400000">
            <a:off x="640080" y="4507992"/>
            <a:ext cx="256032" cy="225308"/>
          </a:xfrm>
          <a:prstGeom prst="hexagon">
            <a:avLst/>
          </a:prstGeom>
          <a:solidFill>
            <a:srgbClr val="1C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49" name="Picture 17448" descr="lookup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9208" y="4561758"/>
            <a:ext cx="117774" cy="117774"/>
          </a:xfrm>
          <a:prstGeom prst="rect">
            <a:avLst/>
          </a:prstGeom>
        </p:spPr>
      </p:pic>
      <p:sp>
        <p:nvSpPr>
          <p:cNvPr id="17450" name="TextBox 17449"/>
          <p:cNvSpPr txBox="1"/>
          <p:nvPr/>
        </p:nvSpPr>
        <p:spPr>
          <a:xfrm>
            <a:off x="987552" y="4526280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 spc="140">
                <a:solidFill>
                  <a:srgbClr val="1C9EB8"/>
                </a:solidFill>
                <a:latin typeface="Calibri"/>
              </a:rPr>
              <a:t>TRACE A LEAK</a:t>
            </a:r>
          </a:p>
        </p:txBody>
      </p:sp>
      <p:sp>
        <p:nvSpPr>
          <p:cNvPr id="17451" name="Rounded Rectangle 17450"/>
          <p:cNvSpPr/>
          <p:nvPr/>
        </p:nvSpPr>
        <p:spPr>
          <a:xfrm>
            <a:off x="640080" y="4809744"/>
            <a:ext cx="1645920" cy="1005840"/>
          </a:xfrm>
          <a:prstGeom prst="roundRect">
            <a:avLst>
              <a:gd name="adj" fmla="val 9000"/>
            </a:avLst>
          </a:prstGeom>
          <a:solidFill>
            <a:srgbClr val="0E1F42"/>
          </a:solidFill>
          <a:ln w="15875">
            <a:solidFill>
              <a:srgbClr val="3D66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52" name="Picture 17451" descr="leak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25880" y="4946904"/>
            <a:ext cx="274320" cy="274320"/>
          </a:xfrm>
          <a:prstGeom prst="rect">
            <a:avLst/>
          </a:prstGeom>
        </p:spPr>
      </p:pic>
      <p:sp>
        <p:nvSpPr>
          <p:cNvPr id="17453" name="TextBox 17452"/>
          <p:cNvSpPr txBox="1"/>
          <p:nvPr/>
        </p:nvSpPr>
        <p:spPr>
          <a:xfrm>
            <a:off x="704088" y="5312664"/>
            <a:ext cx="15179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A9BEDF"/>
                </a:solidFill>
                <a:latin typeface="Calibri"/>
              </a:rPr>
              <a:t>Leaked copy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7A92BB"/>
                </a:solidFill>
                <a:latin typeface="Calibri"/>
              </a:rPr>
              <a:t>extract the slot bits</a:t>
            </a:r>
          </a:p>
        </p:txBody>
      </p:sp>
      <p:cxnSp>
        <p:nvCxnSpPr>
          <p:cNvPr id="17454" name="Connector 17453"/>
          <p:cNvCxnSpPr/>
          <p:nvPr/>
        </p:nvCxnSpPr>
        <p:spPr>
          <a:xfrm>
            <a:off x="2304288" y="5312664"/>
            <a:ext cx="228600" cy="0"/>
          </a:xfrm>
          <a:prstGeom prst="line">
            <a:avLst/>
          </a:prstGeom>
          <a:ln w="28575">
            <a:solidFill>
              <a:srgbClr val="1C9E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5" name="Rounded Rectangle 17454"/>
          <p:cNvSpPr/>
          <p:nvPr/>
        </p:nvSpPr>
        <p:spPr>
          <a:xfrm>
            <a:off x="2551176" y="4809744"/>
            <a:ext cx="1645920" cy="1005840"/>
          </a:xfrm>
          <a:prstGeom prst="roundRect">
            <a:avLst>
              <a:gd name="adj" fmla="val 9000"/>
            </a:avLst>
          </a:prstGeom>
          <a:solidFill>
            <a:srgbClr val="234276"/>
          </a:solidFill>
          <a:ln w="15875">
            <a:solidFill>
              <a:srgbClr val="3D66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56" name="Picture 17455" descr="scor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36976" y="4946904"/>
            <a:ext cx="274320" cy="274320"/>
          </a:xfrm>
          <a:prstGeom prst="rect">
            <a:avLst/>
          </a:prstGeom>
        </p:spPr>
      </p:pic>
      <p:sp>
        <p:nvSpPr>
          <p:cNvPr id="17457" name="TextBox 17456"/>
          <p:cNvSpPr txBox="1"/>
          <p:nvPr/>
        </p:nvSpPr>
        <p:spPr>
          <a:xfrm>
            <a:off x="2615184" y="5312664"/>
            <a:ext cx="15179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FFFFFF"/>
                </a:solidFill>
                <a:latin typeface="Calibri"/>
              </a:rPr>
              <a:t>Tardos scoring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A9BEDF"/>
                </a:solidFill>
                <a:latin typeface="Calibri"/>
              </a:rPr>
              <a:t>score against every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A9BEDF"/>
                </a:solidFill>
                <a:latin typeface="Calibri"/>
              </a:rPr>
              <a:t>issued codeword</a:t>
            </a:r>
          </a:p>
        </p:txBody>
      </p:sp>
      <p:cxnSp>
        <p:nvCxnSpPr>
          <p:cNvPr id="17458" name="Connector 17457"/>
          <p:cNvCxnSpPr/>
          <p:nvPr/>
        </p:nvCxnSpPr>
        <p:spPr>
          <a:xfrm>
            <a:off x="4215383" y="5312664"/>
            <a:ext cx="228600" cy="0"/>
          </a:xfrm>
          <a:prstGeom prst="line">
            <a:avLst/>
          </a:prstGeom>
          <a:ln w="28575">
            <a:solidFill>
              <a:srgbClr val="1C9E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9" name="Rounded Rectangle 17458"/>
          <p:cNvSpPr/>
          <p:nvPr/>
        </p:nvSpPr>
        <p:spPr>
          <a:xfrm>
            <a:off x="4462272" y="4809744"/>
            <a:ext cx="1645920" cy="1005840"/>
          </a:xfrm>
          <a:prstGeom prst="roundRect">
            <a:avLst>
              <a:gd name="adj" fmla="val 9000"/>
            </a:avLst>
          </a:prstGeom>
          <a:solidFill>
            <a:srgbClr val="234276"/>
          </a:solidFill>
          <a:ln w="15875">
            <a:solidFill>
              <a:srgbClr val="3D66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60" name="Picture 17459" descr="lookup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148072" y="4946904"/>
            <a:ext cx="274320" cy="274320"/>
          </a:xfrm>
          <a:prstGeom prst="rect">
            <a:avLst/>
          </a:prstGeom>
        </p:spPr>
      </p:pic>
      <p:sp>
        <p:nvSpPr>
          <p:cNvPr id="17461" name="TextBox 17460"/>
          <p:cNvSpPr txBox="1"/>
          <p:nvPr/>
        </p:nvSpPr>
        <p:spPr>
          <a:xfrm>
            <a:off x="4526280" y="5312664"/>
            <a:ext cx="15179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FFFFFF"/>
                </a:solidFill>
                <a:latin typeface="Calibri"/>
              </a:rPr>
              <a:t>Ledger lookup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A9BEDF"/>
                </a:solidFill>
                <a:latin typeface="Calibri"/>
              </a:rPr>
              <a:t>commitment → receipt,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A9BEDF"/>
                </a:solidFill>
                <a:latin typeface="Calibri"/>
              </a:rPr>
              <a:t>signature + quorum checked</a:t>
            </a:r>
          </a:p>
        </p:txBody>
      </p:sp>
      <p:cxnSp>
        <p:nvCxnSpPr>
          <p:cNvPr id="17462" name="Connector 17461"/>
          <p:cNvCxnSpPr/>
          <p:nvPr/>
        </p:nvCxnSpPr>
        <p:spPr>
          <a:xfrm>
            <a:off x="6126479" y="5312664"/>
            <a:ext cx="228600" cy="0"/>
          </a:xfrm>
          <a:prstGeom prst="line">
            <a:avLst/>
          </a:prstGeom>
          <a:ln w="28575">
            <a:solidFill>
              <a:srgbClr val="F2790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3" name="Rounded Rectangle 17462"/>
          <p:cNvSpPr/>
          <p:nvPr/>
        </p:nvSpPr>
        <p:spPr>
          <a:xfrm>
            <a:off x="6373368" y="4809744"/>
            <a:ext cx="1645920" cy="1005840"/>
          </a:xfrm>
          <a:prstGeom prst="roundRect">
            <a:avLst>
              <a:gd name="adj" fmla="val 9000"/>
            </a:avLst>
          </a:prstGeom>
          <a:solidFill>
            <a:srgbClr val="C25B02"/>
          </a:solidFill>
          <a:ln w="15875">
            <a:solidFill>
              <a:srgbClr val="F279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64" name="Picture 17463" descr="verdict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59168" y="4946904"/>
            <a:ext cx="274320" cy="274320"/>
          </a:xfrm>
          <a:prstGeom prst="rect">
            <a:avLst/>
          </a:prstGeom>
        </p:spPr>
      </p:pic>
      <p:sp>
        <p:nvSpPr>
          <p:cNvPr id="17465" name="TextBox 17464"/>
          <p:cNvSpPr txBox="1"/>
          <p:nvPr/>
        </p:nvSpPr>
        <p:spPr>
          <a:xfrm>
            <a:off x="6437376" y="5312664"/>
            <a:ext cx="15179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FFFFFF"/>
                </a:solidFill>
                <a:latin typeface="Calibri"/>
              </a:rPr>
              <a:t>Verifiable verdict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FFE1C2"/>
                </a:solidFill>
                <a:latin typeface="Calibri"/>
              </a:rPr>
              <a:t>recipient + session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FFE1C2"/>
                </a:solidFill>
                <a:latin typeface="Calibri"/>
              </a:rPr>
              <a:t>+ provable error bound</a:t>
            </a:r>
          </a:p>
        </p:txBody>
      </p:sp>
      <p:pic>
        <p:nvPicPr>
          <p:cNvPr id="17466" name="Picture 17465" descr="offlin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0080" y="5952744"/>
            <a:ext cx="182880" cy="182880"/>
          </a:xfrm>
          <a:prstGeom prst="rect">
            <a:avLst/>
          </a:prstGeom>
        </p:spPr>
      </p:pic>
      <p:sp>
        <p:nvSpPr>
          <p:cNvPr id="17467" name="TextBox 17466"/>
          <p:cNvSpPr txBox="1"/>
          <p:nvPr/>
        </p:nvSpPr>
        <p:spPr>
          <a:xfrm>
            <a:off x="896112" y="5952744"/>
            <a:ext cx="709574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2790D"/>
                </a:solidFill>
                <a:latin typeface="Calibri"/>
              </a:rPr>
              <a:t>Offline and air-gapped throughout — </a:t>
            </a:r>
            <a:r>
              <a:rPr sz="800" b="0">
                <a:solidFill>
                  <a:srgbClr val="A9BEDF"/>
                </a:solidFill>
                <a:latin typeface="Calibri"/>
              </a:rPr>
              <a:t>no cloud KMS, no public blockchain, no network call at any stage, asserted by a test that refuses every socket operation.</a:t>
            </a:r>
          </a:p>
        </p:txBody>
      </p:sp>
      <p:sp>
        <p:nvSpPr>
          <p:cNvPr id="17468" name="Hexagon 17467"/>
          <p:cNvSpPr/>
          <p:nvPr/>
        </p:nvSpPr>
        <p:spPr>
          <a:xfrm rot="5400000">
            <a:off x="8522208" y="1161288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469" name="TextBox 17468"/>
          <p:cNvSpPr txBox="1"/>
          <p:nvPr/>
        </p:nvSpPr>
        <p:spPr>
          <a:xfrm>
            <a:off x="8906256" y="1143000"/>
            <a:ext cx="2916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Technologies to be used</a:t>
            </a:r>
          </a:p>
        </p:txBody>
      </p:sp>
      <p:sp>
        <p:nvSpPr>
          <p:cNvPr id="17470" name="Rounded Rectangle 17469"/>
          <p:cNvSpPr/>
          <p:nvPr/>
        </p:nvSpPr>
        <p:spPr>
          <a:xfrm>
            <a:off x="8522208" y="1572768"/>
            <a:ext cx="3300984" cy="2999232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 w="15875">
            <a:solidFill>
              <a:srgbClr val="B6C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71" name="Picture 17470" descr="python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759952" y="1700784"/>
            <a:ext cx="347472" cy="347472"/>
          </a:xfrm>
          <a:prstGeom prst="rect">
            <a:avLst/>
          </a:prstGeom>
        </p:spPr>
      </p:pic>
      <p:sp>
        <p:nvSpPr>
          <p:cNvPr id="17472" name="TextBox 17471"/>
          <p:cNvSpPr txBox="1"/>
          <p:nvPr/>
        </p:nvSpPr>
        <p:spPr>
          <a:xfrm>
            <a:off x="8622792" y="2093975"/>
            <a:ext cx="6217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C8AA3"/>
                </a:solidFill>
                <a:latin typeface="Calibri"/>
              </a:rPr>
              <a:t>Python</a:t>
            </a:r>
          </a:p>
        </p:txBody>
      </p:sp>
      <p:pic>
        <p:nvPicPr>
          <p:cNvPr id="17473" name="Picture 17472" descr="fastapi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381744" y="1700784"/>
            <a:ext cx="347472" cy="347472"/>
          </a:xfrm>
          <a:prstGeom prst="rect">
            <a:avLst/>
          </a:prstGeom>
        </p:spPr>
      </p:pic>
      <p:sp>
        <p:nvSpPr>
          <p:cNvPr id="17474" name="TextBox 17473"/>
          <p:cNvSpPr txBox="1"/>
          <p:nvPr/>
        </p:nvSpPr>
        <p:spPr>
          <a:xfrm>
            <a:off x="9244584" y="2093975"/>
            <a:ext cx="6217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C8AA3"/>
                </a:solidFill>
                <a:latin typeface="Calibri"/>
              </a:rPr>
              <a:t>FastAPI</a:t>
            </a:r>
          </a:p>
        </p:txBody>
      </p:sp>
      <p:pic>
        <p:nvPicPr>
          <p:cNvPr id="17475" name="Picture 17474" descr="numpy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003536" y="1700784"/>
            <a:ext cx="347472" cy="347472"/>
          </a:xfrm>
          <a:prstGeom prst="rect">
            <a:avLst/>
          </a:prstGeom>
        </p:spPr>
      </p:pic>
      <p:sp>
        <p:nvSpPr>
          <p:cNvPr id="17476" name="TextBox 17475"/>
          <p:cNvSpPr txBox="1"/>
          <p:nvPr/>
        </p:nvSpPr>
        <p:spPr>
          <a:xfrm>
            <a:off x="9866376" y="2093975"/>
            <a:ext cx="6217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C8AA3"/>
                </a:solidFill>
                <a:latin typeface="Calibri"/>
              </a:rPr>
              <a:t>NumPy</a:t>
            </a:r>
          </a:p>
        </p:txBody>
      </p:sp>
      <p:pic>
        <p:nvPicPr>
          <p:cNvPr id="17477" name="Picture 17476" descr="docker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625328" y="1700784"/>
            <a:ext cx="347472" cy="347472"/>
          </a:xfrm>
          <a:prstGeom prst="rect">
            <a:avLst/>
          </a:prstGeom>
        </p:spPr>
      </p:pic>
      <p:sp>
        <p:nvSpPr>
          <p:cNvPr id="17478" name="TextBox 17477"/>
          <p:cNvSpPr txBox="1"/>
          <p:nvPr/>
        </p:nvSpPr>
        <p:spPr>
          <a:xfrm>
            <a:off x="10488167" y="2093975"/>
            <a:ext cx="6217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C8AA3"/>
                </a:solidFill>
                <a:latin typeface="Calibri"/>
              </a:rPr>
              <a:t>Docker</a:t>
            </a:r>
          </a:p>
        </p:txBody>
      </p:sp>
      <p:pic>
        <p:nvPicPr>
          <p:cNvPr id="17479" name="Picture 17478" descr="linux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1247119" y="1700784"/>
            <a:ext cx="347472" cy="347472"/>
          </a:xfrm>
          <a:prstGeom prst="rect">
            <a:avLst/>
          </a:prstGeom>
        </p:spPr>
      </p:pic>
      <p:sp>
        <p:nvSpPr>
          <p:cNvPr id="17480" name="TextBox 17479"/>
          <p:cNvSpPr txBox="1"/>
          <p:nvPr/>
        </p:nvSpPr>
        <p:spPr>
          <a:xfrm>
            <a:off x="11109959" y="2093975"/>
            <a:ext cx="6217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C8AA3"/>
                </a:solidFill>
                <a:latin typeface="Calibri"/>
              </a:rPr>
              <a:t>Linux</a:t>
            </a:r>
          </a:p>
        </p:txBody>
      </p:sp>
      <p:pic>
        <p:nvPicPr>
          <p:cNvPr id="17481" name="Picture 17480" descr="pytest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759952" y="2340864"/>
            <a:ext cx="347472" cy="347472"/>
          </a:xfrm>
          <a:prstGeom prst="rect">
            <a:avLst/>
          </a:prstGeom>
        </p:spPr>
      </p:pic>
      <p:sp>
        <p:nvSpPr>
          <p:cNvPr id="17482" name="TextBox 17481"/>
          <p:cNvSpPr txBox="1"/>
          <p:nvPr/>
        </p:nvSpPr>
        <p:spPr>
          <a:xfrm>
            <a:off x="8622792" y="2734056"/>
            <a:ext cx="6217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C8AA3"/>
                </a:solidFill>
                <a:latin typeface="Calibri"/>
              </a:rPr>
              <a:t>pytest</a:t>
            </a:r>
          </a:p>
        </p:txBody>
      </p:sp>
      <p:pic>
        <p:nvPicPr>
          <p:cNvPr id="17483" name="Picture 17482" descr="github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381744" y="2340864"/>
            <a:ext cx="347472" cy="347472"/>
          </a:xfrm>
          <a:prstGeom prst="rect">
            <a:avLst/>
          </a:prstGeom>
        </p:spPr>
      </p:pic>
      <p:sp>
        <p:nvSpPr>
          <p:cNvPr id="17484" name="TextBox 17483"/>
          <p:cNvSpPr txBox="1"/>
          <p:nvPr/>
        </p:nvSpPr>
        <p:spPr>
          <a:xfrm>
            <a:off x="9244584" y="2734056"/>
            <a:ext cx="6217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C8AA3"/>
                </a:solidFill>
                <a:latin typeface="Calibri"/>
              </a:rPr>
              <a:t>GitHub</a:t>
            </a:r>
          </a:p>
        </p:txBody>
      </p:sp>
      <p:pic>
        <p:nvPicPr>
          <p:cNvPr id="17485" name="Picture 17484" descr="render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003536" y="2340864"/>
            <a:ext cx="347472" cy="347472"/>
          </a:xfrm>
          <a:prstGeom prst="rect">
            <a:avLst/>
          </a:prstGeom>
        </p:spPr>
      </p:pic>
      <p:sp>
        <p:nvSpPr>
          <p:cNvPr id="17486" name="TextBox 17485"/>
          <p:cNvSpPr txBox="1"/>
          <p:nvPr/>
        </p:nvSpPr>
        <p:spPr>
          <a:xfrm>
            <a:off x="9866376" y="2734056"/>
            <a:ext cx="6217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C8AA3"/>
                </a:solidFill>
                <a:latin typeface="Calibri"/>
              </a:rPr>
              <a:t>Render</a:t>
            </a:r>
          </a:p>
        </p:txBody>
      </p:sp>
      <p:pic>
        <p:nvPicPr>
          <p:cNvPr id="17487" name="Picture 17486" descr="huggingfac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0625328" y="2340864"/>
            <a:ext cx="347472" cy="347472"/>
          </a:xfrm>
          <a:prstGeom prst="rect">
            <a:avLst/>
          </a:prstGeom>
        </p:spPr>
      </p:pic>
      <p:sp>
        <p:nvSpPr>
          <p:cNvPr id="17488" name="TextBox 17487"/>
          <p:cNvSpPr txBox="1"/>
          <p:nvPr/>
        </p:nvSpPr>
        <p:spPr>
          <a:xfrm>
            <a:off x="10488167" y="2734056"/>
            <a:ext cx="6217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C8AA3"/>
                </a:solidFill>
                <a:latin typeface="Calibri"/>
              </a:rPr>
              <a:t>HF</a:t>
            </a:r>
          </a:p>
        </p:txBody>
      </p:sp>
      <p:pic>
        <p:nvPicPr>
          <p:cNvPr id="17489" name="Picture 17488" descr="bash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1247119" y="2340864"/>
            <a:ext cx="347472" cy="347472"/>
          </a:xfrm>
          <a:prstGeom prst="rect">
            <a:avLst/>
          </a:prstGeom>
        </p:spPr>
      </p:pic>
      <p:sp>
        <p:nvSpPr>
          <p:cNvPr id="17490" name="TextBox 17489"/>
          <p:cNvSpPr txBox="1"/>
          <p:nvPr/>
        </p:nvSpPr>
        <p:spPr>
          <a:xfrm>
            <a:off x="11109959" y="2734056"/>
            <a:ext cx="6217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C8AA3"/>
                </a:solidFill>
                <a:latin typeface="Calibri"/>
              </a:rPr>
              <a:t>Bash</a:t>
            </a:r>
          </a:p>
        </p:txBody>
      </p:sp>
      <p:sp>
        <p:nvSpPr>
          <p:cNvPr id="17491" name="TextBox 17490"/>
          <p:cNvSpPr txBox="1"/>
          <p:nvPr/>
        </p:nvSpPr>
        <p:spPr>
          <a:xfrm>
            <a:off x="8686800" y="3054096"/>
            <a:ext cx="2971800" cy="1316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60"/>
              </a:spcAft>
            </a:pPr>
            <a:r>
              <a:rPr sz="860" b="1">
                <a:solidFill>
                  <a:srgbClr val="1B335E"/>
                </a:solidFill>
                <a:latin typeface="Calibri"/>
              </a:rPr>
              <a:t>Key exchange   </a:t>
            </a:r>
            <a:r>
              <a:rPr sz="860" b="0">
                <a:solidFill>
                  <a:srgbClr val="161D2B"/>
                </a:solidFill>
                <a:latin typeface="Calibri"/>
              </a:rPr>
              <a:t>ML-KEM-768  ·  FIPS 203</a:t>
            </a:r>
          </a:p>
          <a:p>
            <a:pPr algn="l">
              <a:spcBef>
                <a:spcPts val="0"/>
              </a:spcBef>
              <a:spcAft>
                <a:spcPts val="360"/>
              </a:spcAft>
            </a:pPr>
            <a:r>
              <a:rPr sz="860" b="1">
                <a:solidFill>
                  <a:srgbClr val="1B335E"/>
                </a:solidFill>
                <a:latin typeface="Calibri"/>
              </a:rPr>
              <a:t>Signatures   </a:t>
            </a:r>
            <a:r>
              <a:rPr sz="860" b="0">
                <a:solidFill>
                  <a:srgbClr val="161D2B"/>
                </a:solidFill>
                <a:latin typeface="Calibri"/>
              </a:rPr>
              <a:t>ML-DSA-65  ·  FIPS 204</a:t>
            </a:r>
          </a:p>
          <a:p>
            <a:pPr algn="l">
              <a:spcBef>
                <a:spcPts val="0"/>
              </a:spcBef>
              <a:spcAft>
                <a:spcPts val="360"/>
              </a:spcAft>
            </a:pPr>
            <a:r>
              <a:rPr sz="860" b="1">
                <a:solidFill>
                  <a:srgbClr val="1B335E"/>
                </a:solidFill>
                <a:latin typeface="Calibri"/>
              </a:rPr>
              <a:t>PQC library   </a:t>
            </a:r>
            <a:r>
              <a:rPr sz="860" b="0">
                <a:solidFill>
                  <a:srgbClr val="161D2B"/>
                </a:solidFill>
                <a:latin typeface="Calibri"/>
              </a:rPr>
              <a:t>liboqs 0.16.0 (Open Quantum Safe)</a:t>
            </a:r>
          </a:p>
          <a:p>
            <a:pPr algn="l">
              <a:spcBef>
                <a:spcPts val="0"/>
              </a:spcBef>
              <a:spcAft>
                <a:spcPts val="360"/>
              </a:spcAft>
            </a:pPr>
            <a:r>
              <a:rPr sz="860" b="1">
                <a:solidFill>
                  <a:srgbClr val="1B335E"/>
                </a:solidFill>
                <a:latin typeface="Calibri"/>
              </a:rPr>
              <a:t>Content   </a:t>
            </a:r>
            <a:r>
              <a:rPr sz="860" b="0">
                <a:solidFill>
                  <a:srgbClr val="161D2B"/>
                </a:solidFill>
                <a:latin typeface="Calibri"/>
              </a:rPr>
              <a:t>AES-256-GCM  ·  HKDF-SHA3-256</a:t>
            </a:r>
          </a:p>
          <a:p>
            <a:pPr algn="l">
              <a:spcBef>
                <a:spcPts val="0"/>
              </a:spcBef>
              <a:spcAft>
                <a:spcPts val="360"/>
              </a:spcAft>
            </a:pPr>
            <a:r>
              <a:rPr sz="860" b="1">
                <a:solidFill>
                  <a:srgbClr val="1B335E"/>
                </a:solidFill>
                <a:latin typeface="Calibri"/>
              </a:rPr>
              <a:t>Fingerprint   </a:t>
            </a:r>
            <a:r>
              <a:rPr sz="860" b="0">
                <a:solidFill>
                  <a:srgbClr val="161D2B"/>
                </a:solidFill>
                <a:latin typeface="Calibri"/>
              </a:rPr>
              <a:t>symmetric Tardos code (Škorić)</a:t>
            </a:r>
          </a:p>
          <a:p>
            <a:pPr algn="l">
              <a:spcBef>
                <a:spcPts val="0"/>
              </a:spcBef>
              <a:spcAft>
                <a:spcPts val="360"/>
              </a:spcAft>
            </a:pPr>
            <a:r>
              <a:rPr sz="860" b="1">
                <a:solidFill>
                  <a:srgbClr val="1B335E"/>
                </a:solidFill>
                <a:latin typeface="Calibri"/>
              </a:rPr>
              <a:t>Ledger   </a:t>
            </a:r>
            <a:r>
              <a:rPr sz="860" b="0">
                <a:solidFill>
                  <a:srgbClr val="161D2B"/>
                </a:solidFill>
                <a:latin typeface="Calibri"/>
              </a:rPr>
              <a:t>hash chain + Merkle blocks, 2-of-3</a:t>
            </a:r>
          </a:p>
          <a:p>
            <a:pPr algn="l">
              <a:spcBef>
                <a:spcPts val="0"/>
              </a:spcBef>
              <a:spcAft>
                <a:spcPts val="360"/>
              </a:spcAft>
            </a:pPr>
            <a:r>
              <a:rPr sz="860" b="1">
                <a:solidFill>
                  <a:srgbClr val="1B335E"/>
                </a:solidFill>
                <a:latin typeface="Calibri"/>
              </a:rPr>
              <a:t>Carriers   </a:t>
            </a:r>
            <a:r>
              <a:rPr sz="860" b="0">
                <a:solidFill>
                  <a:srgbClr val="161D2B"/>
                </a:solidFill>
                <a:latin typeface="Calibri"/>
              </a:rPr>
              <a:t>zero-width space  ·  PDF kerning</a:t>
            </a:r>
          </a:p>
        </p:txBody>
      </p:sp>
      <p:sp>
        <p:nvSpPr>
          <p:cNvPr id="17492" name="Hexagon 17491"/>
          <p:cNvSpPr/>
          <p:nvPr/>
        </p:nvSpPr>
        <p:spPr>
          <a:xfrm rot="5400000">
            <a:off x="8522208" y="4709160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493" name="TextBox 17492"/>
          <p:cNvSpPr txBox="1"/>
          <p:nvPr/>
        </p:nvSpPr>
        <p:spPr>
          <a:xfrm>
            <a:off x="8906256" y="4690872"/>
            <a:ext cx="2916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Methodology and process for implementation</a:t>
            </a:r>
          </a:p>
        </p:txBody>
      </p:sp>
      <p:sp>
        <p:nvSpPr>
          <p:cNvPr id="17494" name="TextBox 17493"/>
          <p:cNvSpPr txBox="1"/>
          <p:nvPr/>
        </p:nvSpPr>
        <p:spPr>
          <a:xfrm>
            <a:off x="8522208" y="5102352"/>
            <a:ext cx="330098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40" b="0" i="0">
                <a:solidFill>
                  <a:srgbClr val="161D2B"/>
                </a:solidFill>
                <a:latin typeface="Calibri"/>
              </a:rPr>
              <a:t>▪  Safety and audit layers built and tested before any tracing existed.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40" b="0" i="0">
                <a:solidFill>
                  <a:srgbClr val="161D2B"/>
                </a:solidFill>
                <a:latin typeface="Calibri"/>
              </a:rPr>
              <a:t>▪  Test-first: 163 tests, including the central claim that a recipient cannot decrypt the other variant.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40" b="0" i="0">
                <a:solidFill>
                  <a:srgbClr val="161D2B"/>
                </a:solidFill>
                <a:latin typeface="Calibri"/>
              </a:rPr>
              <a:t>▪  Every attack on the carrier measured and published — including the four that defeat it.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40" b="0" i="0">
                <a:solidFill>
                  <a:srgbClr val="161D2B"/>
                </a:solidFill>
                <a:latin typeface="Calibri"/>
              </a:rPr>
              <a:t>▪  Shipped, not staged: one container on a free tier, no GPU and no HSM.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E1F42"/>
          </a:solidFill>
          <a:ln w="19050">
            <a:solidFill>
              <a:srgbClr val="F2790D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NOX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Hexagon 17409"/>
          <p:cNvSpPr/>
          <p:nvPr/>
        </p:nvSpPr>
        <p:spPr>
          <a:xfrm rot="5400000">
            <a:off x="365760" y="1161288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749808" y="1143000"/>
            <a:ext cx="33009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Analysis of the feasibility of the idea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65760" y="1572768"/>
            <a:ext cx="3685032" cy="164592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 w="15875">
            <a:solidFill>
              <a:srgbClr val="B6C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512064" y="1682496"/>
            <a:ext cx="3392424" cy="1481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1B335E"/>
                </a:solidFill>
                <a:latin typeface="Calibri"/>
              </a:rPr>
              <a:t>Already built and running. </a:t>
            </a:r>
            <a:r>
              <a:rPr sz="840" b="0">
                <a:solidFill>
                  <a:srgbClr val="54627A"/>
                </a:solidFill>
                <a:latin typeface="Calibri"/>
              </a:rPr>
              <a:t>Not a concept — a working deployment anyone can open right now.</a:t>
            </a:r>
          </a:p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1B335E"/>
                </a:solidFill>
                <a:latin typeface="Calibri"/>
              </a:rPr>
              <a:t>Runs on commodity CPU. </a:t>
            </a:r>
            <a:r>
              <a:rPr sz="840" b="0">
                <a:solidFill>
                  <a:srgbClr val="54627A"/>
                </a:solidFill>
                <a:latin typeface="Calibri"/>
              </a:rPr>
              <a:t>No GPU, no HSM. The whole demo fits a free 0.1-vCPU tier.</a:t>
            </a:r>
          </a:p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1B335E"/>
                </a:solidFill>
                <a:latin typeface="Calibri"/>
              </a:rPr>
              <a:t>Zero licensing cost. </a:t>
            </a:r>
            <a:r>
              <a:rPr sz="840" b="0">
                <a:solidFill>
                  <a:srgbClr val="54627A"/>
                </a:solidFill>
                <a:latin typeface="Calibri"/>
              </a:rPr>
              <a:t>Open-source primitives end to end; NIST-standardised, not bespoke.</a:t>
            </a:r>
          </a:p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1B335E"/>
                </a:solidFill>
                <a:latin typeface="Calibri"/>
              </a:rPr>
              <a:t>Deploys air-gapped. </a:t>
            </a:r>
            <a:r>
              <a:rPr sz="840" b="0">
                <a:solidFill>
                  <a:srgbClr val="54627A"/>
                </a:solidFill>
                <a:latin typeface="Calibri"/>
              </a:rPr>
              <a:t>No cloud KMS, no public chain, no outbound call.</a:t>
            </a:r>
          </a:p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1B335E"/>
                </a:solidFill>
                <a:latin typeface="Calibri"/>
              </a:rPr>
              <a:t>Drops in beside existing flows. </a:t>
            </a:r>
            <a:r>
              <a:rPr sz="840" b="0">
                <a:solidFill>
                  <a:srgbClr val="54627A"/>
                </a:solidFill>
                <a:latin typeface="Calibri"/>
              </a:rPr>
              <a:t>The sender already encrypts once for many; this replaces that step.</a:t>
            </a:r>
          </a:p>
        </p:txBody>
      </p:sp>
      <p:sp>
        <p:nvSpPr>
          <p:cNvPr id="17414" name="Hexagon 17413"/>
          <p:cNvSpPr/>
          <p:nvPr/>
        </p:nvSpPr>
        <p:spPr>
          <a:xfrm rot="5400000">
            <a:off x="4251960" y="1161288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4636008" y="1143000"/>
            <a:ext cx="33009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Potential challenges and risks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4251960" y="1572768"/>
            <a:ext cx="3685032" cy="1645920"/>
          </a:xfrm>
          <a:prstGeom prst="roundRect">
            <a:avLst>
              <a:gd name="adj" fmla="val 6000"/>
            </a:avLst>
          </a:prstGeom>
          <a:solidFill>
            <a:srgbClr val="FEF4E4"/>
          </a:solidFill>
          <a:ln w="15875">
            <a:solidFill>
              <a:srgbClr val="E9C0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TextBox 17416"/>
          <p:cNvSpPr txBox="1"/>
          <p:nvPr/>
        </p:nvSpPr>
        <p:spPr>
          <a:xfrm>
            <a:off x="4398264" y="1682496"/>
            <a:ext cx="3392424" cy="1481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A86A08"/>
                </a:solidFill>
                <a:latin typeface="Calibri"/>
              </a:rPr>
              <a:t>Carrier fragility. </a:t>
            </a:r>
            <a:r>
              <a:rPr sz="840" b="0">
                <a:solidFill>
                  <a:srgbClr val="54627A"/>
                </a:solidFill>
                <a:latin typeface="Calibri"/>
              </a:rPr>
              <a:t>Retyping, OCR or stripping invisible characters destroys a text watermark.</a:t>
            </a:r>
          </a:p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A86A08"/>
                </a:solidFill>
                <a:latin typeface="Calibri"/>
              </a:rPr>
              <a:t>Word insertion desynchronises. </a:t>
            </a:r>
            <a:r>
              <a:rPr sz="840" b="0">
                <a:solidFill>
                  <a:srgbClr val="54627A"/>
                </a:solidFill>
                <a:latin typeface="Calibri"/>
              </a:rPr>
              <a:t>Slot addresses are ordinal, so adding a word shifts every later slot.</a:t>
            </a:r>
          </a:p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A86A08"/>
                </a:solidFill>
                <a:latin typeface="Calibri"/>
              </a:rPr>
              <a:t>Short documents, weaker codes. </a:t>
            </a:r>
            <a:r>
              <a:rPr sz="840" b="0">
                <a:solidFill>
                  <a:srgbClr val="54627A"/>
                </a:solidFill>
                <a:latin typeface="Calibri"/>
              </a:rPr>
              <a:t>A memo holds ~300 slots; the Tardos bound asks for far more.</a:t>
            </a:r>
          </a:p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A86A08"/>
                </a:solidFill>
                <a:latin typeface="Calibri"/>
              </a:rPr>
              <a:t>Unframeability. </a:t>
            </a:r>
            <a:r>
              <a:rPr sz="840" b="0">
                <a:solidFill>
                  <a:srgbClr val="54627A"/>
                </a:solidFill>
                <a:latin typeface="Calibri"/>
              </a:rPr>
              <a:t>The sender knows every codeword, so this proves traceability, not non-framing.</a:t>
            </a:r>
          </a:p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A86A08"/>
                </a:solidFill>
                <a:latin typeface="Calibri"/>
              </a:rPr>
              <a:t>Collusion. </a:t>
            </a:r>
            <a:r>
              <a:rPr sz="840" b="0">
                <a:solidFill>
                  <a:srgbClr val="54627A"/>
                </a:solidFill>
                <a:latin typeface="Calibri"/>
              </a:rPr>
              <a:t>Recipients can compare copies and splice them together.</a:t>
            </a:r>
          </a:p>
        </p:txBody>
      </p:sp>
      <p:sp>
        <p:nvSpPr>
          <p:cNvPr id="17418" name="Hexagon 17417"/>
          <p:cNvSpPr/>
          <p:nvPr/>
        </p:nvSpPr>
        <p:spPr>
          <a:xfrm rot="5400000">
            <a:off x="8138160" y="1161288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8522208" y="1143000"/>
            <a:ext cx="33009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Strategies for overcoming these challenges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8138160" y="1572768"/>
            <a:ext cx="3685032" cy="1645920"/>
          </a:xfrm>
          <a:prstGeom prst="roundRect">
            <a:avLst>
              <a:gd name="adj" fmla="val 6000"/>
            </a:avLst>
          </a:prstGeom>
          <a:solidFill>
            <a:srgbClr val="E7F6EE"/>
          </a:solidFill>
          <a:ln w="15875">
            <a:solidFill>
              <a:srgbClr val="94CE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TextBox 17420"/>
          <p:cNvSpPr txBox="1"/>
          <p:nvPr/>
        </p:nvSpPr>
        <p:spPr>
          <a:xfrm>
            <a:off x="8284464" y="1682496"/>
            <a:ext cx="3392424" cy="1481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158A5A"/>
                </a:solidFill>
                <a:latin typeface="Calibri"/>
              </a:rPr>
              <a:t>Publish the attacks that win. </a:t>
            </a:r>
            <a:r>
              <a:rPr sz="840" b="0">
                <a:solidFill>
                  <a:srgbClr val="54627A"/>
                </a:solidFill>
                <a:latin typeface="Calibri"/>
              </a:rPr>
              <a:t>Each measured with its bit error rate, beside the ones survived.</a:t>
            </a:r>
          </a:p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158A5A"/>
                </a:solidFill>
                <a:latin typeface="Calibri"/>
              </a:rPr>
              <a:t>Fail safe, not loud. </a:t>
            </a:r>
            <a:r>
              <a:rPr sz="840" b="0">
                <a:solidFill>
                  <a:srgbClr val="54627A"/>
                </a:solidFill>
                <a:latin typeface="Calibri"/>
              </a:rPr>
              <a:t>When an attack wins the result is a failure to identify — misidentification stayed at 0.0%.</a:t>
            </a:r>
          </a:p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158A5A"/>
                </a:solidFill>
                <a:latin typeface="Calibri"/>
              </a:rPr>
              <a:t>Report the reachable bound. </a:t>
            </a:r>
            <a:r>
              <a:rPr sz="840" b="0">
                <a:solidFill>
                  <a:srgbClr val="54627A"/>
                </a:solidFill>
                <a:latin typeface="Calibri"/>
              </a:rPr>
              <a:t>protect states the best error probability the document supports, before sending.</a:t>
            </a:r>
          </a:p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158A5A"/>
                </a:solidFill>
                <a:latin typeface="Calibri"/>
              </a:rPr>
              <a:t>Tardos codes for collusion. </a:t>
            </a:r>
            <a:r>
              <a:rPr sz="840" b="0">
                <a:solidFill>
                  <a:srgbClr val="54627A"/>
                </a:solidFill>
                <a:latin typeface="Calibri"/>
              </a:rPr>
              <a:t>Where colluders agree they are stuck — no one holds the other key.</a:t>
            </a:r>
          </a:p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158A5A"/>
                </a:solidFill>
                <a:latin typeface="Calibri"/>
              </a:rPr>
              <a:t>Content-anchored slots. </a:t>
            </a:r>
            <a:r>
              <a:rPr sz="840" b="0">
                <a:solidFill>
                  <a:srgbClr val="54627A"/>
                </a:solidFill>
                <a:latin typeface="Calibri"/>
              </a:rPr>
              <a:t>The named next step, replacing ordinal addressing.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365760" y="3383280"/>
            <a:ext cx="11457432" cy="1700784"/>
          </a:xfrm>
          <a:prstGeom prst="roundRect">
            <a:avLst>
              <a:gd name="adj" fmla="val 3500"/>
            </a:avLst>
          </a:prstGeom>
          <a:solidFill>
            <a:srgbClr val="0E1F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TextBox 17422"/>
          <p:cNvSpPr txBox="1"/>
          <p:nvPr/>
        </p:nvSpPr>
        <p:spPr>
          <a:xfrm>
            <a:off x="566928" y="3474720"/>
            <a:ext cx="39502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F2790D"/>
                </a:solidFill>
                <a:latin typeface="Calibri"/>
              </a:rPr>
              <a:t>Destroy the marks and it goes quiet, never wrong</a:t>
            </a:r>
          </a:p>
        </p:txBody>
      </p:sp>
      <p:pic>
        <p:nvPicPr>
          <p:cNvPr id="17424" name="Picture 17423" descr="eras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3639312"/>
            <a:ext cx="3950208" cy="1298448"/>
          </a:xfrm>
          <a:prstGeom prst="rect">
            <a:avLst/>
          </a:prstGeom>
        </p:spPr>
      </p:pic>
      <p:sp>
        <p:nvSpPr>
          <p:cNvPr id="17425" name="TextBox 17424"/>
          <p:cNvSpPr txBox="1"/>
          <p:nvPr/>
        </p:nvSpPr>
        <p:spPr>
          <a:xfrm>
            <a:off x="4663440" y="3474720"/>
            <a:ext cx="39502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F2790D"/>
                </a:solidFill>
                <a:latin typeface="Calibri"/>
              </a:rPr>
              <a:t>Colluders splicing copies, against the theory's own bound</a:t>
            </a:r>
          </a:p>
        </p:txBody>
      </p:sp>
      <p:pic>
        <p:nvPicPr>
          <p:cNvPr id="17426" name="Picture 17425" descr="collus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3639312"/>
            <a:ext cx="3950208" cy="1298448"/>
          </a:xfrm>
          <a:prstGeom prst="rect">
            <a:avLst/>
          </a:prstGeom>
        </p:spPr>
      </p:pic>
      <p:sp>
        <p:nvSpPr>
          <p:cNvPr id="17427" name="TextBox 17426"/>
          <p:cNvSpPr txBox="1"/>
          <p:nvPr/>
        </p:nvSpPr>
        <p:spPr>
          <a:xfrm>
            <a:off x="8869680" y="3474720"/>
            <a:ext cx="2834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 spc="120">
                <a:solidFill>
                  <a:srgbClr val="F2790D"/>
                </a:solidFill>
                <a:latin typeface="Calibri"/>
              </a:rPr>
              <a:t>MEASURED, NOT ASSERTED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8869680" y="3694176"/>
            <a:ext cx="28346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2.8 × 10⁻⁵⁹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A9BEDF"/>
                </a:solidFill>
                <a:latin typeface="Calibri"/>
              </a:rPr>
              <a:t>provable false-accusation bound on the live demo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8869680" y="4114800"/>
            <a:ext cx="28346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790D"/>
                </a:solidFill>
                <a:latin typeface="Calibri"/>
              </a:rPr>
              <a:t>4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A9BEDF"/>
                </a:solidFill>
                <a:latin typeface="Calibri"/>
              </a:rPr>
              <a:t>attacks that defeat the carrier — every one published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8869680" y="4535424"/>
            <a:ext cx="28346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2B173"/>
                </a:solidFill>
                <a:latin typeface="Calibri"/>
              </a:rPr>
              <a:t>163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A9BEDF"/>
                </a:solidFill>
                <a:latin typeface="Calibri"/>
              </a:rPr>
              <a:t>automated tests, all passing</a:t>
            </a:r>
          </a:p>
        </p:txBody>
      </p:sp>
      <p:sp>
        <p:nvSpPr>
          <p:cNvPr id="17431" name="Hexagon 17430"/>
          <p:cNvSpPr/>
          <p:nvPr/>
        </p:nvSpPr>
        <p:spPr>
          <a:xfrm rot="5400000">
            <a:off x="365760" y="5202936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749808" y="5184648"/>
            <a:ext cx="110733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Path to deployment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365760" y="5522976"/>
            <a:ext cx="2631186" cy="749808"/>
          </a:xfrm>
          <a:prstGeom prst="roundRect">
            <a:avLst>
              <a:gd name="adj" fmla="val 7000"/>
            </a:avLst>
          </a:prstGeom>
          <a:solidFill>
            <a:srgbClr val="E7F6EE"/>
          </a:solidFill>
          <a:ln w="15875">
            <a:solidFill>
              <a:srgbClr val="94CE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4" name="TextBox 17433"/>
          <p:cNvSpPr txBox="1"/>
          <p:nvPr/>
        </p:nvSpPr>
        <p:spPr>
          <a:xfrm>
            <a:off x="512064" y="5614416"/>
            <a:ext cx="2338578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680" b="1" i="0" spc="140">
                <a:solidFill>
                  <a:srgbClr val="158A5A"/>
                </a:solidFill>
                <a:latin typeface="Calibri"/>
              </a:rPr>
              <a:t>NOW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40" b="1" i="0">
                <a:solidFill>
                  <a:srgbClr val="1B335E"/>
                </a:solidFill>
                <a:latin typeface="Calibri"/>
              </a:rPr>
              <a:t>Working prototype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54627A"/>
                </a:solidFill>
                <a:latin typeface="Calibri"/>
              </a:rPr>
              <a:t>text and PDF carriers, 3-validator ledger, live</a:t>
            </a:r>
          </a:p>
        </p:txBody>
      </p:sp>
      <p:cxnSp>
        <p:nvCxnSpPr>
          <p:cNvPr id="17435" name="Connector 17434"/>
          <p:cNvCxnSpPr/>
          <p:nvPr/>
        </p:nvCxnSpPr>
        <p:spPr>
          <a:xfrm>
            <a:off x="3042665" y="5897880"/>
            <a:ext cx="219457" cy="0"/>
          </a:xfrm>
          <a:prstGeom prst="line">
            <a:avLst/>
          </a:prstGeom>
          <a:ln w="28575">
            <a:solidFill>
              <a:srgbClr val="1B33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6" name="Rounded Rectangle 17435"/>
          <p:cNvSpPr/>
          <p:nvPr/>
        </p:nvSpPr>
        <p:spPr>
          <a:xfrm>
            <a:off x="3307841" y="5522976"/>
            <a:ext cx="2631186" cy="749808"/>
          </a:xfrm>
          <a:prstGeom prst="roundRect">
            <a:avLst>
              <a:gd name="adj" fmla="val 7000"/>
            </a:avLst>
          </a:prstGeom>
          <a:solidFill>
            <a:srgbClr val="F3F6FC"/>
          </a:solidFill>
          <a:ln w="15875">
            <a:solidFill>
              <a:srgbClr val="B6C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7" name="TextBox 17436"/>
          <p:cNvSpPr txBox="1"/>
          <p:nvPr/>
        </p:nvSpPr>
        <p:spPr>
          <a:xfrm>
            <a:off x="3454146" y="5614416"/>
            <a:ext cx="2338578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680" b="1" i="0" spc="140">
                <a:solidFill>
                  <a:srgbClr val="7C8AA3"/>
                </a:solidFill>
                <a:latin typeface="Calibri"/>
              </a:rPr>
              <a:t>NEXT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40" b="1" i="0">
                <a:solidFill>
                  <a:srgbClr val="1B335E"/>
                </a:solidFill>
                <a:latin typeface="Calibri"/>
              </a:rPr>
              <a:t>Content-anchored slots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54627A"/>
                </a:solidFill>
                <a:latin typeface="Calibri"/>
              </a:rPr>
              <a:t>removes the word-insertion weakness</a:t>
            </a:r>
          </a:p>
        </p:txBody>
      </p:sp>
      <p:cxnSp>
        <p:nvCxnSpPr>
          <p:cNvPr id="17438" name="Connector 17437"/>
          <p:cNvCxnSpPr/>
          <p:nvPr/>
        </p:nvCxnSpPr>
        <p:spPr>
          <a:xfrm>
            <a:off x="5984747" y="5897880"/>
            <a:ext cx="219456" cy="0"/>
          </a:xfrm>
          <a:prstGeom prst="line">
            <a:avLst/>
          </a:prstGeom>
          <a:ln w="28575">
            <a:solidFill>
              <a:srgbClr val="1B33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9" name="Rounded Rectangle 17438"/>
          <p:cNvSpPr/>
          <p:nvPr/>
        </p:nvSpPr>
        <p:spPr>
          <a:xfrm>
            <a:off x="6249923" y="5522976"/>
            <a:ext cx="2631186" cy="749808"/>
          </a:xfrm>
          <a:prstGeom prst="roundRect">
            <a:avLst>
              <a:gd name="adj" fmla="val 7000"/>
            </a:avLst>
          </a:prstGeom>
          <a:solidFill>
            <a:srgbClr val="F3F6FC"/>
          </a:solidFill>
          <a:ln w="15875">
            <a:solidFill>
              <a:srgbClr val="B6C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0" name="TextBox 17439"/>
          <p:cNvSpPr txBox="1"/>
          <p:nvPr/>
        </p:nvSpPr>
        <p:spPr>
          <a:xfrm>
            <a:off x="6396227" y="5614416"/>
            <a:ext cx="2338578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680" b="1" i="0" spc="140">
                <a:solidFill>
                  <a:srgbClr val="7C8AA3"/>
                </a:solidFill>
                <a:latin typeface="Calibri"/>
              </a:rPr>
              <a:t>THEN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40" b="1" i="0">
                <a:solidFill>
                  <a:srgbClr val="1B335E"/>
                </a:solidFill>
                <a:latin typeface="Calibri"/>
              </a:rPr>
              <a:t>Departmental pilot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54627A"/>
                </a:solidFill>
                <a:latin typeface="Calibri"/>
              </a:rPr>
              <a:t>validators held by three separate offices</a:t>
            </a:r>
          </a:p>
        </p:txBody>
      </p:sp>
      <p:cxnSp>
        <p:nvCxnSpPr>
          <p:cNvPr id="17441" name="Connector 17440"/>
          <p:cNvCxnSpPr/>
          <p:nvPr/>
        </p:nvCxnSpPr>
        <p:spPr>
          <a:xfrm>
            <a:off x="8926830" y="5897880"/>
            <a:ext cx="219456" cy="0"/>
          </a:xfrm>
          <a:prstGeom prst="line">
            <a:avLst/>
          </a:prstGeom>
          <a:ln w="28575">
            <a:solidFill>
              <a:srgbClr val="1B33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2" name="Rounded Rectangle 17441"/>
          <p:cNvSpPr/>
          <p:nvPr/>
        </p:nvSpPr>
        <p:spPr>
          <a:xfrm>
            <a:off x="9192005" y="5522976"/>
            <a:ext cx="2631186" cy="749808"/>
          </a:xfrm>
          <a:prstGeom prst="roundRect">
            <a:avLst>
              <a:gd name="adj" fmla="val 7000"/>
            </a:avLst>
          </a:prstGeom>
          <a:solidFill>
            <a:srgbClr val="F3F6FC"/>
          </a:solidFill>
          <a:ln w="15875">
            <a:solidFill>
              <a:srgbClr val="B6C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3" name="TextBox 17442"/>
          <p:cNvSpPr txBox="1"/>
          <p:nvPr/>
        </p:nvSpPr>
        <p:spPr>
          <a:xfrm>
            <a:off x="9338309" y="5614416"/>
            <a:ext cx="2338578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680" b="1" i="0" spc="140">
                <a:solidFill>
                  <a:srgbClr val="7C8AA3"/>
                </a:solidFill>
                <a:latin typeface="Calibri"/>
              </a:rPr>
              <a:t>SCALE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40" b="1" i="0">
                <a:solidFill>
                  <a:srgbClr val="1B335E"/>
                </a:solidFill>
                <a:latin typeface="Calibri"/>
              </a:rPr>
              <a:t>Cross-organisation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54627A"/>
                </a:solidFill>
                <a:latin typeface="Calibri"/>
              </a:rPr>
              <a:t>one validator per participating body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E1F42"/>
          </a:solidFill>
          <a:ln w="19050">
            <a:solidFill>
              <a:srgbClr val="F2790D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NOX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Hexagon 17409"/>
          <p:cNvSpPr/>
          <p:nvPr/>
        </p:nvSpPr>
        <p:spPr>
          <a:xfrm rot="5400000">
            <a:off x="365760" y="1161288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749808" y="1143000"/>
            <a:ext cx="5321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Potential impact on the target audience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65760" y="1572768"/>
            <a:ext cx="5705856" cy="1700784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 w="15875">
            <a:solidFill>
              <a:srgbClr val="B6C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530352" y="1682496"/>
            <a:ext cx="537667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40" b="1">
                <a:solidFill>
                  <a:srgbClr val="1B335E"/>
                </a:solidFill>
                <a:latin typeface="Calibri"/>
              </a:rPr>
              <a:t>Service headquarters. </a:t>
            </a:r>
            <a:r>
              <a:rPr sz="940" b="0">
                <a:solidFill>
                  <a:srgbClr val="54627A"/>
                </a:solidFill>
                <a:latin typeface="Calibri"/>
              </a:rPr>
              <a:t>Operational orders and classified assessments become individually accountable, not collectively deniable.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40" b="1">
                <a:solidFill>
                  <a:srgbClr val="1B335E"/>
                </a:solidFill>
                <a:latin typeface="Calibri"/>
              </a:rPr>
              <a:t>Defence procurement. </a:t>
            </a:r>
            <a:r>
              <a:rPr sz="940" b="0">
                <a:solidFill>
                  <a:srgbClr val="54627A"/>
                </a:solidFill>
                <a:latin typeface="Calibri"/>
              </a:rPr>
              <a:t>Tender documents and technical specifications reach vendors traceably; a pre-bid leak has an owner.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40" b="1">
                <a:solidFill>
                  <a:srgbClr val="1B335E"/>
                </a:solidFill>
                <a:latin typeface="Calibri"/>
              </a:rPr>
              <a:t>DRDO and defence PSUs. </a:t>
            </a:r>
            <a:r>
              <a:rPr sz="940" b="0">
                <a:solidFill>
                  <a:srgbClr val="54627A"/>
                </a:solidFill>
                <a:latin typeface="Calibri"/>
              </a:rPr>
              <a:t>Design data shared with partners and contractors carries a non-repudiable receipt per recipient.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40" b="1">
                <a:solidFill>
                  <a:srgbClr val="1B335E"/>
                </a:solidFill>
                <a:latin typeface="Calibri"/>
              </a:rPr>
              <a:t>Inter-agency sharing. </a:t>
            </a:r>
            <a:r>
              <a:rPr sz="940" b="0">
                <a:solidFill>
                  <a:srgbClr val="54627A"/>
                </a:solidFill>
                <a:latin typeface="Calibri"/>
              </a:rPr>
              <a:t>Intelligence keeps its provenance without a central authority anyone has to trust.</a:t>
            </a:r>
          </a:p>
        </p:txBody>
      </p:sp>
      <p:sp>
        <p:nvSpPr>
          <p:cNvPr id="17414" name="Hexagon 17413"/>
          <p:cNvSpPr/>
          <p:nvPr/>
        </p:nvSpPr>
        <p:spPr>
          <a:xfrm rot="5400000">
            <a:off x="6336792" y="1161288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6720840" y="1143000"/>
            <a:ext cx="5321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Benefits of the solution (social, economic, environmental)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6336792" y="1572768"/>
            <a:ext cx="5705856" cy="1700784"/>
          </a:xfrm>
          <a:prstGeom prst="roundRect">
            <a:avLst>
              <a:gd name="adj" fmla="val 6000"/>
            </a:avLst>
          </a:prstGeom>
          <a:solidFill>
            <a:srgbClr val="E7F6EE"/>
          </a:solidFill>
          <a:ln w="15875">
            <a:solidFill>
              <a:srgbClr val="94CE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TextBox 17416"/>
          <p:cNvSpPr txBox="1"/>
          <p:nvPr/>
        </p:nvSpPr>
        <p:spPr>
          <a:xfrm>
            <a:off x="6501384" y="1682496"/>
            <a:ext cx="537667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900" b="1">
                <a:solidFill>
                  <a:srgbClr val="158A5A"/>
                </a:solidFill>
                <a:latin typeface="Calibri"/>
              </a:rPr>
              <a:t>Deterrence is the real product. </a:t>
            </a:r>
            <a:r>
              <a:rPr sz="900" b="0">
                <a:solidFill>
                  <a:srgbClr val="54627A"/>
                </a:solidFill>
                <a:latin typeface="Calibri"/>
              </a:rPr>
              <a:t>When every holder knows their copy is individually accountable, most leaks never happen.</a:t>
            </a:r>
          </a:p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900" b="1">
                <a:solidFill>
                  <a:srgbClr val="158A5A"/>
                </a:solidFill>
                <a:latin typeface="Calibri"/>
              </a:rPr>
              <a:t>Protects the accused too. </a:t>
            </a:r>
            <a:r>
              <a:rPr sz="900" b="0">
                <a:solidFill>
                  <a:srgbClr val="54627A"/>
                </a:solidFill>
                <a:latin typeface="Calibri"/>
              </a:rPr>
              <a:t>A stated error probability and a refusal to guess are what stop an innocent officer being named.</a:t>
            </a:r>
          </a:p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900" b="1">
                <a:solidFill>
                  <a:srgbClr val="158A5A"/>
                </a:solidFill>
                <a:latin typeface="Calibri"/>
              </a:rPr>
              <a:t>Zero licensing cost. </a:t>
            </a:r>
            <a:r>
              <a:rPr sz="900" b="0">
                <a:solidFill>
                  <a:srgbClr val="54627A"/>
                </a:solidFill>
                <a:latin typeface="Calibri"/>
              </a:rPr>
              <a:t>Open-source and free-tier; per-department rollout cost is effectively nil.</a:t>
            </a:r>
          </a:p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900" b="1">
                <a:solidFill>
                  <a:srgbClr val="158A5A"/>
                </a:solidFill>
                <a:latin typeface="Calibri"/>
              </a:rPr>
              <a:t>Quantum-durable. </a:t>
            </a:r>
            <a:r>
              <a:rPr sz="900" b="0">
                <a:solidFill>
                  <a:srgbClr val="54627A"/>
                </a:solidFill>
                <a:latin typeface="Calibri"/>
              </a:rPr>
              <a:t>A defence assessment stays sensitive for decades; FIPS 203/204 resist harvest-now-decrypt-later.</a:t>
            </a:r>
          </a:p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900" b="1">
                <a:solidFill>
                  <a:srgbClr val="158A5A"/>
                </a:solidFill>
                <a:latin typeface="Calibri"/>
              </a:rPr>
              <a:t>Scales unchanged. </a:t>
            </a:r>
            <a:r>
              <a:rPr sz="900" b="0">
                <a:solidFill>
                  <a:srgbClr val="54627A"/>
                </a:solidFill>
                <a:latin typeface="Calibri"/>
              </a:rPr>
              <a:t>Any organisation distributing to a named list — only the list changes.</a:t>
            </a:r>
          </a:p>
        </p:txBody>
      </p:sp>
      <p:sp>
        <p:nvSpPr>
          <p:cNvPr id="17418" name="Hexagon 17417"/>
          <p:cNvSpPr/>
          <p:nvPr/>
        </p:nvSpPr>
        <p:spPr>
          <a:xfrm rot="5400000">
            <a:off x="365760" y="3410712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749808" y="3392424"/>
            <a:ext cx="110733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What changes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365760" y="3785615"/>
            <a:ext cx="5705856" cy="768096"/>
          </a:xfrm>
          <a:prstGeom prst="roundRect">
            <a:avLst>
              <a:gd name="adj" fmla="val 6000"/>
            </a:avLst>
          </a:prstGeom>
          <a:solidFill>
            <a:srgbClr val="FDEEEE"/>
          </a:solidFill>
          <a:ln w="15875">
            <a:solidFill>
              <a:srgbClr val="E3AF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TextBox 17420"/>
          <p:cNvSpPr txBox="1"/>
          <p:nvPr/>
        </p:nvSpPr>
        <p:spPr>
          <a:xfrm>
            <a:off x="548640" y="3904487"/>
            <a:ext cx="5340096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19" b="1" i="0" spc="140">
                <a:solidFill>
                  <a:srgbClr val="B3222C"/>
                </a:solidFill>
                <a:latin typeface="Calibri"/>
              </a:rPr>
              <a:t>TODAY</a:t>
            </a:r>
            <a:r>
              <a:rPr sz="860" b="0" i="0">
                <a:solidFill>
                  <a:srgbClr val="54627A"/>
                </a:solidFill>
                <a:latin typeface="Calibri"/>
              </a:rPr>
              <a:t>▪  Every cleared recipient is an equally plausible suspect.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54627A"/>
                </a:solidFill>
                <a:latin typeface="Calibri"/>
              </a:rPr>
              <a:t>▪  Access logs can be edited by the administrator who holds them.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54627A"/>
                </a:solidFill>
                <a:latin typeface="Calibri"/>
              </a:rPr>
              <a:t>▪  One identical watermark for all recipients attributes nothing.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6336792" y="3785615"/>
            <a:ext cx="5705856" cy="768096"/>
          </a:xfrm>
          <a:prstGeom prst="roundRect">
            <a:avLst>
              <a:gd name="adj" fmla="val 6000"/>
            </a:avLst>
          </a:prstGeom>
          <a:solidFill>
            <a:srgbClr val="0E1F42"/>
          </a:solidFill>
          <a:ln w="19050">
            <a:solidFill>
              <a:srgbClr val="22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TextBox 17422"/>
          <p:cNvSpPr txBox="1"/>
          <p:nvPr/>
        </p:nvSpPr>
        <p:spPr>
          <a:xfrm>
            <a:off x="6519672" y="3904487"/>
            <a:ext cx="5340096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19" b="1" i="0" spc="140">
                <a:solidFill>
                  <a:srgbClr val="22B173"/>
                </a:solidFill>
                <a:latin typeface="Calibri"/>
              </a:rPr>
              <a:t>WITH PQFW</a:t>
            </a:r>
            <a:r>
              <a:rPr sz="860" b="0" i="0">
                <a:solidFill>
                  <a:srgbClr val="A9BEDF"/>
                </a:solidFill>
                <a:latin typeface="Calibri"/>
              </a:rPr>
              <a:t>▪  A leaked copy names one recipient and one decryption session.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A9BEDF"/>
                </a:solidFill>
                <a:latin typeface="Calibri"/>
              </a:rPr>
              <a:t>▪  Records replicated 3 ways; one compromised admin is out-voted.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A9BEDF"/>
                </a:solidFill>
                <a:latin typeface="Calibri"/>
              </a:rPr>
              <a:t>▪  Every copy distinct, and the accusation carries a provable bound.</a:t>
            </a:r>
          </a:p>
        </p:txBody>
      </p:sp>
      <p:sp>
        <p:nvSpPr>
          <p:cNvPr id="17424" name="Hexagon 17423"/>
          <p:cNvSpPr/>
          <p:nvPr/>
        </p:nvSpPr>
        <p:spPr>
          <a:xfrm rot="5400000">
            <a:off x="365760" y="4727448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749808" y="4709159"/>
            <a:ext cx="110733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Cost of running it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 i="1">
                <a:solidFill>
                  <a:srgbClr val="7C8AA3"/>
                </a:solidFill>
                <a:latin typeface="Calibri"/>
              </a:rPr>
              <a:t>measured on the running prototype, not projected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365760" y="5157216"/>
            <a:ext cx="11457432" cy="1024128"/>
          </a:xfrm>
          <a:prstGeom prst="roundRect">
            <a:avLst>
              <a:gd name="adj" fmla="val 3500"/>
            </a:avLst>
          </a:prstGeom>
          <a:solidFill>
            <a:srgbClr val="0E1F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TextBox 17426"/>
          <p:cNvSpPr txBox="1"/>
          <p:nvPr/>
        </p:nvSpPr>
        <p:spPr>
          <a:xfrm>
            <a:off x="548640" y="5413248"/>
            <a:ext cx="221833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116 KB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0" i="0">
                <a:solidFill>
                  <a:srgbClr val="A9BEDF"/>
                </a:solidFill>
                <a:latin typeface="Calibri"/>
              </a:rPr>
              <a:t>shared ciphertext —
the same bytes for everyone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2766974" y="5413248"/>
            <a:ext cx="221833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34 KB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0" i="0">
                <a:solidFill>
                  <a:srgbClr val="A9BEDF"/>
                </a:solidFill>
                <a:latin typeface="Calibri"/>
              </a:rPr>
              <a:t>per recipient, and
independent of N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4985308" y="5413248"/>
            <a:ext cx="221833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22B173"/>
                </a:solidFill>
                <a:latin typeface="Calibri"/>
              </a:rPr>
              <a:t>0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0" i="0">
                <a:solidFill>
                  <a:srgbClr val="A9BEDF"/>
                </a:solidFill>
                <a:latin typeface="Calibri"/>
              </a:rPr>
              <a:t>GPUs, HSMs and
cloud services required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7203643" y="5413248"/>
            <a:ext cx="221833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22B173"/>
                </a:solidFill>
                <a:latin typeface="Calibri"/>
              </a:rPr>
              <a:t>₹0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0" i="0">
                <a:solidFill>
                  <a:srgbClr val="A9BEDF"/>
                </a:solidFill>
                <a:latin typeface="Calibri"/>
              </a:rPr>
              <a:t>licensing cost —
open-source throughout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9421977" y="5413248"/>
            <a:ext cx="221833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F2790D"/>
                </a:solidFill>
                <a:latin typeface="Calibri"/>
              </a:rPr>
              <a:t>&lt; 1 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0" i="0">
                <a:solidFill>
                  <a:srgbClr val="A9BEDF"/>
                </a:solidFill>
                <a:latin typeface="Calibri"/>
              </a:rPr>
              <a:t>to trace a leak against
1,000 recipients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E1F42"/>
          </a:solidFill>
          <a:ln w="19050">
            <a:solidFill>
              <a:srgbClr val="F2790D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NOX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Hexagon 17409"/>
          <p:cNvSpPr/>
          <p:nvPr/>
        </p:nvSpPr>
        <p:spPr>
          <a:xfrm rot="5400000">
            <a:off x="365760" y="1161288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749808" y="1143000"/>
            <a:ext cx="33009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Standards and specifications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365760" y="1572768"/>
            <a:ext cx="3685032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919" b="1">
                <a:solidFill>
                  <a:srgbClr val="1B335E"/>
                </a:solidFill>
                <a:latin typeface="Calibri"/>
              </a:rPr>
              <a:t>FIPS 203 (2024)  </a:t>
            </a:r>
            <a:r>
              <a:rPr sz="919" b="0">
                <a:solidFill>
                  <a:srgbClr val="54627A"/>
                </a:solidFill>
                <a:latin typeface="Calibri"/>
              </a:rPr>
              <a:t>Module-Lattice-Based Key-Encapsulation Mechanism — ML-KEM. NIST.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919" b="1">
                <a:solidFill>
                  <a:srgbClr val="1B335E"/>
                </a:solidFill>
                <a:latin typeface="Calibri"/>
              </a:rPr>
              <a:t>FIPS 204 (2024)  </a:t>
            </a:r>
            <a:r>
              <a:rPr sz="919" b="0">
                <a:solidFill>
                  <a:srgbClr val="54627A"/>
                </a:solidFill>
                <a:latin typeface="Calibri"/>
              </a:rPr>
              <a:t>Module-Lattice-Based Digital Signature Standard — ML-DSA. NIST.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919" b="1">
                <a:solidFill>
                  <a:srgbClr val="1B335E"/>
                </a:solidFill>
                <a:latin typeface="Calibri"/>
              </a:rPr>
              <a:t>FIPS 202  </a:t>
            </a:r>
            <a:r>
              <a:rPr sz="919" b="0">
                <a:solidFill>
                  <a:srgbClr val="54627A"/>
                </a:solidFill>
                <a:latin typeface="Calibri"/>
              </a:rPr>
              <a:t>SHA-3 permutation-based hash and extendable-output functions.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919" b="1">
                <a:solidFill>
                  <a:srgbClr val="1B335E"/>
                </a:solidFill>
                <a:latin typeface="Calibri"/>
              </a:rPr>
              <a:t>NIST SP 800-38D  </a:t>
            </a:r>
            <a:r>
              <a:rPr sz="919" b="0">
                <a:solidFill>
                  <a:srgbClr val="54627A"/>
                </a:solidFill>
                <a:latin typeface="Calibri"/>
              </a:rPr>
              <a:t>Galois/Counter Mode for AES, used for every ciphertext here.</a:t>
            </a:r>
          </a:p>
        </p:txBody>
      </p:sp>
      <p:sp>
        <p:nvSpPr>
          <p:cNvPr id="17413" name="Hexagon 17412"/>
          <p:cNvSpPr/>
          <p:nvPr/>
        </p:nvSpPr>
        <p:spPr>
          <a:xfrm rot="5400000">
            <a:off x="4251960" y="1161288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4636008" y="1143000"/>
            <a:ext cx="33009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Methods and literature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4251960" y="1572768"/>
            <a:ext cx="3685032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919" b="1">
                <a:solidFill>
                  <a:srgbClr val="1B335E"/>
                </a:solidFill>
                <a:latin typeface="Calibri"/>
              </a:rPr>
              <a:t>Tardos (2003)  </a:t>
            </a:r>
            <a:r>
              <a:rPr sz="919" b="0">
                <a:solidFill>
                  <a:srgbClr val="54627A"/>
                </a:solidFill>
                <a:latin typeface="Calibri"/>
              </a:rPr>
              <a:t>Optimal probabilistic fingerprint codes. STOC.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919" b="1">
                <a:solidFill>
                  <a:srgbClr val="1B335E"/>
                </a:solidFill>
                <a:latin typeface="Calibri"/>
              </a:rPr>
              <a:t>Škorić et al. (2008)  </a:t>
            </a:r>
            <a:r>
              <a:rPr sz="919" b="0">
                <a:solidFill>
                  <a:srgbClr val="54627A"/>
                </a:solidFill>
                <a:latin typeface="Calibri"/>
              </a:rPr>
              <a:t>Symmetric Tardos fingerprinting codes. Designs, Codes and Cryptography.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919" b="1">
                <a:solidFill>
                  <a:srgbClr val="1B335E"/>
                </a:solidFill>
                <a:latin typeface="Calibri"/>
              </a:rPr>
              <a:t>Boneh &amp; Shaw (1998)  </a:t>
            </a:r>
            <a:r>
              <a:rPr sz="919" b="0">
                <a:solidFill>
                  <a:srgbClr val="54627A"/>
                </a:solidFill>
                <a:latin typeface="Calibri"/>
              </a:rPr>
              <a:t>Collusion-secure fingerprinting for digital data. IEEE Trans. Inf. Theory.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919" b="1">
                <a:solidFill>
                  <a:srgbClr val="1B335E"/>
                </a:solidFill>
                <a:latin typeface="Calibri"/>
              </a:rPr>
              <a:t>Open Quantum Safe  </a:t>
            </a:r>
            <a:r>
              <a:rPr sz="919" b="0">
                <a:solidFill>
                  <a:srgbClr val="54627A"/>
                </a:solidFill>
                <a:latin typeface="Calibri"/>
              </a:rPr>
              <a:t>liboqs — the C library providing both mechanisms used here.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919" b="1">
                <a:solidFill>
                  <a:srgbClr val="1B335E"/>
                </a:solidFill>
                <a:latin typeface="Calibri"/>
              </a:rPr>
              <a:t>Brakerski–Fan–Vercauteren  </a:t>
            </a:r>
            <a:r>
              <a:rPr sz="919" b="0">
                <a:solidFill>
                  <a:srgbClr val="54627A"/>
                </a:solidFill>
                <a:latin typeface="Calibri"/>
              </a:rPr>
              <a:t>Somewhat-homomorphic encryption; the route to post-quantum asymmetric fingerprinting. Future work.</a:t>
            </a:r>
          </a:p>
        </p:txBody>
      </p:sp>
      <p:sp>
        <p:nvSpPr>
          <p:cNvPr id="17416" name="Hexagon 17415"/>
          <p:cNvSpPr/>
          <p:nvPr/>
        </p:nvSpPr>
        <p:spPr>
          <a:xfrm rot="5400000">
            <a:off x="8138160" y="1161288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8522208" y="1143000"/>
            <a:ext cx="33009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Our work — live and inspectable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8138160" y="1572768"/>
            <a:ext cx="3685032" cy="1005840"/>
          </a:xfrm>
          <a:prstGeom prst="roundRect">
            <a:avLst>
              <a:gd name="adj" fmla="val 7000"/>
            </a:avLst>
          </a:prstGeom>
          <a:solidFill>
            <a:srgbClr val="0E1F42"/>
          </a:solidFill>
          <a:ln w="19050">
            <a:solidFill>
              <a:srgbClr val="F279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19" name="Picture 17418" descr="qr_li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6176" y="1700784"/>
            <a:ext cx="749808" cy="749808"/>
          </a:xfrm>
          <a:prstGeom prst="rect">
            <a:avLst/>
          </a:prstGeom>
        </p:spPr>
      </p:pic>
      <p:sp>
        <p:nvSpPr>
          <p:cNvPr id="17420" name="TextBox 17419"/>
          <p:cNvSpPr txBox="1"/>
          <p:nvPr/>
        </p:nvSpPr>
        <p:spPr>
          <a:xfrm>
            <a:off x="9125712" y="1719072"/>
            <a:ext cx="2551176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700" b="1" i="0" spc="120">
                <a:solidFill>
                  <a:srgbClr val="F2790D"/>
                </a:solidFill>
                <a:latin typeface="Calibri"/>
              </a:rPr>
              <a:t>WORKING PROTOTYPE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pqfw.onrender.com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A9BEDF"/>
                </a:solidFill>
                <a:latin typeface="Calibri"/>
              </a:rPr>
              <a:t>Five guided steps, real post-quantum cryptography server-side.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8138160" y="2688336"/>
            <a:ext cx="3685032" cy="877824"/>
          </a:xfrm>
          <a:prstGeom prst="roundRect">
            <a:avLst>
              <a:gd name="adj" fmla="val 7000"/>
            </a:avLst>
          </a:prstGeom>
          <a:solidFill>
            <a:srgbClr val="F3F6FC"/>
          </a:solidFill>
          <a:ln w="15875">
            <a:solidFill>
              <a:srgbClr val="B6C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TextBox 17421"/>
          <p:cNvSpPr txBox="1"/>
          <p:nvPr/>
        </p:nvSpPr>
        <p:spPr>
          <a:xfrm>
            <a:off x="8284464" y="2779776"/>
            <a:ext cx="339242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700" b="1" i="0" spc="120">
                <a:solidFill>
                  <a:srgbClr val="1B335E"/>
                </a:solidFill>
                <a:latin typeface="Calibri"/>
              </a:rPr>
              <a:t>EVALUATION AND ATTACK RESULTS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730" b="1" i="0">
                <a:solidFill>
                  <a:srgbClr val="1B335E"/>
                </a:solidFill>
                <a:latin typeface="Calibri"/>
              </a:rPr>
              <a:t>evildeity-pqfw-post-quantum-watermarking.static.hf.space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54627A"/>
                </a:solidFill>
                <a:latin typeface="Calibri"/>
              </a:rPr>
              <a:t>Every figure produced by executing the library, commit recorded.</a:t>
            </a:r>
          </a:p>
        </p:txBody>
      </p:sp>
      <p:sp>
        <p:nvSpPr>
          <p:cNvPr id="17423" name="Hexagon 17422"/>
          <p:cNvSpPr/>
          <p:nvPr/>
        </p:nvSpPr>
        <p:spPr>
          <a:xfrm rot="5400000">
            <a:off x="365760" y="3941064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749808" y="3922776"/>
            <a:ext cx="110733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Every requirement in SIH26237, and where it is met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 i="1">
                <a:solidFill>
                  <a:srgbClr val="7C8AA3"/>
                </a:solidFill>
                <a:latin typeface="Calibri"/>
              </a:rPr>
              <a:t>each one exercised by an automated test and by a step of the live demo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365760" y="4370832"/>
            <a:ext cx="11457432" cy="1847088"/>
          </a:xfrm>
          <a:prstGeom prst="roundRect">
            <a:avLst>
              <a:gd name="adj" fmla="val 3500"/>
            </a:avLst>
          </a:prstGeom>
          <a:solidFill>
            <a:srgbClr val="0E1F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TextBox 17425"/>
          <p:cNvSpPr txBox="1"/>
          <p:nvPr/>
        </p:nvSpPr>
        <p:spPr>
          <a:xfrm>
            <a:off x="585216" y="4535424"/>
            <a:ext cx="54361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22B173"/>
                </a:solidFill>
                <a:latin typeface="Calibri"/>
              </a:rPr>
              <a:t>✓  </a:t>
            </a:r>
            <a:r>
              <a:rPr sz="880" b="0">
                <a:solidFill>
                  <a:srgbClr val="A9BEDF"/>
                </a:solidFill>
                <a:latin typeface="Calibri"/>
              </a:rPr>
              <a:t>Unique invisible forensic watermark at the moment of decryption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585216" y="4809744"/>
            <a:ext cx="54361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22B173"/>
                </a:solidFill>
                <a:latin typeface="Calibri"/>
              </a:rPr>
              <a:t>✓  </a:t>
            </a:r>
            <a:r>
              <a:rPr sz="880" b="0">
                <a:solidFill>
                  <a:srgbClr val="A9BEDF"/>
                </a:solidFill>
                <a:latin typeface="Calibri"/>
              </a:rPr>
              <a:t>Specific to each recipient and each decryption session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585216" y="5084064"/>
            <a:ext cx="54361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22B173"/>
                </a:solidFill>
                <a:latin typeface="Calibri"/>
              </a:rPr>
              <a:t>✓  </a:t>
            </a:r>
            <a:r>
              <a:rPr sz="880" b="0">
                <a:solidFill>
                  <a:srgbClr val="A9BEDF"/>
                </a:solidFill>
                <a:latin typeface="Calibri"/>
              </a:rPr>
              <a:t>Every copy visually identical, forensically distinct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585216" y="5358383"/>
            <a:ext cx="54361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22B173"/>
                </a:solidFill>
                <a:latin typeface="Calibri"/>
              </a:rPr>
              <a:t>✓  </a:t>
            </a:r>
            <a:r>
              <a:rPr sz="880" b="0">
                <a:solidFill>
                  <a:srgbClr val="A9BEDF"/>
                </a:solidFill>
                <a:latin typeface="Calibri"/>
              </a:rPr>
              <a:t>Each decryption cryptographically bound to the recipient's identity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585216" y="5632704"/>
            <a:ext cx="54361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22B173"/>
                </a:solidFill>
                <a:latin typeface="Calibri"/>
              </a:rPr>
              <a:t>✓  </a:t>
            </a:r>
            <a:r>
              <a:rPr sz="880" b="0">
                <a:solidFill>
                  <a:srgbClr val="A9BEDF"/>
                </a:solidFill>
                <a:latin typeface="Calibri"/>
              </a:rPr>
              <a:t>Signature generated with the recipient's own private key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585216" y="5907024"/>
            <a:ext cx="54361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22B173"/>
                </a:solidFill>
                <a:latin typeface="Calibri"/>
              </a:rPr>
              <a:t>✓  </a:t>
            </a:r>
            <a:r>
              <a:rPr sz="880" b="0">
                <a:solidFill>
                  <a:srgbClr val="A9BEDF"/>
                </a:solidFill>
                <a:latin typeface="Calibri"/>
              </a:rPr>
              <a:t>NIST-standardised PQC for key exchange and digital signatures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6112764" y="4535424"/>
            <a:ext cx="54361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22B173"/>
                </a:solidFill>
                <a:latin typeface="Calibri"/>
              </a:rPr>
              <a:t>✓  </a:t>
            </a:r>
            <a:r>
              <a:rPr sz="880" b="0">
                <a:solidFill>
                  <a:srgbClr val="A9BEDF"/>
                </a:solidFill>
                <a:latin typeface="Calibri"/>
              </a:rPr>
              <a:t>Immutable audit layer implemented as a distributed ledger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6112764" y="4809744"/>
            <a:ext cx="54361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22B173"/>
                </a:solidFill>
                <a:latin typeface="Calibri"/>
              </a:rPr>
              <a:t>✓  </a:t>
            </a:r>
            <a:r>
              <a:rPr sz="880" b="0">
                <a:solidFill>
                  <a:srgbClr val="A9BEDF"/>
                </a:solidFill>
                <a:latin typeface="Calibri"/>
              </a:rPr>
              <a:t>No single administrator or compromised account can alter records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6112764" y="5084064"/>
            <a:ext cx="54361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22B173"/>
                </a:solidFill>
                <a:latin typeface="Calibri"/>
              </a:rPr>
              <a:t>✓  </a:t>
            </a:r>
            <a:r>
              <a:rPr sz="880" b="0">
                <a:solidFill>
                  <a:srgbClr val="A9BEDF"/>
                </a:solidFill>
                <a:latin typeface="Calibri"/>
              </a:rPr>
              <a:t>Extract the watermark, match it against the ledger, verify it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6112764" y="5358383"/>
            <a:ext cx="54361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22B173"/>
                </a:solidFill>
                <a:latin typeface="Calibri"/>
              </a:rPr>
              <a:t>✓  </a:t>
            </a:r>
            <a:r>
              <a:rPr sz="880" b="0">
                <a:solidFill>
                  <a:srgbClr val="A9BEDF"/>
                </a:solidFill>
                <a:latin typeface="Calibri"/>
              </a:rPr>
              <a:t>Complete operation offline and air-gapped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6112764" y="5632704"/>
            <a:ext cx="54361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22B173"/>
                </a:solidFill>
                <a:latin typeface="Calibri"/>
              </a:rPr>
              <a:t>✓  </a:t>
            </a:r>
            <a:r>
              <a:rPr sz="880" b="0">
                <a:solidFill>
                  <a:srgbClr val="A9BEDF"/>
                </a:solidFill>
                <a:latin typeface="Calibri"/>
              </a:rPr>
              <a:t>No dependency on external cloud KMS services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6112764" y="5907024"/>
            <a:ext cx="54361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22B173"/>
                </a:solidFill>
                <a:latin typeface="Calibri"/>
              </a:rPr>
              <a:t>✓  </a:t>
            </a:r>
            <a:r>
              <a:rPr sz="880" b="0">
                <a:solidFill>
                  <a:srgbClr val="A9BEDF"/>
                </a:solidFill>
                <a:latin typeface="Calibri"/>
              </a:rPr>
              <a:t>No dependency on public blockchain networks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