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core idea in one sentence: the fingerprint is a consequence of which decryption keys you hold, not of software choosing to add a watermark. Each mark slot is written two ways that look identical and encrypted under different keys; you get one key per slot. The other rendering is an AES-GCM tag failure for you. There is no unmarked copy anywhere — not even on our own disk. Bottom left is a real verdict from the running system.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Three stages, all offline. Distribute: one ciphertext for everybody plus a 14 KB key bundle each. Decrypt: the recipient spends one credential, gets a uniquely marked copy, and signs an ML-DSA-65 receipt with their own key — that is the non-repudiation. Record: three validators independently verify that receipt and commit it 2-of-3. Trace: extract the marks, score them, check the ledger. No cloud KMS, no public chain, no network call at any point.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We are honest about what breaks it. Two attacks still win — stripping invisible characters, and retyping — and both are measured and published rather than hidden. It was four until we anchored slot addresses to the text before them instead of to a position; prepending or deleting one word went from 51% bit error to zero. What is left cannot be fixed by addressing: those two delete the marks rather than move them. The point is the failure mode: when an attack wins the system fails to identify anybody. Both curves are drawn straight from the evaluation CSVs. The left one is the whole argument in one picture: as you destroy the marks the green line falls, and the orange line — naming the wrong person — stays flat on zero the entire way. The bottom row is the actual next four steps, not an aspiration.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Ministry of Defence context: service HQ, procurement, DRDO and partners, inter-agency sharing. The real product is deterrence — when every holder knows their copy is individually accountable, most leaks never happen. And it protects the accused as much as it exposes the leaker: a stated error probability and a refusal to guess are what stop an innocent officer being named.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Every requirement in the problem statement, and every one is exercised by an automated test and by a step of the live demo — 170 tests. Two things we do not claim: this proves traceability, not unframeability, because the distributor knows the codewords; and post-quantum asymmetric fingerprinting has no drop-in construction yet, so we say so rather than pretending. Scan the code and try to break it.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statement SIH26237, Ministry of Defence. One document goes to many cleared recipients; it leaks; today every one of them is an equally plausible suspect. We built PQFW, and it is running right now at the address on this slide — scan the code and follow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4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5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image" Target="../media/image26.png"/><Relationship Id="rId25" Type="http://schemas.openxmlformats.org/officeDocument/2006/relationships/image" Target="../media/image27.png"/><Relationship Id="rId26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0" y="914400"/>
            <a:ext cx="6510528" cy="5943600"/>
          </a:xfrm>
          <a:prstGeom prst="roundRect">
            <a:avLst>
              <a:gd name="adj" fmla="val 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30352" y="1133856"/>
            <a:ext cx="5486400" cy="932688"/>
          </a:xfrm>
        </p:spPr>
        <p:txBody>
          <a:bodyPr lIns="0" r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PQFW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2790D"/>
                </a:solidFill>
                <a:latin typeface="Calibri"/>
              </a:rPr>
              <a:t>Post-Quantum Forensic Watermarking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596896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755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broadcast to every cleared recipient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21991" y="2724912"/>
            <a:ext cx="182881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5059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inger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464" y="25968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90779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N distinct copies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each keyed to one person and one session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2724912"/>
            <a:ext cx="18288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37083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verdi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704" y="2596896"/>
            <a:ext cx="256032" cy="2560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82803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a leak traced, with a provable error bound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Problem Statement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SIH26237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Organisation   </a:t>
            </a:r>
            <a:r>
              <a:rPr sz="860" b="1">
                <a:solidFill>
                  <a:srgbClr val="FFFFFF"/>
                </a:solidFill>
                <a:latin typeface="Calibri"/>
              </a:rPr>
              <a:t>Ministry of Defence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—  (to be assigned on the portal)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PS Category   </a:t>
            </a:r>
            <a:r>
              <a:rPr sz="860" b="1">
                <a:solidFill>
                  <a:srgbClr val="FFFFFF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Theme   </a:t>
            </a:r>
            <a:r>
              <a:rPr sz="860" b="1">
                <a:solidFill>
                  <a:srgbClr val="FFFFFF"/>
                </a:solidFill>
                <a:latin typeface="Calibri"/>
              </a:rPr>
              <a:t>Blockchain &amp; Cybersecurity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Name   </a:t>
            </a:r>
            <a:r>
              <a:rPr sz="860" b="1">
                <a:solidFill>
                  <a:srgbClr val="FFFFFF"/>
                </a:solidFill>
                <a:latin typeface="Calibri"/>
              </a:rPr>
              <a:t>NOX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4114800"/>
            <a:ext cx="54864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PROBLEM STATEMENT TITLE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Calibri"/>
              </a:rPr>
              <a:t>Cryptographic Attribution and Immutable Decryption Provenance for Multi-Recipient Encrypted Document Distribution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" y="4809744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qr_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983480"/>
            <a:ext cx="877824" cy="87782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82496" y="4992624"/>
            <a:ext cx="42062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 i="0" spc="120">
                <a:solidFill>
                  <a:srgbClr val="158A5A"/>
                </a:solidFill>
                <a:latin typeface="Calibri"/>
              </a:rPr>
              <a:t>LIVE WORKING PROTOTYPE  ·  SCAN IT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400" b="1" i="0">
                <a:solidFill>
                  <a:srgbClr val="0E1F42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4627A"/>
                </a:solidFill>
                <a:latin typeface="Calibri"/>
              </a:rPr>
              <a:t>Real ML-KEM-768 / ML-DSA-65 computed server-side.  Evaluation and attack results: evildeity-pqfw-post-quantum-watermarking.static.hf.space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6181344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TEAM NOX  ·  INTERNATIONAL INSTITUTE OF INFORMATION TECHNOLOGY, BHUBANESWAR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Calibri"/>
              </a:rPr>
              <a:t>Alok Ranjan Tripathy  ·  Subhashree Dash  ·  Krishna Mohanty  ·  Tanisth Das  ·  Bineet Lenka  ·  Shreyas Changder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5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PQFW — A LEAK THAT NAMES ITSELF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Hexagon 15361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749808" y="1143000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Proposed Solution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65760" y="1554480"/>
            <a:ext cx="7223760" cy="21579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85216" y="1645920"/>
            <a:ext cx="4937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A9BEDF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85216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7" name="Picture 15366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292" y="2020824"/>
            <a:ext cx="274320" cy="274320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649224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Split the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base body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+ m invisible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mark slots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2103120" y="2478024"/>
            <a:ext cx="219456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2350008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1" name="Picture 15370" descr="twocop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084" y="2020824"/>
            <a:ext cx="274320" cy="274320"/>
          </a:xfrm>
          <a:prstGeom prst="rect">
            <a:avLst/>
          </a:prstGeom>
        </p:spPr>
      </p:pic>
      <p:sp>
        <p:nvSpPr>
          <p:cNvPr id="15372" name="TextBox 15371"/>
          <p:cNvSpPr txBox="1"/>
          <p:nvPr/>
        </p:nvSpPr>
        <p:spPr>
          <a:xfrm>
            <a:off x="2414015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Two renderings, two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identical to read,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encrypted under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different keys</a:t>
            </a:r>
          </a:p>
        </p:txBody>
      </p:sp>
      <p:cxnSp>
        <p:nvCxnSpPr>
          <p:cNvPr id="15373" name="Connector 15372"/>
          <p:cNvCxnSpPr/>
          <p:nvPr/>
        </p:nvCxnSpPr>
        <p:spPr>
          <a:xfrm>
            <a:off x="3867911" y="2478024"/>
            <a:ext cx="219457" cy="0"/>
          </a:xfrm>
          <a:prstGeom prst="line">
            <a:avLst/>
          </a:prstGeom>
          <a:ln w="28575">
            <a:solidFill>
              <a:srgbClr val="3D66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4114800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5" name="Picture 15374" descr="ciphert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875" y="2020824"/>
            <a:ext cx="274320" cy="274320"/>
          </a:xfrm>
          <a:prstGeom prst="rect">
            <a:avLst/>
          </a:prstGeom>
        </p:spPr>
      </p:pic>
      <p:sp>
        <p:nvSpPr>
          <p:cNvPr id="15376" name="TextBox 15375"/>
          <p:cNvSpPr txBox="1"/>
          <p:nvPr/>
        </p:nvSpPr>
        <p:spPr>
          <a:xfrm>
            <a:off x="4178808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broadcast to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byte-identical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for everybody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5632704" y="2478024"/>
            <a:ext cx="219456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5879592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9" name="Picture 15378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7667" y="2020824"/>
            <a:ext cx="274320" cy="274320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5943600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key each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recipient holds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1 of the 2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per slot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85216" y="3182112"/>
            <a:ext cx="6784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BEDF"/>
                </a:solidFill>
                <a:latin typeface="Calibri"/>
              </a:rPr>
              <a:t>The fingerprint is not something their software chose to add — it is a consequence of </a:t>
            </a:r>
            <a:r>
              <a:rPr sz="900" b="1">
                <a:solidFill>
                  <a:srgbClr val="FFFFFF"/>
                </a:solidFill>
                <a:latin typeface="Calibri"/>
              </a:rPr>
              <a:t>which keys they hold</a:t>
            </a:r>
            <a:r>
              <a:rPr sz="900" b="0">
                <a:solidFill>
                  <a:srgbClr val="A9BEDF"/>
                </a:solidFill>
                <a:latin typeface="Calibri"/>
              </a:rPr>
              <a:t>. The other rendering is an AES-GCM tag failure for them, and </a:t>
            </a:r>
            <a:r>
              <a:rPr sz="900" b="1">
                <a:solidFill>
                  <a:srgbClr val="FFFFFF"/>
                </a:solidFill>
                <a:latin typeface="Calibri"/>
              </a:rPr>
              <a:t>no unmarked copy exists anywhere</a:t>
            </a:r>
            <a:r>
              <a:rPr sz="900" b="0">
                <a:solidFill>
                  <a:srgbClr val="A9BEDF"/>
                </a:solidFill>
                <a:latin typeface="Calibri"/>
              </a:rPr>
              <a:t> — not in the package, not in transit, not on the sender's disk.</a:t>
            </a:r>
          </a:p>
        </p:txBody>
      </p:sp>
      <p:sp>
        <p:nvSpPr>
          <p:cNvPr id="15382" name="Hexagon 15381"/>
          <p:cNvSpPr/>
          <p:nvPr/>
        </p:nvSpPr>
        <p:spPr>
          <a:xfrm rot="5400000">
            <a:off x="365760" y="384962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749808" y="3831335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384048" y="4242816"/>
            <a:ext cx="72054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Today every cleared recipient is an equally plausible suspect — the decrypted bytes are identical for all of them.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PQFW makes each copy forensically distinct while visually identical: a leak resolves to one recipient and one decryption session.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Access logs can be edited by an administrator; a static watermark is the same for everyone. Both are replaced, not patched.</a:t>
            </a:r>
          </a:p>
        </p:txBody>
      </p:sp>
      <p:sp>
        <p:nvSpPr>
          <p:cNvPr id="15385" name="Hexagon 15384"/>
          <p:cNvSpPr/>
          <p:nvPr/>
        </p:nvSpPr>
        <p:spPr>
          <a:xfrm rot="5400000">
            <a:off x="365760" y="498348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749808" y="4965192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the system actually returns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365760" y="5358384"/>
            <a:ext cx="7223760" cy="841248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2222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8" name="Picture 15387" descr="ver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5541264"/>
            <a:ext cx="384048" cy="384048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1115568" y="5468112"/>
            <a:ext cx="35661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2B173"/>
                </a:solidFill>
                <a:latin typeface="Calibri"/>
              </a:rPr>
              <a:t>IDENTIFIED</a:t>
            </a:r>
            <a:r>
              <a:rPr sz="1400" b="1">
                <a:solidFill>
                  <a:srgbClr val="FFFFFF"/>
                </a:solidFill>
                <a:latin typeface="Calibri"/>
              </a:rPr>
              <a:t>    r07, session #0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A9BEDF"/>
                </a:solidFill>
                <a:latin typeface="Calibri"/>
              </a:rPr>
              <a:t>false-accusation probability at most 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2 KB memo · 20 recipients · 301 mark slots · next suspect 10σ behind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4864608" y="5468112"/>
            <a:ext cx="3017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statistical significance (provable bound &lt; α)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the accused's own ML-DSA-65 receipt verifies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ledger hash chain intact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block committed by 2 of 3 validators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Merkle inclusion proof to the signed root</a:t>
            </a:r>
          </a:p>
        </p:txBody>
      </p:sp>
      <p:sp>
        <p:nvSpPr>
          <p:cNvPr id="15391" name="Hexagon 15390"/>
          <p:cNvSpPr/>
          <p:nvPr/>
        </p:nvSpPr>
        <p:spPr>
          <a:xfrm rot="5400000">
            <a:off x="781812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8202168" y="1143000"/>
            <a:ext cx="36210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818120" y="1554480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4" name="Hexagon 15393"/>
          <p:cNvSpPr/>
          <p:nvPr/>
        </p:nvSpPr>
        <p:spPr>
          <a:xfrm rot="5400000">
            <a:off x="7973568" y="1828800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8366760" y="1682495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Enforced by keys, not software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Patching the client does not help. There is no code path around a tag check.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7818120" y="2487168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Hexagon 15396"/>
          <p:cNvSpPr/>
          <p:nvPr/>
        </p:nvSpPr>
        <p:spPr>
          <a:xfrm rot="5400000">
            <a:off x="7973568" y="2761487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8366760" y="2615184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A provable error bound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Chernoff bound from the code's own biases — not the Gaussian p-value, which we measured as anti-conservative.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7818120" y="3419856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Hexagon 15399"/>
          <p:cNvSpPr/>
          <p:nvPr/>
        </p:nvSpPr>
        <p:spPr>
          <a:xfrm rot="5400000">
            <a:off x="7973568" y="3694176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8366760" y="3547872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It refuses to guess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When evidence is thin the verdict is NO IDENTIFICATION — never the wrong person.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7818120" y="4352544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Hexagon 15402"/>
          <p:cNvSpPr/>
          <p:nvPr/>
        </p:nvSpPr>
        <p:spPr>
          <a:xfrm rot="5400000">
            <a:off x="7973568" y="4626864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366760" y="4480559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Session-level attribution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Two opens by one person give two fingerprints and two ledger records.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7818120" y="5376671"/>
            <a:ext cx="4005072" cy="786384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TextBox 15405"/>
          <p:cNvSpPr txBox="1"/>
          <p:nvPr/>
        </p:nvSpPr>
        <p:spPr>
          <a:xfrm>
            <a:off x="8001000" y="5486399"/>
            <a:ext cx="36393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40" b="1" i="0" spc="120">
                <a:solidFill>
                  <a:srgbClr val="F2790D"/>
                </a:solidFill>
                <a:latin typeface="Calibri"/>
              </a:rPr>
              <a:t>NOT A CONCEPT — IT IS RUNNING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pqfw.onrender.com</a:t>
            </a:r>
            <a:r>
              <a:rPr sz="1050" b="0">
                <a:solidFill>
                  <a:srgbClr val="A9BEDF"/>
                </a:solidFill>
                <a:latin typeface="Calibri"/>
              </a:rPr>
              <a:t>     170 automated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70432"/>
            <a:ext cx="7918704" cy="50474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12984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End-to-end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A9BEDF"/>
                </a:solidFill>
                <a:latin typeface="Calibri"/>
              </a:rPr>
              <a:t>distribute · decrypt &amp; record · trace — every stage runs offline</a:t>
            </a:r>
          </a:p>
        </p:txBody>
      </p:sp>
      <p:sp>
        <p:nvSpPr>
          <p:cNvPr id="17412" name="Hexagon 17411"/>
          <p:cNvSpPr/>
          <p:nvPr/>
        </p:nvSpPr>
        <p:spPr>
          <a:xfrm rot="5400000">
            <a:off x="640080" y="1655064"/>
            <a:ext cx="256032" cy="225308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08" y="1708830"/>
            <a:ext cx="117774" cy="11777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87552" y="1673352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F2790D"/>
                </a:solidFill>
                <a:latin typeface="Calibri"/>
              </a:rPr>
              <a:t>DISTRIBUTE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40080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6" name="Picture 17415" descr="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2093976"/>
            <a:ext cx="274320" cy="27432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704088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Sender's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split into base +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 mark slots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304288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2551176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2093976"/>
            <a:ext cx="274320" cy="274320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2615184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Variant encryption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AES-256-GCM, a different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key per rendering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215383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4462272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072" y="2093976"/>
            <a:ext cx="274320" cy="27432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526280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Key bundles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wrapped with ML-KEM-768,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one key per slot each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6126479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6373368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8" name="Picture 17427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93976"/>
            <a:ext cx="274320" cy="274320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437376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package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identical ciphertext for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116 KB shared + 34 KB each</a:t>
            </a:r>
          </a:p>
        </p:txBody>
      </p:sp>
      <p:sp>
        <p:nvSpPr>
          <p:cNvPr id="17430" name="Hexagon 17429"/>
          <p:cNvSpPr/>
          <p:nvPr/>
        </p:nvSpPr>
        <p:spPr>
          <a:xfrm rot="5400000">
            <a:off x="640080" y="3081528"/>
            <a:ext cx="256032" cy="225308"/>
          </a:xfrm>
          <a:prstGeom prst="hexagon">
            <a:avLst/>
          </a:prstGeom>
          <a:solidFill>
            <a:srgbClr val="22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208" y="3135294"/>
            <a:ext cx="117774" cy="117774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987552" y="309981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22B173"/>
                </a:solidFill>
                <a:latin typeface="Calibri"/>
              </a:rPr>
              <a:t>DECRYPT &amp; RECORD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40080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4" name="Picture 17433" descr="unlo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5880" y="3520440"/>
            <a:ext cx="274320" cy="274320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704088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Recipient decrypts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unwraps bundle,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spends one session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2304288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2551176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8" name="Picture 17437" descr="fingerpri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6976" y="3520440"/>
            <a:ext cx="274320" cy="274320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2615184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Uniquely marked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one rendering per slot;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the other is a tag failure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4215383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4462272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8072" y="3520440"/>
            <a:ext cx="274320" cy="274320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4526280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Signed receipt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ML-DSA-65, the recipient's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own private key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6126479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6373368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168" y="3520440"/>
            <a:ext cx="274320" cy="2743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6437376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Distributed ledger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3 validator replicas,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2-of-3 block commit</a:t>
            </a:r>
          </a:p>
        </p:txBody>
      </p:sp>
      <p:sp>
        <p:nvSpPr>
          <p:cNvPr id="17448" name="Hexagon 17447"/>
          <p:cNvSpPr/>
          <p:nvPr/>
        </p:nvSpPr>
        <p:spPr>
          <a:xfrm rot="5400000">
            <a:off x="640080" y="4507992"/>
            <a:ext cx="256032" cy="225308"/>
          </a:xfrm>
          <a:prstGeom prst="hexagon">
            <a:avLst/>
          </a:prstGeom>
          <a:solidFill>
            <a:srgbClr val="1C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9208" y="4561758"/>
            <a:ext cx="117774" cy="117774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987552" y="452628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1C9EB8"/>
                </a:solidFill>
                <a:latin typeface="Calibri"/>
              </a:rPr>
              <a:t>TRACE A LEAK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40080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lea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5880" y="4946904"/>
            <a:ext cx="274320" cy="274320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704088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Leaked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extract the slot bits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2304288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2551176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6" name="Picture 17455" descr="sco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6976" y="4946904"/>
            <a:ext cx="274320" cy="27432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2615184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Tardos scoring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score against every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issued codeword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4215383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4462272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48072" y="4946904"/>
            <a:ext cx="274320" cy="274320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4526280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Ledger lookup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commitment → receipt,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signature + quorum checked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6126479" y="5312664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6373368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verdic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59168" y="4946904"/>
            <a:ext cx="274320" cy="274320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6437376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Verifiable verdict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recipient + session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+ provable error bound</a:t>
            </a:r>
          </a:p>
        </p:txBody>
      </p:sp>
      <p:pic>
        <p:nvPicPr>
          <p:cNvPr id="17466" name="Picture 17465" descr="offlin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" y="5952744"/>
            <a:ext cx="182880" cy="182880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896112" y="5952744"/>
            <a:ext cx="7095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2790D"/>
                </a:solidFill>
                <a:latin typeface="Calibri"/>
              </a:rPr>
              <a:t>Offline and air-gapped throughout — </a:t>
            </a:r>
            <a:r>
              <a:rPr sz="800" b="0">
                <a:solidFill>
                  <a:srgbClr val="A9BEDF"/>
                </a:solidFill>
                <a:latin typeface="Calibri"/>
              </a:rPr>
              <a:t>no cloud KMS, no public blockchain, no network call at any stage, asserted by a test that refuses every socket operation.</a:t>
            </a:r>
          </a:p>
        </p:txBody>
      </p:sp>
      <p:sp>
        <p:nvSpPr>
          <p:cNvPr id="17468" name="Hexagon 17467"/>
          <p:cNvSpPr/>
          <p:nvPr/>
        </p:nvSpPr>
        <p:spPr>
          <a:xfrm rot="5400000">
            <a:off x="8522208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906256" y="1143000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8522208" y="1572768"/>
            <a:ext cx="3300984" cy="2999232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1" name="Picture 17470" descr="pytho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9952" y="1700784"/>
            <a:ext cx="347472" cy="34747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8622792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Python</a:t>
            </a:r>
          </a:p>
        </p:txBody>
      </p:sp>
      <p:pic>
        <p:nvPicPr>
          <p:cNvPr id="17473" name="Picture 17472" descr="fastap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81744" y="1700784"/>
            <a:ext cx="347472" cy="347472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9244584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FastAPI</a:t>
            </a:r>
          </a:p>
        </p:txBody>
      </p:sp>
      <p:pic>
        <p:nvPicPr>
          <p:cNvPr id="17475" name="Picture 17474" descr="nump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03536" y="1700784"/>
            <a:ext cx="347472" cy="347472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9866376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NumPy</a:t>
            </a:r>
          </a:p>
        </p:txBody>
      </p:sp>
      <p:pic>
        <p:nvPicPr>
          <p:cNvPr id="17477" name="Picture 17476" descr="dock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25328" y="1700784"/>
            <a:ext cx="347472" cy="34747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10488167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Docker</a:t>
            </a:r>
          </a:p>
        </p:txBody>
      </p:sp>
      <p:pic>
        <p:nvPicPr>
          <p:cNvPr id="17479" name="Picture 17478" descr="linu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47119" y="1700784"/>
            <a:ext cx="347472" cy="347472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11109959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Linux</a:t>
            </a:r>
          </a:p>
        </p:txBody>
      </p:sp>
      <p:pic>
        <p:nvPicPr>
          <p:cNvPr id="17481" name="Picture 17480" descr="pytest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59952" y="2340864"/>
            <a:ext cx="347472" cy="347472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8622792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pytest</a:t>
            </a:r>
          </a:p>
        </p:txBody>
      </p:sp>
      <p:pic>
        <p:nvPicPr>
          <p:cNvPr id="17483" name="Picture 17482" descr="github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81744" y="2340864"/>
            <a:ext cx="347472" cy="347472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244584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GitHub</a:t>
            </a:r>
          </a:p>
        </p:txBody>
      </p:sp>
      <p:pic>
        <p:nvPicPr>
          <p:cNvPr id="17485" name="Picture 17484" descr="rend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03536" y="2340864"/>
            <a:ext cx="347472" cy="347472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9866376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Render</a:t>
            </a:r>
          </a:p>
        </p:txBody>
      </p:sp>
      <p:pic>
        <p:nvPicPr>
          <p:cNvPr id="17487" name="Picture 17486" descr="huggingfac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625328" y="2340864"/>
            <a:ext cx="347472" cy="347472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10488167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HF</a:t>
            </a:r>
          </a:p>
        </p:txBody>
      </p:sp>
      <p:pic>
        <p:nvPicPr>
          <p:cNvPr id="17489" name="Picture 17488" descr="bash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247119" y="2340864"/>
            <a:ext cx="347472" cy="34747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11109959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Bash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686800" y="3054096"/>
            <a:ext cx="297180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Key exchange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ML-KEM-768  ·  FIPS 203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Signatures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ML-DSA-65  ·  FIPS 204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PQC library   </a:t>
            </a:r>
            <a:r>
              <a:rPr sz="860" b="0">
                <a:solidFill>
                  <a:srgbClr val="161D2B"/>
                </a:solidFill>
                <a:latin typeface="Calibri"/>
              </a:rPr>
              <a:t>liboqs 0.16.0 (Open Quantum Safe)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Content   </a:t>
            </a:r>
            <a:r>
              <a:rPr sz="860" b="0">
                <a:solidFill>
                  <a:srgbClr val="161D2B"/>
                </a:solidFill>
                <a:latin typeface="Calibri"/>
              </a:rPr>
              <a:t>AES-256-GCM  ·  HKDF-SHA3-256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Fingerprint   </a:t>
            </a:r>
            <a:r>
              <a:rPr sz="860" b="0">
                <a:solidFill>
                  <a:srgbClr val="161D2B"/>
                </a:solidFill>
                <a:latin typeface="Calibri"/>
              </a:rPr>
              <a:t>symmetric Tardos code (Škorić)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Ledger   </a:t>
            </a:r>
            <a:r>
              <a:rPr sz="860" b="0">
                <a:solidFill>
                  <a:srgbClr val="161D2B"/>
                </a:solidFill>
                <a:latin typeface="Calibri"/>
              </a:rPr>
              <a:t>hash chain + Merkle blocks, 2-of-3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Carriers   </a:t>
            </a:r>
            <a:r>
              <a:rPr sz="860" b="0">
                <a:solidFill>
                  <a:srgbClr val="161D2B"/>
                </a:solidFill>
                <a:latin typeface="Calibri"/>
              </a:rPr>
              <a:t>zero-width space  ·  PDF kerning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Addressing   </a:t>
            </a:r>
            <a:r>
              <a:rPr sz="860" b="0">
                <a:solidFill>
                  <a:srgbClr val="161D2B"/>
                </a:solidFill>
                <a:latin typeface="Calibri"/>
              </a:rPr>
              <a:t>content-anchored, SHA3-256</a:t>
            </a:r>
          </a:p>
        </p:txBody>
      </p:sp>
      <p:sp>
        <p:nvSpPr>
          <p:cNvPr id="17492" name="Hexagon 17491"/>
          <p:cNvSpPr/>
          <p:nvPr/>
        </p:nvSpPr>
        <p:spPr>
          <a:xfrm rot="5400000">
            <a:off x="8522208" y="470916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8906256" y="4690872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8522208" y="5102352"/>
            <a:ext cx="330098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Safety and audit layers built and tested before any tracing existed.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Test-first: 170 tests, including the central claim that a recipient cannot decrypt the other variant.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Every attack on the carrier measured and published — including the two that still defeat 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Shipped, not staged: one container on a free tier, no GPU and no HSM.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120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Already built and running. </a:t>
            </a:r>
            <a:r>
              <a:rPr sz="840" b="0">
                <a:solidFill>
                  <a:srgbClr val="54627A"/>
                </a:solidFill>
                <a:latin typeface="Calibri"/>
              </a:rPr>
              <a:t>Not a concept — a working deployment anyone can open right now.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Runs on commodity CPU. </a:t>
            </a:r>
            <a:r>
              <a:rPr sz="840" b="0">
                <a:solidFill>
                  <a:srgbClr val="54627A"/>
                </a:solidFill>
                <a:latin typeface="Calibri"/>
              </a:rPr>
              <a:t>No GPU, no HSM. The whole demo fits a free 0.1-vCPU tier.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Zero licensing cost. </a:t>
            </a:r>
            <a:r>
              <a:rPr sz="840" b="0">
                <a:solidFill>
                  <a:srgbClr val="54627A"/>
                </a:solidFill>
                <a:latin typeface="Calibri"/>
              </a:rPr>
              <a:t>Open-source primitives end to end; NIST-standardised, not bespoke.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Deploys air-gapped. </a:t>
            </a:r>
            <a:r>
              <a:rPr sz="840" b="0">
                <a:solidFill>
                  <a:srgbClr val="54627A"/>
                </a:solidFill>
                <a:latin typeface="Calibri"/>
              </a:rPr>
              <a:t>No cloud KMS, no public chain, no outbound call.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Drops in beside existing flows.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already encrypts once for many; this replaces that step.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EF4E4"/>
          </a:solidFill>
          <a:ln w="15875">
            <a:solidFill>
              <a:srgbClr val="E9C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982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Carrier fragility.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Retyping, OCR or stripping invisible characters destroys a text watermark.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Repeated boilerplate. </a:t>
            </a:r>
            <a:r>
              <a:rPr sz="840" b="0">
                <a:solidFill>
                  <a:srgbClr val="54627A"/>
                </a:solidFill>
                <a:latin typeface="Calibri"/>
              </a:rPr>
              <a:t>A slot anchored to identical text is ambiguous; the tie-break is bounded, so it refuses rather than guesses.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Short documents, weaker codes. </a:t>
            </a:r>
            <a:r>
              <a:rPr sz="840" b="0">
                <a:solidFill>
                  <a:srgbClr val="54627A"/>
                </a:solidFill>
                <a:latin typeface="Calibri"/>
              </a:rPr>
              <a:t>A memo holds ~300 slots; the Tardos bound asks for far more.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Unframeability.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knows every codeword, so this proves traceability, not non-framing.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Recipients can compare copies and splice them together.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1381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2844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Publish the attacks that win. </a:t>
            </a:r>
            <a:r>
              <a:rPr sz="840" b="0">
                <a:solidFill>
                  <a:srgbClr val="54627A"/>
                </a:solidFill>
                <a:latin typeface="Calibri"/>
              </a:rPr>
              <a:t>Each measured with its bit error rate, beside the ones survived.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Fail safe, not loud. </a:t>
            </a:r>
            <a:r>
              <a:rPr sz="840" b="0">
                <a:solidFill>
                  <a:srgbClr val="54627A"/>
                </a:solidFill>
                <a:latin typeface="Calibri"/>
              </a:rPr>
              <a:t>When an attack wins the result is a failure to identify — misidentification stayed at 0.0%.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Report the reachable bound. </a:t>
            </a:r>
            <a:r>
              <a:rPr sz="840" b="0">
                <a:solidFill>
                  <a:srgbClr val="54627A"/>
                </a:solidFill>
                <a:latin typeface="Calibri"/>
              </a:rPr>
              <a:t>protect states the best error probability the document supports, before sending.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Tardos codes for 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Where colluders agree they are stuck — no one holds the other key.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Content-anchored slots. </a:t>
            </a:r>
            <a:r>
              <a:rPr sz="840" b="0">
                <a:solidFill>
                  <a:srgbClr val="54627A"/>
                </a:solidFill>
                <a:latin typeface="Calibri"/>
              </a:rPr>
              <a:t>Shipped. Addressed by the text before the slot, so an edit elsewhere cannot move it.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3383280"/>
            <a:ext cx="11457432" cy="17007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Destroy the marks and it goes quiet, never wrong</a:t>
            </a:r>
          </a:p>
        </p:txBody>
      </p:sp>
      <p:pic>
        <p:nvPicPr>
          <p:cNvPr id="17424" name="Picture 17423" descr="eras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639312"/>
            <a:ext cx="3950208" cy="129844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663440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Colluders splicing copies, against the theory's own bound</a:t>
            </a:r>
          </a:p>
        </p:txBody>
      </p:sp>
      <p:pic>
        <p:nvPicPr>
          <p:cNvPr id="17426" name="Picture 17425" descr="coll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639312"/>
            <a:ext cx="3950208" cy="1298448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8869680" y="3474720"/>
            <a:ext cx="2834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20">
                <a:solidFill>
                  <a:srgbClr val="F2790D"/>
                </a:solidFill>
                <a:latin typeface="Calibri"/>
              </a:rPr>
              <a:t>MEASURED, NOT ASSERTED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869680" y="3694176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provable false-accusation bound on the live demo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869680" y="4114800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790D"/>
                </a:solidFill>
                <a:latin typeface="Calibri"/>
              </a:rPr>
              <a:t>2 of 13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attacks still defeat the carrier — was 4, both published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869680" y="4535424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B173"/>
                </a:solidFill>
                <a:latin typeface="Calibri"/>
              </a:rPr>
              <a:t>170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automated tests, all passing</a:t>
            </a:r>
          </a:p>
        </p:txBody>
      </p:sp>
      <p:sp>
        <p:nvSpPr>
          <p:cNvPr id="17431" name="Hexagon 17430"/>
          <p:cNvSpPr/>
          <p:nvPr/>
        </p:nvSpPr>
        <p:spPr>
          <a:xfrm rot="5400000">
            <a:off x="365760" y="5202936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5184648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Path to deployment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65760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512064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158A5A"/>
                </a:solidFill>
                <a:latin typeface="Calibri"/>
              </a:rPr>
              <a:t>NOW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content-anchored carriers, 3-validator ledger, live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3042665" y="5897880"/>
            <a:ext cx="219457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3307841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3454146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NEXT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Lexical carrier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marks in word choice, to survive OCR and retyping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5984747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6249923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396227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THEN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Departmental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validators held by three separate offices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8926830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9192005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9338309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Cross-organisation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one validator per participating body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Service headquarters. </a:t>
            </a:r>
            <a:r>
              <a:rPr sz="940" b="0">
                <a:solidFill>
                  <a:srgbClr val="54627A"/>
                </a:solidFill>
                <a:latin typeface="Calibri"/>
              </a:rPr>
              <a:t>Operational orders and classified assessments become individually accountable, not collectively deniable.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Defence procurement. </a:t>
            </a:r>
            <a:r>
              <a:rPr sz="940" b="0">
                <a:solidFill>
                  <a:srgbClr val="54627A"/>
                </a:solidFill>
                <a:latin typeface="Calibri"/>
              </a:rPr>
              <a:t>Tender documents and technical specifications reach vendors traceably; a pre-bid leak has an owner.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DRDO and defence PSUs. </a:t>
            </a:r>
            <a:r>
              <a:rPr sz="940" b="0">
                <a:solidFill>
                  <a:srgbClr val="54627A"/>
                </a:solidFill>
                <a:latin typeface="Calibri"/>
              </a:rPr>
              <a:t>Design data shared with partners and contractors carries a non-repudiable receipt per recipient.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Inter-agency sharing. </a:t>
            </a:r>
            <a:r>
              <a:rPr sz="940" b="0">
                <a:solidFill>
                  <a:srgbClr val="54627A"/>
                </a:solidFill>
                <a:latin typeface="Calibri"/>
              </a:rPr>
              <a:t>Intelligence keeps its provenance without a central authority anyone has to trust.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6336792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720840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336792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501384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Deterrence is the real product. </a:t>
            </a:r>
            <a:r>
              <a:rPr sz="900" b="0">
                <a:solidFill>
                  <a:srgbClr val="54627A"/>
                </a:solidFill>
                <a:latin typeface="Calibri"/>
              </a:rPr>
              <a:t>When every holder knows their copy is individually accountable, most leaks never happen.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Protects the accused too. </a:t>
            </a:r>
            <a:r>
              <a:rPr sz="900" b="0">
                <a:solidFill>
                  <a:srgbClr val="54627A"/>
                </a:solidFill>
                <a:latin typeface="Calibri"/>
              </a:rPr>
              <a:t>A stated error probability and a refusal to guess are what stop an innocent officer being named.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Zero licensing cost. </a:t>
            </a:r>
            <a:r>
              <a:rPr sz="900" b="0">
                <a:solidFill>
                  <a:srgbClr val="54627A"/>
                </a:solidFill>
                <a:latin typeface="Calibri"/>
              </a:rPr>
              <a:t>Open-source and free-tier; per-department rollout cost is effectively nil.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Quantum-durable. </a:t>
            </a:r>
            <a:r>
              <a:rPr sz="900" b="0">
                <a:solidFill>
                  <a:srgbClr val="54627A"/>
                </a:solidFill>
                <a:latin typeface="Calibri"/>
              </a:rPr>
              <a:t>A defence assessment stays sensitive for decades; FIPS 203/204 resist harvest-now-decrypt-later.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Scales unchanged. </a:t>
            </a:r>
            <a:r>
              <a:rPr sz="900" b="0">
                <a:solidFill>
                  <a:srgbClr val="54627A"/>
                </a:solidFill>
                <a:latin typeface="Calibri"/>
              </a:rPr>
              <a:t>Any organisation distributing to a named list — only the list changes.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365760" y="3410712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49808" y="3392424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changes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5875">
            <a:solidFill>
              <a:srgbClr val="E3A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B3222C"/>
                </a:solidFill>
                <a:latin typeface="Calibri"/>
              </a:rPr>
              <a:t>TODAY</a:t>
            </a:r>
            <a:r>
              <a:rPr sz="860" b="0" i="0">
                <a:solidFill>
                  <a:srgbClr val="54627A"/>
                </a:solidFill>
                <a:latin typeface="Calibri"/>
              </a:rPr>
              <a:t>▪  Every cleared recipient is an equally plausible suspect.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Access logs can be edited by the administrator who holds them.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One identical watermark for all recipients attributes nothing.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336792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19050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519672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22B173"/>
                </a:solidFill>
                <a:latin typeface="Calibri"/>
              </a:rPr>
              <a:t>WITH PQFW</a:t>
            </a:r>
            <a:r>
              <a:rPr sz="860" b="0" i="0">
                <a:solidFill>
                  <a:srgbClr val="A9BEDF"/>
                </a:solidFill>
                <a:latin typeface="Calibri"/>
              </a:rPr>
              <a:t>▪  A leaked copy names one recipient and one decryption session.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Records replicated 3 ways; one compromised admin is out-voted.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Every copy distinct, and the accusation carries a provable bound.</a:t>
            </a:r>
          </a:p>
        </p:txBody>
      </p:sp>
      <p:sp>
        <p:nvSpPr>
          <p:cNvPr id="17424" name="Hexagon 17423"/>
          <p:cNvSpPr/>
          <p:nvPr/>
        </p:nvSpPr>
        <p:spPr>
          <a:xfrm rot="5400000">
            <a:off x="365760" y="472744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49808" y="4709159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Cost of running 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measured on the running prototype, not projected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5157216"/>
            <a:ext cx="11457432" cy="102412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548640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116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shared ciphertext —
the same bytes for everyone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766974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34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per recipient, and
independent of 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985308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GPUs, HSMs and
cloud services required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203643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₹0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licensing cost —
open-source throughout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421977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2790D"/>
                </a:solidFill>
                <a:latin typeface="Calibri"/>
              </a:rPr>
              <a:t>&lt; 1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to trace a leak against
1,000 recipients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Standards and specifications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203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Key-Encapsulation Mechanism — ML-KEM.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204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Digital Signature Standard — ML-DSA.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202  </a:t>
            </a:r>
            <a:r>
              <a:rPr sz="919" b="0">
                <a:solidFill>
                  <a:srgbClr val="54627A"/>
                </a:solidFill>
                <a:latin typeface="Calibri"/>
              </a:rPr>
              <a:t>SHA-3 permutation-based hash and extendable-output functions.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NIST SP 800-38D  </a:t>
            </a:r>
            <a:r>
              <a:rPr sz="919" b="0">
                <a:solidFill>
                  <a:srgbClr val="54627A"/>
                </a:solidFill>
                <a:latin typeface="Calibri"/>
              </a:rPr>
              <a:t>Galois/Counter Mode for AES, used for every ciphertext here.</a:t>
            </a:r>
          </a:p>
        </p:txBody>
      </p:sp>
      <p:sp>
        <p:nvSpPr>
          <p:cNvPr id="17413" name="Hexagon 17412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Methods and literature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519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Tardos (2003)  </a:t>
            </a:r>
            <a:r>
              <a:rPr sz="919" b="0">
                <a:solidFill>
                  <a:srgbClr val="54627A"/>
                </a:solidFill>
                <a:latin typeface="Calibri"/>
              </a:rPr>
              <a:t>Optimal probabilistic fingerprint codes. STOC.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Škorić et al. (2008)  </a:t>
            </a:r>
            <a:r>
              <a:rPr sz="919" b="0">
                <a:solidFill>
                  <a:srgbClr val="54627A"/>
                </a:solidFill>
                <a:latin typeface="Calibri"/>
              </a:rPr>
              <a:t>Symmetric Tardos fingerprinting codes. Designs, Codes and Cryptography.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Boneh &amp; Shaw (1998)  </a:t>
            </a:r>
            <a:r>
              <a:rPr sz="919" b="0">
                <a:solidFill>
                  <a:srgbClr val="54627A"/>
                </a:solidFill>
                <a:latin typeface="Calibri"/>
              </a:rPr>
              <a:t>Collusion-secure fingerprinting for digital data. IEEE Trans. Inf. Theory.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Open Quantum Safe  </a:t>
            </a:r>
            <a:r>
              <a:rPr sz="919" b="0">
                <a:solidFill>
                  <a:srgbClr val="54627A"/>
                </a:solidFill>
                <a:latin typeface="Calibri"/>
              </a:rPr>
              <a:t>liboqs — the C library providing both mechanisms used here.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Brakerski–Fan–Vercauteren  </a:t>
            </a:r>
            <a:r>
              <a:rPr sz="919" b="0">
                <a:solidFill>
                  <a:srgbClr val="54627A"/>
                </a:solidFill>
                <a:latin typeface="Calibri"/>
              </a:rPr>
              <a:t>Somewhat-homomorphic encryption; the route to post-quantum asymmetric fingerprinting. Future work.</a:t>
            </a:r>
          </a:p>
        </p:txBody>
      </p:sp>
      <p:sp>
        <p:nvSpPr>
          <p:cNvPr id="17416" name="Hexagon 17415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Our work — live and inspectable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572768"/>
            <a:ext cx="3685032" cy="1005840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qr_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1700784"/>
            <a:ext cx="749808" cy="7498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9125712" y="1719072"/>
            <a:ext cx="255117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F2790D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DF"/>
                </a:solidFill>
                <a:latin typeface="Calibri"/>
              </a:rPr>
              <a:t>Five guided steps, real post-quantum cryptography server-side.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138160" y="2688336"/>
            <a:ext cx="3685032" cy="877824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8284464" y="2779776"/>
            <a:ext cx="3392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1B335E"/>
                </a:solidFill>
                <a:latin typeface="Calibri"/>
              </a:rPr>
              <a:t>EVALUATION AND ATTACK RESULTS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30" b="1" i="0">
                <a:solidFill>
                  <a:srgbClr val="1B335E"/>
                </a:solidFill>
                <a:latin typeface="Calibri"/>
              </a:rPr>
              <a:t>evildeity-pqfw-post-quantum-watermarking.static.hf.space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4627A"/>
                </a:solidFill>
                <a:latin typeface="Calibri"/>
              </a:rPr>
              <a:t>Every figure produced by executing the library, commit recorded.</a:t>
            </a:r>
          </a:p>
        </p:txBody>
      </p:sp>
      <p:sp>
        <p:nvSpPr>
          <p:cNvPr id="17423" name="Hexagon 17422"/>
          <p:cNvSpPr/>
          <p:nvPr/>
        </p:nvSpPr>
        <p:spPr>
          <a:xfrm rot="5400000">
            <a:off x="365760" y="394106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49808" y="3922776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Every requirement in SIH26237, and where it is met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each one exercised by an automated test and by a step of the live demo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65760" y="4370832"/>
            <a:ext cx="11457432" cy="18470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585216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Unique invisible forensic watermark at the moment of decryption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85216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Specific to each recipient and each decryption session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85216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Every copy visually identical, forensically distinct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85216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Each decryption cryptographically bound to the recipient's identity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85216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Signature generated with the recipient's own private key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85216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NIST-standardised PQC for key exchange and digital signatures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112764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Immutable audit layer implemented as a distributed ledger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112764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single administrator or compromised account can alter records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112764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Extract the watermark, match it against the ledger, verify it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112764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Complete operation offline and air-gapped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112764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external cloud KMS services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112764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public blockchain networks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